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af22203f8b4dae" /><Relationship Type="http://schemas.openxmlformats.org/officeDocument/2006/relationships/extended-properties" Target="/docProps/app.xml" Id="R800906b698e548f6" /><Relationship Type="http://schemas.openxmlformats.org/officeDocument/2006/relationships/officeDocument" Target="/ppt/presentation.xml" Id="R7300bd9908af4e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ef7e154d994d93"/>
  </p:sldMasterIdLst>
  <p:notesMasterIdLst>
    <p:notesMasterId xmlns:r="http://schemas.openxmlformats.org/officeDocument/2006/relationships" r:id="Ra36910f5b2784834"/>
  </p:notesMasterIdLst>
  <p:sldIdLst>
    <p:sldId xmlns:r="http://schemas.openxmlformats.org/officeDocument/2006/relationships" id="256" r:id="Ref23a12b1a594697"/>
    <p:sldId xmlns:r="http://schemas.openxmlformats.org/officeDocument/2006/relationships" id="257" r:id="R91acf862079d459d"/>
    <p:sldId xmlns:r="http://schemas.openxmlformats.org/officeDocument/2006/relationships" id="258" r:id="R9d39b2e29a3c4ec0"/>
    <p:sldId xmlns:r="http://schemas.openxmlformats.org/officeDocument/2006/relationships" id="259" r:id="R4189ecc4daac4d17"/>
    <p:sldId xmlns:r="http://schemas.openxmlformats.org/officeDocument/2006/relationships" id="260" r:id="Rd77451712a8f4e2a"/>
    <p:sldId xmlns:r="http://schemas.openxmlformats.org/officeDocument/2006/relationships" id="261" r:id="Rdb5901f1e1054105"/>
    <p:sldId xmlns:r="http://schemas.openxmlformats.org/officeDocument/2006/relationships" id="262" r:id="Rbf5db7a09e964ee0"/>
    <p:sldId xmlns:r="http://schemas.openxmlformats.org/officeDocument/2006/relationships" id="263" r:id="Ra9ba4b9ef1c546fe"/>
    <p:sldId xmlns:r="http://schemas.openxmlformats.org/officeDocument/2006/relationships" id="264" r:id="Recc291e4898942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ddb3795f8a423e" /><Relationship Type="http://schemas.openxmlformats.org/officeDocument/2006/relationships/slideMaster" Target="/ppt/slideMasters/slideMaster1.xml" Id="R8aef7e154d994d93" /><Relationship Type="http://schemas.openxmlformats.org/officeDocument/2006/relationships/notesMaster" Target="/ppt/notesMasters/notesMaster1.xml" Id="Ra36910f5b2784834" /><Relationship Type="http://schemas.openxmlformats.org/officeDocument/2006/relationships/presProps" Target="/ppt/presProps.xml" Id="Rcfa7f7add31f42e1" /><Relationship Type="http://schemas.openxmlformats.org/officeDocument/2006/relationships/tableStyles" Target="/ppt/tableStyles.xml" Id="R05f062c22f864ed8" /><Relationship Type="http://schemas.openxmlformats.org/officeDocument/2006/relationships/slide" Target="/ppt/slides/slide1.xml" Id="Ref23a12b1a594697" /><Relationship Type="http://schemas.openxmlformats.org/officeDocument/2006/relationships/slide" Target="/ppt/slides/slide2.xml" Id="R91acf862079d459d" /><Relationship Type="http://schemas.openxmlformats.org/officeDocument/2006/relationships/slide" Target="/ppt/slides/slide3.xml" Id="R9d39b2e29a3c4ec0" /><Relationship Type="http://schemas.openxmlformats.org/officeDocument/2006/relationships/slide" Target="/ppt/slides/slide4.xml" Id="R4189ecc4daac4d17" /><Relationship Type="http://schemas.openxmlformats.org/officeDocument/2006/relationships/slide" Target="/ppt/slides/slide5.xml" Id="Rd77451712a8f4e2a" /><Relationship Type="http://schemas.openxmlformats.org/officeDocument/2006/relationships/slide" Target="/ppt/slides/slide6.xml" Id="Rdb5901f1e1054105" /><Relationship Type="http://schemas.openxmlformats.org/officeDocument/2006/relationships/slide" Target="/ppt/slides/slide7.xml" Id="Rbf5db7a09e964ee0" /><Relationship Type="http://schemas.openxmlformats.org/officeDocument/2006/relationships/slide" Target="/ppt/slides/slide8.xml" Id="Ra9ba4b9ef1c546fe" /><Relationship Type="http://schemas.openxmlformats.org/officeDocument/2006/relationships/slide" Target="/ppt/slides/slide9.xml" Id="Recc291e4898942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155ae3155346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176f2d812c42f6" /><Relationship Type="http://schemas.openxmlformats.org/officeDocument/2006/relationships/notesMaster" Target="/ppt/notesMasters/notesMaster1.xml" Id="R4f9a62dc386845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5d98e109724033" /><Relationship Type="http://schemas.openxmlformats.org/officeDocument/2006/relationships/notesMaster" Target="/ppt/notesMasters/notesMaster1.xml" Id="R19ae3b8255b947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1b4a2a5ecf4517" /><Relationship Type="http://schemas.openxmlformats.org/officeDocument/2006/relationships/notesMaster" Target="/ppt/notesMasters/notesMaster1.xml" Id="Rc340236b74a24b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ea39d680c04a3f" /><Relationship Type="http://schemas.openxmlformats.org/officeDocument/2006/relationships/notesMaster" Target="/ppt/notesMasters/notesMaster1.xml" Id="R0023039dadcf41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d2a850f97b4526" /><Relationship Type="http://schemas.openxmlformats.org/officeDocument/2006/relationships/notesMaster" Target="/ppt/notesMasters/notesMaster1.xml" Id="R9b39255da18d4b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3d4cefdd6a49d7" /><Relationship Type="http://schemas.openxmlformats.org/officeDocument/2006/relationships/notesMaster" Target="/ppt/notesMasters/notesMaster1.xml" Id="R7f5b66ae9b884c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9eb0a659ce4789" /><Relationship Type="http://schemas.openxmlformats.org/officeDocument/2006/relationships/notesMaster" Target="/ppt/notesMasters/notesMaster1.xml" Id="R4a60fea8d64f4f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8a0091810b4c02" /><Relationship Type="http://schemas.openxmlformats.org/officeDocument/2006/relationships/notesMaster" Target="/ppt/notesMasters/notesMaster1.xml" Id="R03e9e40baf594b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7e4156b75a46ae" /><Relationship Type="http://schemas.openxmlformats.org/officeDocument/2006/relationships/notesMaster" Target="/ppt/notesMasters/notesMaster1.xml" Id="R5c1b99ab7da140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本页目的：说明项目名称、领域和基本定位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讲述要点：</a:t>
            </a:r>
          </a:p>
          <a:p xmlns:a="http://schemas.openxmlformats.org/drawingml/2006/main">
            <a:r>
              <a:t>• DebugPath面向AI开发环境中的常见故障</a:t>
            </a:r>
          </a:p>
          <a:p xmlns:a="http://schemas.openxmlformats.org/drawingml/2006/main">
            <a:r>
              <a:t>• 项目使用因果知识图谱组织诊断知识，并通过主动询问逐步定位原因</a:t>
            </a:r>
          </a:p>
          <a:p xmlns:a="http://schemas.openxmlformats.org/drawingml/2006/main">
            <a:r>
              <a:t>• 汇报按照课程要求的图谱构建、检索推理和知识注入展开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转场：先说明DebugPath与普通Graph RAG有什么不同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本页目的：用一次检索与动态检索的区别建立项目核心特色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讲述要点：</a:t>
            </a:r>
          </a:p>
          <a:p xmlns:a="http://schemas.openxmlformats.org/drawingml/2006/main">
            <a:r>
              <a:t>• 普通Graph RAG通常是用户提问一次、系统检索一次、模型回答一次</a:t>
            </a:r>
          </a:p>
          <a:p xmlns:a="http://schemas.openxmlformats.org/drawingml/2006/main">
            <a:r>
              <a:t>• DebugPath在这个基础上增加主动询问和动态推理</a:t>
            </a:r>
          </a:p>
          <a:p xmlns:a="http://schemas.openxmlformats.org/drawingml/2006/main">
            <a:r>
              <a:t>• 用户每次回答都会更新原因概率，并改变下一问和下一轮候选子图</a:t>
            </a:r>
          </a:p>
          <a:p xmlns:a="http://schemas.openxmlformats.org/drawingml/2006/main">
            <a:r>
              <a:t>• 系统直到定位原因后，才生成结构化排查方案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转场：这条动态诊断链正好对应课程要求的三个部分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本页目的：用通俗语言说明三项课程要求分别完成什么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讲述要点：</a:t>
            </a:r>
          </a:p>
          <a:p xmlns:a="http://schemas.openxmlformats.org/drawingml/2006/main">
            <a:r>
              <a:t>• 图谱构建把故障、原因、问题、观察、检查、修复、风险和来源连接起来</a:t>
            </a:r>
          </a:p>
          <a:p xmlns:a="http://schemas.openxmlformats.org/drawingml/2006/main">
            <a:r>
              <a:t>• 检索与推理先召回候选原因，再选下一问，并根据回答更新概率和子图</a:t>
            </a:r>
          </a:p>
          <a:p xmlns:a="http://schemas.openxmlformats.org/drawingml/2006/main">
            <a:r>
              <a:t>• 知识注入把最终证据组织成结构化上下文，交给模型整理答案</a:t>
            </a:r>
          </a:p>
          <a:p xmlns:a="http://schemas.openxmlformats.org/drawingml/2006/main">
            <a:r>
              <a:t>• 三部分分别解决知识如何连接、候选如何收敛、证据如何表达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转场：下面按照这三个部分依次说明已经完成的工作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本页目的：展开图谱构建的方法、数据结构和构建产物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讲述要点：</a:t>
            </a:r>
          </a:p>
          <a:p xmlns:a="http://schemas.openxmlformats.org/drawingml/2006/main">
            <a:r>
              <a:t>• 我们先冻结12类实体和18类关系，避免知识结构随意变化</a:t>
            </a:r>
          </a:p>
          <a:p xmlns:a="http://schemas.openxmlformats.org/drawingml/2006/main">
            <a:r>
              <a:t>• 图谱把故障、原因、问题、观察、检查、修复、风险与来源连接成因果链</a:t>
            </a:r>
          </a:p>
          <a:p xmlns:a="http://schemas.openxmlformats.org/drawingml/2006/main">
            <a:r>
              <a:t>• 构建脚本检查关系方向、重复项、端点完整性与类型</a:t>
            </a:r>
          </a:p>
          <a:p xmlns:a="http://schemas.openxmlformats.org/drawingml/2006/main">
            <a:r>
              <a:t>• 相同输入生成稳定排序和相同内容指纹，可写入内存图或Neo4j</a:t>
            </a:r>
          </a:p>
          <a:p xmlns:a="http://schemas.openxmlformats.org/drawingml/2006/main">
            <a:r>
              <a:t>• 当前产物包含130个节点、338条关系和30条证据片段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转场：图谱建好后，系统首先要从用户报错中得到初始候选原因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本页目的：说明第一轮候选原因的检索过程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讲述要点：</a:t>
            </a:r>
          </a:p>
          <a:p xmlns:a="http://schemas.openxmlformats.org/drawingml/2006/main">
            <a:r>
              <a:t>• BM25对报错文本与EvidenceChunk执行中英文关键词匹配</a:t>
            </a:r>
          </a:p>
          <a:p xmlns:a="http://schemas.openxmlformats.org/drawingml/2006/main">
            <a:r>
              <a:t>• 召回片段沿CHUNK_SUPPORTS_CAUSE关系映射到候选原因</a:t>
            </a:r>
          </a:p>
          <a:p xmlns:a="http://schemas.openxmlformats.org/drawingml/2006/main">
            <a:r>
              <a:t>• 系统按45%文本证据和55%图谱先验形成初始概率</a:t>
            </a:r>
          </a:p>
          <a:p xmlns:a="http://schemas.openxmlformats.org/drawingml/2006/main">
            <a:r>
              <a:t>• 这一步只生成候选排序，不直接宣称已经确定根因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转场：初始候选仍可能有歧义，因此进入主动询问算法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本页目的：解释项目的核心检索算法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讲述要点：</a:t>
            </a:r>
          </a:p>
          <a:p xmlns:a="http://schemas.openxmlformats.org/drawingml/2006/main">
            <a:r>
              <a:t>• 系统先计算每个问题回答前后的期望熵下降</a:t>
            </a:r>
          </a:p>
          <a:p xmlns:a="http://schemas.openxmlformats.org/drawingml/2006/main">
            <a:r>
              <a:t>• 再用预计可回答率修正信息增益，并扣除检查成本和风险成本</a:t>
            </a:r>
          </a:p>
          <a:p xmlns:a="http://schemas.openxmlformats.org/drawingml/2006/main">
            <a:r>
              <a:t>• 因此理论信息量很大但普通用户难以确认的问题会降低优先级</a:t>
            </a:r>
          </a:p>
          <a:p xmlns:a="http://schemas.openxmlformats.org/drawingml/2006/main">
            <a:r>
              <a:t>• 用户回答后，根据图谱保存的条件概率执行贝叶斯更新；不清楚不计入有效证据</a:t>
            </a:r>
          </a:p>
          <a:p xmlns:a="http://schemas.openxmlformats.org/drawingml/2006/main">
            <a:r>
              <a:t>• 停止时同时检查置信度、首位领先差距和有效回答数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转场：原因收敛后，还需要控制这些知识怎样进入最终答案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本页目的：说明检索知识如何安全进入最终答案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讲述要点：</a:t>
            </a:r>
          </a:p>
          <a:p xmlns:a="http://schemas.openxmlformats.org/drawingml/2006/main">
            <a:r>
              <a:t>• 程序先把验证通过的诊断项转换为C1、C2、C3声明白名单</a:t>
            </a:r>
          </a:p>
          <a:p xmlns:a="http://schemas.openxmlformats.org/drawingml/2006/main">
            <a:r>
              <a:t>• 本轮召回证据保留E编号，模型只能选择已存在的证据</a:t>
            </a:r>
          </a:p>
          <a:p xmlns:a="http://schemas.openxmlformats.org/drawingml/2006/main">
            <a:r>
              <a:t>• DeepSeek只调整展示顺序与侧重点，不能编造原因、命令、修复或链接</a:t>
            </a:r>
          </a:p>
          <a:p xmlns:a="http://schemas.openxmlformats.org/drawingml/2006/main">
            <a:r>
              <a:t>• 程序拒绝未知ID、遗漏声明、重复证据和非法侧重点</a:t>
            </a:r>
          </a:p>
          <a:p xmlns:a="http://schemas.openxmlformats.org/drawingml/2006/main">
            <a:r>
              <a:t>• 任何非法结构都回退到确定性离线模板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转场：三个部分讲完后，切换到网页完成一次实际诊断演示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现场提示：此处切换到Streamlit网页，展示输入、追问、概率与子图同步变化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本页目的：明确团队实际完成的工程工作和用户可见功能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讲述要点：</a:t>
            </a:r>
          </a:p>
          <a:p xmlns:a="http://schemas.openxmlformats.org/drawingml/2006/main">
            <a:r>
              <a:t>• 图谱可由固定输入重复构建，并可写入Neo4j核验</a:t>
            </a:r>
          </a:p>
          <a:p xmlns:a="http://schemas.openxmlformats.org/drawingml/2006/main">
            <a:r>
              <a:t>• 网页支持输入报错、查看候选概率、回答问题并继续诊断</a:t>
            </a:r>
          </a:p>
          <a:p xmlns:a="http://schemas.openxmlformats.org/drawingml/2006/main">
            <a:r>
              <a:t>• 诊断轨迹可回看每轮问题、概率变化和停止原因，也可下载JSON</a:t>
            </a:r>
          </a:p>
          <a:p xmlns:a="http://schemas.openxmlformats.org/drawingml/2006/main">
            <a:r>
              <a:t>• 最终方案包含前置检查、检查命令、修复动作、风险提示和证据来源</a:t>
            </a:r>
          </a:p>
          <a:p xmlns:a="http://schemas.openxmlformats.org/drawingml/2006/main">
            <a:r>
              <a:t>• 当前覆盖Python导入、PyTorch GPU/CUDA以及API和Neo4j连接三类故障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转场：最后说明当前完成度和后续需要补强的部分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本页目的：总结课程要求完成情况、核心特色和项目边界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讲述要点：</a:t>
            </a:r>
          </a:p>
          <a:p xmlns:a="http://schemas.openxmlformats.org/drawingml/2006/main">
            <a:r>
              <a:t>• 课程要求的图谱构建、检索推理和知识注入均已形成可运行链路</a:t>
            </a:r>
          </a:p>
          <a:p xmlns:a="http://schemas.openxmlformats.org/drawingml/2006/main">
            <a:r>
              <a:t>• 项目的主要特色是用户反馈会触发新的图谱检索与概率更新</a:t>
            </a:r>
          </a:p>
          <a:p xmlns:a="http://schemas.openxmlformats.org/drawingml/2006/main">
            <a:r>
              <a:t>• 当前概率来自原型参数和合成路径，后续需要用独立真实案例校准</a:t>
            </a:r>
          </a:p>
          <a:p xmlns:a="http://schemas.openxmlformats.org/drawingml/2006/main">
            <a:r>
              <a:t>• Neo4j Aura主要用于持久化和展示，核心算法保持离线可运行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转场：结束汇报，进入提问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a14253a7db41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7de2c80693474d" /><Relationship Type="http://schemas.openxmlformats.org/officeDocument/2006/relationships/slideLayout" Target="/ppt/slideLayouts/slideLayout1.xml" Id="R1edb7b98d7454f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db7b98d7454f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f66e73ec0d4f01" /><Relationship Type="http://schemas.openxmlformats.org/officeDocument/2006/relationships/image" Target="/ppt/media/image.png" Id="R2a043102a22543af" /><Relationship Type="http://schemas.openxmlformats.org/officeDocument/2006/relationships/notesSlide" Target="/ppt/notesSlides/notesSlide1.xml" Id="R2b63507ab36342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c9b2c762c4529" /><Relationship Type="http://schemas.openxmlformats.org/officeDocument/2006/relationships/image" Target="/ppt/media/image2.png" Id="Rf24f93f30e714183" /><Relationship Type="http://schemas.openxmlformats.org/officeDocument/2006/relationships/notesSlide" Target="/ppt/notesSlides/notesSlide2.xml" Id="R08830da4b2db40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82477f717748fa" /><Relationship Type="http://schemas.openxmlformats.org/officeDocument/2006/relationships/image" Target="/ppt/media/image3.png" Id="R9855373a55af406c" /><Relationship Type="http://schemas.openxmlformats.org/officeDocument/2006/relationships/notesSlide" Target="/ppt/notesSlides/notesSlide3.xml" Id="R454d0c10210240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45adf9c42c4d6c" /><Relationship Type="http://schemas.openxmlformats.org/officeDocument/2006/relationships/image" Target="/ppt/media/image4.png" Id="R39040c0ccd604d44" /><Relationship Type="http://schemas.openxmlformats.org/officeDocument/2006/relationships/notesSlide" Target="/ppt/notesSlides/notesSlide4.xml" Id="R5633286eee9140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bc067089ed4c6a" /><Relationship Type="http://schemas.openxmlformats.org/officeDocument/2006/relationships/image" Target="/ppt/media/image5.png" Id="R0a025bd33e294f6b" /><Relationship Type="http://schemas.openxmlformats.org/officeDocument/2006/relationships/notesSlide" Target="/ppt/notesSlides/notesSlide5.xml" Id="R22abc48e353444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e1323e8ae34733" /><Relationship Type="http://schemas.openxmlformats.org/officeDocument/2006/relationships/image" Target="/ppt/media/image6.png" Id="R78cf650f8be348da" /><Relationship Type="http://schemas.openxmlformats.org/officeDocument/2006/relationships/notesSlide" Target="/ppt/notesSlides/notesSlide6.xml" Id="Rdc7aae78718442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37f1542846440f" /><Relationship Type="http://schemas.openxmlformats.org/officeDocument/2006/relationships/image" Target="/ppt/media/image7.png" Id="R4e52b75a75aa4d8b" /><Relationship Type="http://schemas.openxmlformats.org/officeDocument/2006/relationships/notesSlide" Target="/ppt/notesSlides/notesSlide7.xml" Id="R93af79742b5648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d643280de4c8d" /><Relationship Type="http://schemas.openxmlformats.org/officeDocument/2006/relationships/image" Target="/ppt/media/image8.png" Id="R272669a868bb46e6" /><Relationship Type="http://schemas.openxmlformats.org/officeDocument/2006/relationships/notesSlide" Target="/ppt/notesSlides/notesSlide8.xml" Id="Rfaf3e27c36ec49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95adce59c49ef" /><Relationship Type="http://schemas.openxmlformats.org/officeDocument/2006/relationships/image" Target="/ppt/media/image9.png" Id="R9f65baad2ce44f27" /><Relationship Type="http://schemas.openxmlformats.org/officeDocument/2006/relationships/notesSlide" Target="/ppt/notesSlides/notesSlide9.xml" Id="R2f1324e85df640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043102a22543a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3126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4f93f30e71418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4157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55373a55af406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1066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040c0ccd604d4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0877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025bd33e294f6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2386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cf650f8be348d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3044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52b75a75aa4d8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6469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2669a868bb46e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3076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65baad2ce44f2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4665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2026-09-09T08:14:47.4290000Z</dcterms:created>
  <dcterms:modified xsi:type="dcterms:W3CDTF">2026-09-09T08:14:47.4290000Z</dcterms:modified>
</coreProperties>
</file>