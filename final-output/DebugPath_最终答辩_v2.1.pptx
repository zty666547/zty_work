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2b172287824f80" /><Relationship Type="http://schemas.openxmlformats.org/officeDocument/2006/relationships/extended-properties" Target="/docProps/app.xml" Id="R996e81193a67442d" /><Relationship Type="http://schemas.openxmlformats.org/officeDocument/2006/relationships/officeDocument" Target="/ppt/presentation.xml" Id="Rb7961a8ac62a4c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786f7a07bc4b64"/>
  </p:sldMasterIdLst>
  <p:notesMasterIdLst>
    <p:notesMasterId xmlns:r="http://schemas.openxmlformats.org/officeDocument/2006/relationships" r:id="Rbfc191b411944cfe"/>
  </p:notesMasterIdLst>
  <p:sldIdLst>
    <p:sldId xmlns:r="http://schemas.openxmlformats.org/officeDocument/2006/relationships" id="256" r:id="R5bee858118a74ee9"/>
    <p:sldId xmlns:r="http://schemas.openxmlformats.org/officeDocument/2006/relationships" id="257" r:id="R9fd449221e98448f"/>
    <p:sldId xmlns:r="http://schemas.openxmlformats.org/officeDocument/2006/relationships" id="258" r:id="Re3a1e47ae4c74184"/>
    <p:sldId xmlns:r="http://schemas.openxmlformats.org/officeDocument/2006/relationships" id="259" r:id="R72b72d69111c4f84"/>
    <p:sldId xmlns:r="http://schemas.openxmlformats.org/officeDocument/2006/relationships" id="260" r:id="Ra467b342954246d5"/>
    <p:sldId xmlns:r="http://schemas.openxmlformats.org/officeDocument/2006/relationships" id="261" r:id="R4d1b60e8f506493e"/>
    <p:sldId xmlns:r="http://schemas.openxmlformats.org/officeDocument/2006/relationships" id="262" r:id="R80e98768ad1045fa"/>
    <p:sldId xmlns:r="http://schemas.openxmlformats.org/officeDocument/2006/relationships" id="263" r:id="Rf883c5ef367f4c67"/>
    <p:sldId xmlns:r="http://schemas.openxmlformats.org/officeDocument/2006/relationships" id="264" r:id="R5645d522751342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a8ec05a0974282" /><Relationship Type="http://schemas.openxmlformats.org/officeDocument/2006/relationships/slideMaster" Target="/ppt/slideMasters/slideMaster1.xml" Id="R86786f7a07bc4b64" /><Relationship Type="http://schemas.openxmlformats.org/officeDocument/2006/relationships/notesMaster" Target="/ppt/notesMasters/notesMaster1.xml" Id="Rbfc191b411944cfe" /><Relationship Type="http://schemas.openxmlformats.org/officeDocument/2006/relationships/presProps" Target="/ppt/presProps.xml" Id="R16a7c4390f1d4c72" /><Relationship Type="http://schemas.openxmlformats.org/officeDocument/2006/relationships/tableStyles" Target="/ppt/tableStyles.xml" Id="R98028ce12ca84d43" /><Relationship Type="http://schemas.openxmlformats.org/officeDocument/2006/relationships/slide" Target="/ppt/slides/slide1.xml" Id="R5bee858118a74ee9" /><Relationship Type="http://schemas.openxmlformats.org/officeDocument/2006/relationships/slide" Target="/ppt/slides/slide2.xml" Id="R9fd449221e98448f" /><Relationship Type="http://schemas.openxmlformats.org/officeDocument/2006/relationships/slide" Target="/ppt/slides/slide3.xml" Id="Re3a1e47ae4c74184" /><Relationship Type="http://schemas.openxmlformats.org/officeDocument/2006/relationships/slide" Target="/ppt/slides/slide4.xml" Id="R72b72d69111c4f84" /><Relationship Type="http://schemas.openxmlformats.org/officeDocument/2006/relationships/slide" Target="/ppt/slides/slide5.xml" Id="Ra467b342954246d5" /><Relationship Type="http://schemas.openxmlformats.org/officeDocument/2006/relationships/slide" Target="/ppt/slides/slide6.xml" Id="R4d1b60e8f506493e" /><Relationship Type="http://schemas.openxmlformats.org/officeDocument/2006/relationships/slide" Target="/ppt/slides/slide7.xml" Id="R80e98768ad1045fa" /><Relationship Type="http://schemas.openxmlformats.org/officeDocument/2006/relationships/slide" Target="/ppt/slides/slide8.xml" Id="Rf883c5ef367f4c67" /><Relationship Type="http://schemas.openxmlformats.org/officeDocument/2006/relationships/slide" Target="/ppt/slides/slide9.xml" Id="R5645d5227513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ba9255be640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4d3b0b764b47e8" /><Relationship Type="http://schemas.openxmlformats.org/officeDocument/2006/relationships/notesMaster" Target="/ppt/notesMasters/notesMaster1.xml" Id="R3b1f05e79a284f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637812f75945ed" /><Relationship Type="http://schemas.openxmlformats.org/officeDocument/2006/relationships/notesMaster" Target="/ppt/notesMasters/notesMaster1.xml" Id="Rcfb45038f99d46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043f47e88443f1" /><Relationship Type="http://schemas.openxmlformats.org/officeDocument/2006/relationships/notesMaster" Target="/ppt/notesMasters/notesMaster1.xml" Id="R9822ea1f87b44d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16fc8b1a754824" /><Relationship Type="http://schemas.openxmlformats.org/officeDocument/2006/relationships/notesMaster" Target="/ppt/notesMasters/notesMaster1.xml" Id="Rcc7d3d8253d1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31b49767c44da1" /><Relationship Type="http://schemas.openxmlformats.org/officeDocument/2006/relationships/notesMaster" Target="/ppt/notesMasters/notesMaster1.xml" Id="Re2d6859b754c40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1cf45e896040a3" /><Relationship Type="http://schemas.openxmlformats.org/officeDocument/2006/relationships/notesMaster" Target="/ppt/notesMasters/notesMaster1.xml" Id="R2353285f443443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1faea30a8e4e50" /><Relationship Type="http://schemas.openxmlformats.org/officeDocument/2006/relationships/notesMaster" Target="/ppt/notesMasters/notesMaster1.xml" Id="R7dc49178aa3540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28c07e5eb14f6f" /><Relationship Type="http://schemas.openxmlformats.org/officeDocument/2006/relationships/notesMaster" Target="/ppt/notesMasters/notesMaster1.xml" Id="R7b8a572c005340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47f8c4096e4dfd" /><Relationship Type="http://schemas.openxmlformats.org/officeDocument/2006/relationships/notesMaster" Target="/ppt/notesMasters/notesMaster1.xml" Id="R70183e0c315340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开场控制在20秒。先说项目名称，再用一句话说明核心差异：DebugPath不是一次问答，而是在图谱中通过主动询问不断缩小原因范围。资料依据：README.md，docs/architecture.md。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30秒。只讲期中之后新增的四项工作，不重复项目背景。四项内容分别对应图谱结构、算法、演示和输出边界。下一页先展开图谱。来源：docs/graph-explanation.md，docs/v2-information-gain.md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图谱部分重点，用55秒。先讲四层：故障与证据、交互推理、环境约束、方案输出。再讲三种边的语义差别。OBSERVATION_SUPPORTS保存P(观察结果|原因)，是动态推理真正使用的概率因果边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40秒。先区分三类关系：候选边决定搜索范围，证据边形成初始排序，观察边保存条件概率。用户回答以后，系统读取P(观察结果|原因)，执行贝叶斯更新。示例中服务地址配置错误从56.0%升至95.2%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60秒，是算法重点。先用直白语言解释熵：候选概率越平均，越不确定。信息增益就是提问前后的熵差。第二版不是只看理论信息增益，还乘以可回答率并扣除成本与风险。固定案例第一次问题的信息增益0.733 bit，可回答率90%，效用0.640。来源：docs/v2-information-gain.md，data/demo/open_webui_ollama_trajectory.json，src/diagnosis/planner_v2.py。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本页用35秒。用户描述Open WebUI容器无法连接宿主机Ollama。系统从三个EvidenceChunk映射出五个候选原因。第一名服务地址配置错误为56.0%，当前熵1.850 bit，仍需追问。系统选择信息增益0.733 bit的问题。来源：data/demo/open_webui_ollama_trajectory.json，src/diagnosis/trajectory_v2.py。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本页用35秒。用户回答是以后，系统增加Observation节点。OBSERVATION_SUPPORTS边同时作用于所有候选原因，服务地址配置错误从56.0%升至95.2%，熵降到0.364 bit。系统随后选择下一问：必需环境变量是否缺失。来源：data/demo/open_webui_ollama_trajectory.json，src/diagnosis/trajectory_v2.py。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50秒。第二问排除环境变量缺失后，Top-1升至96.9%，满足阈值、领先差距和有效证据数三个条件。系统随后沿图谱找到服务上下文、检查、修复、风险与来源。注入层的边界是程序化白名单校验，不应夸大为开放式模型安全。来源：data/demo/open_webui_ollama_trajectory.json，data/evaluation/injection_results.json，src/diagnosis/generator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用40秒。冻结测试中不追问的Top-1为50.0%，主动询问策略为60.4%到64.3%。需要主动说明：样本量较小，而且该批数据已经参与开发反馈，不能夸大为真实环境准确率。最后总结四项可证明成果。来源：data/evaluation/frozen_test_results.json，data/evaluation/injection_results.json，tests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b80d01a184e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cbe246a4448dd" /><Relationship Type="http://schemas.openxmlformats.org/officeDocument/2006/relationships/slideLayout" Target="/ppt/slideLayouts/slideLayout1.xml" Id="R050c8f501ca84e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0c8f501ca84e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da41223c14809" /><Relationship Type="http://schemas.openxmlformats.org/officeDocument/2006/relationships/notesSlide" Target="/ppt/notesSlides/notesSlide1.xml" Id="Rc02ad366be3c48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d99df481f48f9" /><Relationship Type="http://schemas.openxmlformats.org/officeDocument/2006/relationships/notesSlide" Target="/ppt/notesSlides/notesSlide2.xml" Id="R04e06b62cc9a4a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11b9abdeb43ca" /><Relationship Type="http://schemas.openxmlformats.org/officeDocument/2006/relationships/image" Target="/ppt/media/image.png" Id="R9b09a53180c24a56" /><Relationship Type="http://schemas.openxmlformats.org/officeDocument/2006/relationships/notesSlide" Target="/ppt/notesSlides/notesSlide3.xml" Id="Rf34caf96a8484d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bfce3465f448e" /><Relationship Type="http://schemas.openxmlformats.org/officeDocument/2006/relationships/notesSlide" Target="/ppt/notesSlides/notesSlide4.xml" Id="R0a628cf6eb42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60af4048245d3" /><Relationship Type="http://schemas.openxmlformats.org/officeDocument/2006/relationships/notesSlide" Target="/ppt/notesSlides/notesSlide5.xml" Id="R80fd36f81a8642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d09f8f64745a8" /><Relationship Type="http://schemas.openxmlformats.org/officeDocument/2006/relationships/image" Target="/ppt/media/image2.png" Id="Rb7ef6842209d433d" /><Relationship Type="http://schemas.openxmlformats.org/officeDocument/2006/relationships/notesSlide" Target="/ppt/notesSlides/notesSlide6.xml" Id="R0dbaf584640b47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9cb8baaf34290" /><Relationship Type="http://schemas.openxmlformats.org/officeDocument/2006/relationships/image" Target="/ppt/media/image3.png" Id="R2a1a04354b1f414a" /><Relationship Type="http://schemas.openxmlformats.org/officeDocument/2006/relationships/notesSlide" Target="/ppt/notesSlides/notesSlide7.xml" Id="R8d9b96bae08344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826b28ac64feb" /><Relationship Type="http://schemas.openxmlformats.org/officeDocument/2006/relationships/image" Target="/ppt/media/image4.png" Id="R5b181c2cc0c84f1d" /><Relationship Type="http://schemas.openxmlformats.org/officeDocument/2006/relationships/notesSlide" Target="/ppt/notesSlides/notesSlide8.xml" Id="R3de08ff1c1ff4a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6ae9a8ed34860" /><Relationship Type="http://schemas.openxmlformats.org/officeDocument/2006/relationships/notesSlide" Target="/ppt/notesSlides/notesSlide9.xml" Id="R527410b2d8d0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93E08-3758-4202-9862-C17DBC4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A1EFA-05F7-4ADB-B8EE-E28BBFE6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知识工程综合实践｜最终答辩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BAC0F-D8DC-430E-922D-A4D43CA1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DE640-4A93-440F-81DE-6734A5D2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基于因果知识图谱与主动询问的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AI开发环境故障诊断 Graph 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4D857-22A8-4DB3-BB51-8223512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169A4-43BF-42FF-96BD-70826E62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从一次性检索，走向可追溯的动态诊断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8FC13-8C94-4C67-ACEF-08784538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图谱构建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6BC7B-E1C2-48FA-A6B5-AF05380A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检索与推理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844EB-8463-4F6A-9C7D-5704903E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知识注入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35755-D0F4-424C-A56C-6BF6F1CF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赵天毅｜2026.09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40355-A837-4A00-97C3-58F6C96F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FINAL REVIEW</a:t>
            </a:r>
          </a:p>
        </p:txBody>
      </p:sp>
    </p:spTree>
    <p:extLst>
      <p:ext uri="{BB962C8B-B14F-4D97-AF65-F5344CB8AC3E}">
        <p14:creationId xmlns:p14="http://schemas.microsoft.com/office/powerpoint/2010/main" val="617014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C1A2F-07A2-4DE3-8F16-74469F4E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D4FD1-B0BC-4D8A-9136-EB4C6EA0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期中之后完成的工作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E71EE-D9CB-4CAB-8F09-CC8EF357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EF46A-BD27-4BE0-A581-D6AB8BD5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8BA05-BAF4-48F6-B5E6-04E15005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最终版本把“动态诊断”落实为可计算、可回放的完整过程。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63F97-17F4-4EA0-B4E3-F194131E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77AFF-3AE5-4F83-A158-827C6FD8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A5902-D8E9-4B4E-A899-7646D37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图谱扩展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49512-F366-4538-8C8D-1A41A80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15类节点、27类关系。补充服务、端点和部署环境，使原因能够落到具体检查与修复。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9FFC1-2AC2-4E7C-AB99-6D9BE421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4953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2A3BE-84D9-47AF-BD1A-8431DAC5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DD650-36FD-4AC1-9451-11BD3D18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3842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选问优化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29987-B975-46F1-AE93-94BF08C8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81325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信息增益加入可回答率、检查成本和风险，避免选择理论上有效但用户难以完成的问题。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B5A5B-860B-4CB6-B64E-1B1C6201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02925-FCCF-4883-B840-93982220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2616F-03CE-484D-A820-E26C77B8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轨迹回放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539C0-6120-4ED4-879B-B8DA14A6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每轮记录问题、观察、候选概率、熵和子图变化，答辩时可以逐步解释诊断过程。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FC46D-96CD-4670-8682-24C5D69A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4953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BBC73-C9CC-436B-809B-A9445803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4C7CE-C3B7-4B79-A803-43AE8DBA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8627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注入约束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D1BD2-3C68-418D-941A-0E8164E2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29175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原因、检查、修复、风险和来源通过白名单校验后，才交给大模型整理表达。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3ECCF-04C2-45DC-B2DC-53BF9B74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最终汇报重点：图谱如何表达因果，算法如何选择下一问，回答如何改变候选子图</a:t>
            </a:r>
          </a:p>
        </p:txBody>
      </p:sp>
    </p:spTree>
    <p:extLst>
      <p:ext uri="{BB962C8B-B14F-4D97-AF65-F5344CB8AC3E}">
        <p14:creationId xmlns:p14="http://schemas.microsoft.com/office/powerpoint/2010/main" val="1344158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C587D-8CF9-4765-8AD7-7016FBEF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5E914-A94A-46BD-89CB-3BD1B137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因果知识图谱：15类节点，四层职责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67EE6-B354-458B-9274-1257B291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39E28-EE13-43F9-A0CE-CCB97F5F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FAC40-541B-4BF9-826C-8E329130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147 节点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90D7C-C876-4052-8AF3-8D1E9FBE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378 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74D56-C9E9-4456-93A9-893B92FB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27 类受控关系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9a53180c24a56"/>
          <a:stretch xmlns:a="http://schemas.openxmlformats.org/drawingml/2006/main"/>
        </p:blipFill>
        <p:spPr>
          <a:xfrm xmlns:a="http://schemas.openxmlformats.org/drawingml/2006/main">
            <a:off x="652084" y="1924050"/>
            <a:ext cx="7754106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8605D-746F-43B0-8074-CB4DE7F6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三种“支持”必须区分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06AC9-CAD6-45F6-A387-8E9620CC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3A414-67B4-4555-9AC0-58BBA649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只表示候选集合，不证明原因成立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701ED-26EF-47E7-BA32-EA021988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364D1-A0AA-4A5B-A077-19E1FD50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表示证据片段与原因相关，用于初始排序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17BE9-CB54-4FDF-8D53-34A179C2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0F140-19CD-43A0-AE28-31C9535E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保存条件概率。用户回答后，它真正驱动贝叶斯更新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5208B-6245-49F6-A001-D95D1A50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06446-6547-4E63-8A25-4CC32D52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</a:p>
        </p:txBody>
      </p:sp>
      <p:cxnSp>
        <p:nvCxnSpPr>
          <p:cNvPr id="3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982200" y="5676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7A81B-3596-411E-AA64-FFC5DD02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真正的概率因果闭环：Question → Observation → Cause 概率更新</a:t>
            </a:r>
          </a:p>
        </p:txBody>
      </p:sp>
    </p:spTree>
    <p:extLst>
      <p:ext uri="{BB962C8B-B14F-4D97-AF65-F5344CB8AC3E}">
        <p14:creationId xmlns:p14="http://schemas.microsoft.com/office/powerpoint/2010/main" val="92693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D7B04C-619D-4766-8CD9-6FCDC17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CC427-1960-42EB-8B2B-B6DF1312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因果关系如何驱动候选子图变化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65B77-ED60-4AB1-A989-BEE1B78B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1E7DF-ABA6-4663-AE6F-3F71A5AB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8C31C-E2A4-4BBA-9C2E-EC200ED1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三类关系承担不同任务，只有观察边参与回答后的概率更新。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0247B-40B6-43EF-9600-CA89BEE8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6E68C-8E5E-4B29-AF2D-B6022B97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7C8F0-CE38-474F-9D1B-60CC4755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669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07BC1-C846-4607-BB7A-24DD2824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定义候选集合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7654E-F136-43E3-BB2A-30E2B5FE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故障可能由哪些原因造成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911F5-97F3-4C73-A78A-F78E68B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5C687-5331-4267-87D2-76F781E5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E2CFA-8907-4D8C-843A-EA818177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A273A-3061-4316-A893-2113DAD5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形成初始排序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E936D-55F9-4E26-B433-D5D09F27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BM25证据片段映射到原因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82F92-875E-4B69-85E6-6D1B3538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A2829-08BA-498F-A12B-91D46665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C2B51-049E-44E2-9C17-1D517DA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ABCD3-3D93-41F2-970E-6FA2C510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更新原因概率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F535C-6FC7-4132-BE0F-CA90914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 P(观察结果｜原因)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6E500-BF04-4479-BB94-E8DB7A1F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095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38647-03A9-4B43-B8E0-8F15855B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9F0DE-EF63-4F7D-8A23-76D3C431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622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宿主机正常，容器访问失败吗？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458B8-F77B-4AF0-9366-53088592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095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70FC9-07EB-43B4-83BD-5D99C027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6EB469-B9A5-4F38-8753-D8101683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957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462EB-FFE5-41C1-A278-96CB2AEE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095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ABAFE-E55F-4AF0-8014-118AFE3B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原因概率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109BA3-367E-4F90-AF8A-3DBF3B03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292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  56.0% → 95.2%</a:t>
            </a:r>
          </a:p>
        </p:txBody>
      </p:sp>
      <p:cxnSp>
        <p:nvCxnSpPr>
          <p:cNvPr id="63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620125" y="29146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620125" y="42481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3FA704-0699-4F02-A6AE-745139D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957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读取条件概率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7DDB75-F215-4C78-90C9-F4B3FA77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回答进入图谱后：新增 Observation  →  贝叶斯更新  →  原因重排  →  选择下一问</a:t>
            </a:r>
          </a:p>
        </p:txBody>
      </p:sp>
    </p:spTree>
    <p:extLst>
      <p:ext uri="{BB962C8B-B14F-4D97-AF65-F5344CB8AC3E}">
        <p14:creationId xmlns:p14="http://schemas.microsoft.com/office/powerpoint/2010/main" val="1503260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D0FE0-3C55-47A6-B8A5-D29BEB74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F9BA2-A9D6-4C7A-834A-ED780EEC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核心算法：问哪一个问题，才能最快缩小原因范围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22BDB-75F9-4A31-9755-E0686A2C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358E6-D423-4075-BB8F-FE33BC0C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F792C-3601-4681-A524-53ECE4CB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选择问题 = 最大化问题效用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3DA6D-49C3-4D53-9B25-3DA84C9D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信息增益衡量一次提问能减少多少不确定性。第二版进一步考虑用户能否回答、检查成本和风险。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69EA9-9189-45D0-AD7A-27C53882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5334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A31ED-6A2A-4FB4-BFC0-185BBFAF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IG(q) = H(C) − 𝔼[ H(C | answer)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75E2B-0180-4F6B-B1CD-7FDCDD89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5334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DC014-DEDA-418D-9A6F-413D3020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Utility(q) = IG × 可回答率 − 成本惩罚 − 风险惩罚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2FE68-12F5-4DEA-9462-B649AEA7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24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固定案例的第一次选问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F62D7-212D-469A-BAB1-25498D88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762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4CF82-F442-49F2-84EF-9BF73B9A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19325"/>
            <a:ext cx="426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宿主机访问 Ollama 正常，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但 Open WebUI 容器使用当前地址访问失败吗？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096CF-5FFA-495C-B723-A944DD12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58ED2-1F95-4F5B-BABC-BFB34214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理论信息增益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B6530-0032-4EB3-B089-D437E28D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AFEE9-C3C2-4E64-867F-3652C4A8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024DD-24E9-461E-B9D0-A5401C90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预计可回答率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2204A-E353-49E7-8525-2900B489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1706F6-4FBF-426A-82D0-0E565C09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50545-DFEE-45E0-A810-2BC4C7A0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检查成本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4F023-6C0D-4EBC-A8ED-EA3DAB25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89905-3758-4C84-8BB1-C1AB82CA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767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F0135-ABB2-4EDB-AED0-AB0056C1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01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最终效用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74618-8DBD-4B65-82A5-4D67FD12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768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0.640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EC3E4-B768-4363-AE56-1350671E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停止条件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111AE0-6A7E-432A-9956-4D55F929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673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最高概率 ≥ 78%   ·   第一名领先 ≥ 20%   ·   至少 2 个有效回答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21853-AF5A-418E-B1B9-050AF8D1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算法输出的不只是答案，还包括为什么问、回答后如何变化、何时停止</a:t>
            </a:r>
          </a:p>
        </p:txBody>
      </p:sp>
    </p:spTree>
    <p:extLst>
      <p:ext uri="{BB962C8B-B14F-4D97-AF65-F5344CB8AC3E}">
        <p14:creationId xmlns:p14="http://schemas.microsoft.com/office/powerpoint/2010/main" val="701816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EEF7CE6-8024-49BA-8520-AF4314BB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D50C1-22E0-4A72-A31A-55E8DEB0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动态子图重放：一次回答如何改变检索结果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9CA32-B8D9-4367-908D-D520B74E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7AA65-A23B-49DA-BD46-D470BE00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6569B-048C-42AB-8394-64BBC795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轮｜初始检索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C1A7D-0E65-4D09-9A6B-44D9C002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轮｜用户回答“是”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A8910-3A42-4207-A9BA-E312D494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018D3-7AE6-4E1E-8565-6E1B80CE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0F3B3-5122-44B4-A7AA-D848C210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10BC8-563D-4633-9478-9D6272CD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0D0F3-244F-4D26-A9D2-D5331027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84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713D2-8199-45C1-8B2E-52840E30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FFF16-E6A1-45E8-B6DD-EBF119D4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B8C9C-5119-4296-8FB2-37DAEFAA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918C1-5F44-486C-A74B-D75CC99D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098804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57E29-AEF2-4469-8F56-5BE2C6E3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8702F-18C0-4E08-B628-A3A8CE63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2E8D1-D300-4B1E-AF20-1E1B075B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3708F-7C0D-4C49-AE6A-B849FBE0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4F0F7-B86B-4890-932F-18D21FB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75180C-72FF-4CE5-97D5-281CA8AF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859D8-ADA4-43BC-912F-D699648B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76214-55C9-4575-BCE9-08FFFE62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0B33C-AB13-4A0F-BC9F-518B9A24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99622-EBC9-4154-8791-6DEA4AFE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8C84E1-574B-43BF-BC4A-2174C378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8A419-4171-4988-869F-04538976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4407D-BD96-49BF-BCCB-E01AB37F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C24052-65F9-4E70-A9EA-A1030CC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4ED26-E4D8-4D2E-9345-7316836A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69A2E4-A9DC-4F51-8D7F-AABFF4A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C3D56-2938-43FC-BF8D-3AE032AC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61FA96-818C-45D0-ABF6-A1EC389D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2A34C2-3ADF-4D91-AF4B-A2CBB813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7FE9A2-4088-4362-805C-5E3BB332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86796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D9825A-4F2D-4C43-A7C7-87132F17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95.2%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530613-BC9C-41CC-9284-678FEF4B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5C36E2-347C-4ECF-AA31-C9B3E20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BEBB99-E461-4582-999E-583FF953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387261-3651-4D5C-901A-1FA61512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1.9%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B43277-AC03-4849-9522-FA61D286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FE2EF3-E4FF-435B-92D7-94BB94B1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62589F-760C-415F-BE04-DFAECD5A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6B4F8F-3628-4131-8043-23107A47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1.4%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BE36E4-C70A-46AC-B490-93BBC987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BA91E4-9300-40DE-9308-26A2A6BB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593A4C-B059-4936-9327-F55CDA4E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7051C7-7536-4087-A5D1-9B84D40A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DDD8E0-A6CA-4643-938B-F71784F5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2AC032-85D8-4342-A9A0-65B9C7C1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5E5C82-9AA8-4F48-BAC5-E63C83C4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3EDF2F-8B12-471A-9CAD-DC31E131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48577C-8AD1-4553-AEC3-6B5F7EAD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5751A2-405C-4C31-B8B4-1CD2BAB8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E8B39-922B-4ACA-AFC7-A316FC72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F05212-514D-4319-B392-86BA170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必需环境变量缺失吗？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5B4F9E-828B-4774-AE6B-E3E3E0BA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72025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4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Context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D0620D-CCE2-4D6D-BFF3-29029EE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91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Ollama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FDA6FA-1115-4113-BEE2-F7390716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1.850 bit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F063E2-DD05-499D-909E-8C379769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0.364 bit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017177-304E-47A7-8233-05B76C8C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一次回答：56.0%  →  95.2%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22AED1-8EA0-46B7-B609-2E30A4D6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红色概率边进入推理后，候选概率、可见节点与下一问同时改变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0CE348-6B63-40E1-B7FD-AC06B3DF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17DBC2-FE74-4D5F-B1F8-7DD6F9E5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轮：初始检索形成 5 个候选原因</a:t>
            </a:r>
          </a:p>
        </p:txBody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f6842209d433d"/>
          <a:stretch xmlns:a="http://schemas.openxmlformats.org/drawingml/2006/main"/>
        </p:blipFill>
        <p:spPr>
          <a:xfrm xmlns:a="http://schemas.openxmlformats.org/drawingml/2006/main">
            <a:off x="742950" y="1925964"/>
            <a:ext cx="10706100" cy="2720323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6AA560-3F70-4C86-AFEF-4CB3332F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C3BFF2-DD93-4354-9AAA-F1F70DAA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5A2126-12B0-47C5-A153-F2CDF863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786DFD-6A24-4554-9035-D18CE0FD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7C96AE2-DD34-494C-83E0-09CBA40B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9600EF5-09DF-48DF-944F-3A7CB0C1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2E8945-26DD-44DE-AA7B-83745F02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76BEE4-8DB1-4BF8-B193-8EDF7B4F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仍需主动询问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206449-C5CB-436F-8382-3D30C2DB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573590-DE40-4252-8C37-291DF0BF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D444BB9-76A4-437B-853D-D963F0F2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3A511E8-7DF4-4C13-B748-7474DC83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原因分布仍然分散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3B98793-AA68-489A-99A5-2189EBFF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C06FDB4-606A-4960-B41B-D76C7717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第一问信息增益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BBCB6D6-14C7-4FF5-95BE-65BB031A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0A78801-1575-46E2-AB41-5B34F98C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9FC8B3-94DC-4E47-9D2E-698AD97E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6C0E29-F28B-4119-AE4B-0ED42F95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初始检索只形成候选集合；系统还没有足够证据停止诊断</a:t>
            </a:r>
          </a:p>
        </p:txBody>
      </p:sp>
    </p:spTree>
    <p:extLst>
      <p:ext uri="{BB962C8B-B14F-4D97-AF65-F5344CB8AC3E}">
        <p14:creationId xmlns:p14="http://schemas.microsoft.com/office/powerpoint/2010/main" val="1300882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B95C7-F22B-4015-9745-2CA492AB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4ABE6-F572-411B-9111-7BB9967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1 轮：用户回答后，候选子图重新聚焦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EF88F-D333-47CD-BBC2-8B6F5622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324C2-0468-47BF-B852-D9D0F02E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BFD59-636F-425B-BE65-56580932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CB922-C65D-4A23-84DF-39091D92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观察：宿主机访问成功，但容器访问失败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a04354b1f414a"/>
          <a:stretch xmlns:a="http://schemas.openxmlformats.org/drawingml/2006/main"/>
        </p:blipFill>
        <p:spPr>
          <a:xfrm xmlns:a="http://schemas.openxmlformats.org/drawingml/2006/main">
            <a:off x="2505579" y="1924050"/>
            <a:ext cx="7180841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E5A04-FA63-410B-BCCE-1FE6ABB7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</a:p>
          <a:p xmlns:a="http://schemas.openxmlformats.org/drawingml/2006/main">
            <a:pPr algn="ctr"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18B19-6D42-47B5-80DA-0EAEFE24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D08BA-C054-4194-869B-10D2D943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86375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95.2%    熵  0.364 bit</a:t>
            </a:r>
          </a:p>
          <a:p xmlns:a="http://schemas.openxmlformats.org/drawingml/2006/main">
            <a:pPr algn="ctr"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下一问：必需环境变量是否缺失</a:t>
            </a:r>
          </a:p>
        </p:txBody>
      </p:sp>
      <p:cxnSp>
        <p:nvCxnSpPr>
          <p:cNvPr id="2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563880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5800D-8D7E-40CE-B9B4-2B44C0C0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D8C4D-26B8-4129-AE45-81870DB6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新增 Observation 节点后，原因概率、候选范围和下一问同时改变</a:t>
            </a:r>
          </a:p>
        </p:txBody>
      </p:sp>
    </p:spTree>
    <p:extLst>
      <p:ext uri="{BB962C8B-B14F-4D97-AF65-F5344CB8AC3E}">
        <p14:creationId xmlns:p14="http://schemas.microsoft.com/office/powerpoint/2010/main" val="201428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7661D-2FD7-4183-853B-394F978E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98732-E92E-4F22-B19D-D53D5428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2 轮：定位原因，并展开完整证据链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D71BF-6DE6-454A-B878-D7AB130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6BA29-4D17-4C0B-87E1-179BE7A4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A5DDA-C25D-4BE1-BCE3-24E96CE6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第二次回答“否”后，服务地址配置错误达到 96.9%，并满足停止条件。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81c2cc0c84f1d"/>
          <a:stretch xmlns:a="http://schemas.openxmlformats.org/drawingml/2006/main"/>
        </p:blipFill>
        <p:spPr>
          <a:xfrm xmlns:a="http://schemas.openxmlformats.org/drawingml/2006/main">
            <a:off x="2798634" y="1809750"/>
            <a:ext cx="6594732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C6C08-650A-4D60-9CC2-CABA1DB7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最终输出路径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99C2F-C0B3-43EB-A819-D39F4E41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0FBA4-DF55-40A7-8EF4-00382D75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F3418-603F-4012-ACB2-B1FA24CE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4348D-A6BB-4C07-BA72-3BD52170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3AEBE-53AC-4E7E-86DF-963944E4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68541-39C3-4311-99BB-21F71B44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从容器访问 /api/tags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8187B-0E32-4361-80DA-966D496F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6F51C-645D-4F07-AA90-8499D08C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修复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86C68-A632-484D-AA15-28A56F25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3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2BAC2-BFEC-4D01-84FD-CE05BF40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94B06-0C08-4852-9A4B-6DDC480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808C8-3772-4429-856D-BA2C08C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BF46B-0BE6-4BA6-B3D2-AB7BD417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EB201-6CC5-4F44-BB7A-170E14C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72778-27DF-4D94-B85A-A7A4B1F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三类官方文档</a:t>
            </a:r>
          </a:p>
        </p:txBody>
      </p: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3842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965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0087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240CC-E77B-44D6-8AD3-8EE2EE90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lIns="171450" tIns="0" rIns="1714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结构化注入通过白名单校验后，才交给大模型整理输出｜9 条有效结构通过，24 条非法结构被拒绝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9EE9B-FFA6-4A47-9449-358A1DF0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大模型不重新判断原因，只把已验证的图谱证据组织成自然语言</a:t>
            </a:r>
          </a:p>
        </p:txBody>
      </p:sp>
    </p:spTree>
    <p:extLst>
      <p:ext uri="{BB962C8B-B14F-4D97-AF65-F5344CB8AC3E}">
        <p14:creationId xmlns:p14="http://schemas.microsoft.com/office/powerpoint/2010/main" val="1962912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BF0892-9F05-4227-9C44-639E42F1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DDEF9-C873-4A8E-BDAC-CB852E91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实验结果与最终结论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4B798-0EE7-49E8-A4D5-E8E45777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A46B9-C0A1-4D0A-A0E3-B5ED47AB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5AF93-EB20-42B3-8126-55CC2D0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当前完成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D3D78-6E7C-4691-8F49-94EB9022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3E2E7-2668-4903-9E7E-E0E08251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四层、15类节点的受控因果图谱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9EFB5-65F6-45C0-A7D5-C3400277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96227-6CF6-438D-92EA-12DB359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可回答性感知的信息增益选问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42CCF-7806-4B56-88B4-CF50A8DE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7D2D2-3CA2-4A95-9B36-234754ED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轮次级候选概率与子图轨迹记录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CB707-AB27-4078-8871-C371ED17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768BB-017A-4E7C-A707-1C81396F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原因到检查、修复、风险、来源的证据链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AFA79-C238-40CD-8C07-A297A7BC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9545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84C4C-C0AE-4B80-9FA0-32175761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335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实验边界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4F1C3-D9CD-430D-A766-FDD40F83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42 条案例已参与开发调优。15 条案例的首问发生变化，但当前结果不能表述为真实环境准确率。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7A4B0-FCD1-40DC-85DB-7AB67F6E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803B6-CAC0-4D22-B947-6EE1A84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引入新的外部真实案例，重新校正条件概率、可回答率和成本参数。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5DAE5-E5C1-4394-BCA2-6FFD23C0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再用未参与开发的冻结测试集，验证信息增益策略能否稳定减少追问并提高定位质量。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515F3-CC2B-4EAE-A7ED-7555D4C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 的成果不是“一个会回答报错的聊天框”，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而是一条可观察、可解释、可复现的动态诊断路径。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85146-54D1-4733-9931-10DE976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E1AD9-222B-4CCE-87CD-D1D2133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14 条首次冻结测试：Top-1 定位率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061F4-BE10-4678-BE2C-E55650AE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不追问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91D86-A536-4519-8E1F-15D72409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47875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6FE2E-EA19-436C-8D81-015AFD3A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47875"/>
            <a:ext cx="25908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ED2C3-34E6-40B2-9B93-EF1D437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002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50.0%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559E62-7D71-4FBC-B19B-2552111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固定顺序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57E4CC-7AA8-42AD-8199-473C310F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90800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6006A5-3358-4467-A332-3AD51522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90800"/>
            <a:ext cx="333176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E9EEA"/>
          </a:solidFill>
          <a:ln xmlns:a="http://schemas.openxmlformats.org/drawingml/2006/main" w="11430">
            <a:solidFill>
              <a:srgbClr val="6E9E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C7270-0D33-47F3-8176-53848F13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431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6E9E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6E9EEA"/>
                </a:solidFill>
                <a:latin typeface="Hiragino Sans GB"/>
                <a:ea typeface="Hiragino Sans GB"/>
                <a:cs typeface="Hiragino Sans GB"/>
              </a:rPr>
              <a:t>64.3%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48BDB4-E2C4-41B3-BD87-07F1B6B5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随机追问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DF115-0718-4EC8-855F-014059E6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33725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D201C7-694F-4868-B04F-FF69E201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33725"/>
            <a:ext cx="312968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2DE0FC-FA06-49CC-9EA6-D8EE946D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861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60.4%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5A303C-13E0-4E47-A939-7C9C63F8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纯信息增益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C27A7-A055-45FF-A595-0B8DFB1E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76650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C8BDCC-0461-4122-AE66-62903BD6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76650"/>
            <a:ext cx="333176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01FBF5-6B3D-42AA-BF02-3C25333B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290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64.3%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2268EC-7A62-4019-99EC-A5DF1911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完整策略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8943CF-1E0A-4A86-B991-56DE171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9575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E9831C-AFD6-43D8-85BC-4B775B56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9575"/>
            <a:ext cx="333176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089948-0F69-4A00-A803-ECF6AE2B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719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64.3%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EAE38E-127F-4266-8859-41CEC962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7315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9370B0-5CFB-42E4-8709-B98ADEFE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结果边界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5CB617-8A14-43D5-8D51-11DD40CC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72050"/>
            <a:ext cx="584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主动询问优于不追问，但策略之间尚未拉开差距。该批数据已参与开发反馈，不能再次作为无偏测试集。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FC6C68-21EC-4102-B306-40A07640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0" cy="401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F570F2-5C87-4DCF-A5C7-2704DA2F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95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最终完成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CE630B-CE25-4CDA-9D43-EE01544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4A6B79-8D9F-4825-A19D-E2F90C4E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97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图谱可解释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3659B5-ABDD-4E61-8D2D-924BF6CB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05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15类节点、27类关系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B83E0C-9D10-4033-AD04-25F93812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7975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9BFE0A-FE7F-43C3-8D22-0D1BC831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47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过程可回放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063CB4-9EFC-40C3-8687-7C614322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56.0% → 95.2% → 96.9%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947C7B-9B2B-4B61-ABF9-EEF5BDA8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C0035F-499B-4960-A753-A25B3066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86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输出有边界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34FAC6-345C-44E3-9E8C-E2EF24C9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9条合法结构通过，24条非法结构拒绝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A4E06D-A4A0-419B-B7C5-34744E72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24375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A5DDBE-6BFD-40B3-A370-9C6F4E52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24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工程可验证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4547E6-D07C-44BB-9575-C5C772F4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9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73项自动化测试通过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83E2F9-3745-4436-85B5-FBE51391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DebugPath 最终交付的是一条可解释、可回放、受证据约束的动态诊断路径</a:t>
            </a:r>
          </a:p>
        </p:txBody>
      </p:sp>
    </p:spTree>
    <p:extLst>
      <p:ext uri="{BB962C8B-B14F-4D97-AF65-F5344CB8AC3E}">
        <p14:creationId xmlns:p14="http://schemas.microsoft.com/office/powerpoint/2010/main" val="319175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2026-09-13T07:13:29.7400000Z</dcterms:created>
  <dcterms:modified xsi:type="dcterms:W3CDTF">2026-09-13T07:13:29.7400000Z</dcterms:modified>
</coreProperties>
</file>