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a5b1dce0f44a70" /><Relationship Type="http://schemas.openxmlformats.org/officeDocument/2006/relationships/extended-properties" Target="/docProps/app.xml" Id="Rb9753757df9a48d0" /><Relationship Type="http://schemas.openxmlformats.org/officeDocument/2006/relationships/officeDocument" Target="/ppt/presentation.xml" Id="R993a9674592a4ea8" /></Relationships>
</file>

<file path=ppt/presentation.xml><?xml version="1.0" encoding="utf-8"?>
<p:presentation xmlns:p="http://schemas.openxmlformats.org/presentationml/2006/main">
  <p:sldMasterIdLst>
    <p:sldMasterId xmlns:r="http://schemas.openxmlformats.org/officeDocument/2006/relationships" id="2147483648" r:id="R9b3371000a664310"/>
  </p:sldMasterIdLst>
  <p:notesMasterIdLst>
    <p:notesMasterId xmlns:r="http://schemas.openxmlformats.org/officeDocument/2006/relationships" r:id="Rc32bf20cefe746fc"/>
  </p:notesMasterIdLst>
  <p:sldIdLst>
    <p:sldId xmlns:r="http://schemas.openxmlformats.org/officeDocument/2006/relationships" id="256" r:id="R2ecc85b15b104ff0"/>
    <p:sldId xmlns:r="http://schemas.openxmlformats.org/officeDocument/2006/relationships" id="257" r:id="R900762967f734e22"/>
    <p:sldId xmlns:r="http://schemas.openxmlformats.org/officeDocument/2006/relationships" id="258" r:id="Rc371272b8be74497"/>
    <p:sldId xmlns:r="http://schemas.openxmlformats.org/officeDocument/2006/relationships" id="259" r:id="R578cc90cdb4c4581"/>
    <p:sldId xmlns:r="http://schemas.openxmlformats.org/officeDocument/2006/relationships" id="260" r:id="R001d4085a267485f"/>
    <p:sldId xmlns:r="http://schemas.openxmlformats.org/officeDocument/2006/relationships" id="261" r:id="R00cbcbb6d4a64b58"/>
    <p:sldId xmlns:r="http://schemas.openxmlformats.org/officeDocument/2006/relationships" id="262" r:id="R0f0883859aa34e3d"/>
    <p:sldId xmlns:r="http://schemas.openxmlformats.org/officeDocument/2006/relationships" id="263" r:id="Rcc46c74712c94e5e"/>
    <p:sldId xmlns:r="http://schemas.openxmlformats.org/officeDocument/2006/relationships" id="264" r:id="Rcea7b1d88cac4692"/>
    <p:sldId xmlns:r="http://schemas.openxmlformats.org/officeDocument/2006/relationships" id="265" r:id="Re3f707862b4e42f2"/>
    <p:sldId xmlns:r="http://schemas.openxmlformats.org/officeDocument/2006/relationships" id="266" r:id="R7b50c33c7d2d49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bb16cdb7984ea6" /><Relationship Type="http://schemas.openxmlformats.org/officeDocument/2006/relationships/slideMaster" Target="/ppt/slideMasters/slideMaster1.xml" Id="R9b3371000a664310" /><Relationship Type="http://schemas.openxmlformats.org/officeDocument/2006/relationships/notesMaster" Target="/ppt/notesMasters/notesMaster1.xml" Id="Rc32bf20cefe746fc" /><Relationship Type="http://schemas.openxmlformats.org/officeDocument/2006/relationships/presProps" Target="/ppt/presProps.xml" Id="R029b28fc2a644cec" /><Relationship Type="http://schemas.openxmlformats.org/officeDocument/2006/relationships/tableStyles" Target="/ppt/tableStyles.xml" Id="R8bb97a556b7d47ad" /><Relationship Type="http://schemas.openxmlformats.org/officeDocument/2006/relationships/slide" Target="/ppt/slides/slide1.xml" Id="R2ecc85b15b104ff0" /><Relationship Type="http://schemas.openxmlformats.org/officeDocument/2006/relationships/slide" Target="/ppt/slides/slide2.xml" Id="R900762967f734e22" /><Relationship Type="http://schemas.openxmlformats.org/officeDocument/2006/relationships/slide" Target="/ppt/slides/slide3.xml" Id="Rc371272b8be74497" /><Relationship Type="http://schemas.openxmlformats.org/officeDocument/2006/relationships/slide" Target="/ppt/slides/slide4.xml" Id="R578cc90cdb4c4581" /><Relationship Type="http://schemas.openxmlformats.org/officeDocument/2006/relationships/slide" Target="/ppt/slides/slide5.xml" Id="R001d4085a267485f" /><Relationship Type="http://schemas.openxmlformats.org/officeDocument/2006/relationships/slide" Target="/ppt/slides/slide6.xml" Id="R00cbcbb6d4a64b58" /><Relationship Type="http://schemas.openxmlformats.org/officeDocument/2006/relationships/slide" Target="/ppt/slides/slide7.xml" Id="R0f0883859aa34e3d" /><Relationship Type="http://schemas.openxmlformats.org/officeDocument/2006/relationships/slide" Target="/ppt/slides/slide8.xml" Id="Rcc46c74712c94e5e" /><Relationship Type="http://schemas.openxmlformats.org/officeDocument/2006/relationships/slide" Target="/ppt/slides/slide9.xml" Id="Rcea7b1d88cac4692" /><Relationship Type="http://schemas.openxmlformats.org/officeDocument/2006/relationships/slide" Target="/ppt/slides/slide10.xml" Id="Re3f707862b4e42f2" /><Relationship Type="http://schemas.openxmlformats.org/officeDocument/2006/relationships/slide" Target="/ppt/slides/slide11.xml" Id="R7b50c33c7d2d49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cc90f4ff984c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d21815a1dd4eea" /><Relationship Type="http://schemas.openxmlformats.org/officeDocument/2006/relationships/notesMaster" Target="/ppt/notesMasters/notesMaster1.xml" Id="Red5b03a6252f45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372ea77194745" /><Relationship Type="http://schemas.openxmlformats.org/officeDocument/2006/relationships/notesMaster" Target="/ppt/notesMasters/notesMaster1.xml" Id="R390ccabfea2348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cd956aa1474bda" /><Relationship Type="http://schemas.openxmlformats.org/officeDocument/2006/relationships/notesMaster" Target="/ppt/notesMasters/notesMaster1.xml" Id="R5f69df8da85c47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7cfef9b8e14975" /><Relationship Type="http://schemas.openxmlformats.org/officeDocument/2006/relationships/notesMaster" Target="/ppt/notesMasters/notesMaster1.xml" Id="Rad4ed958c6e8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435366c33b4753" /><Relationship Type="http://schemas.openxmlformats.org/officeDocument/2006/relationships/notesMaster" Target="/ppt/notesMasters/notesMaster1.xml" Id="Rafcd701c7afa44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6182811d0a4c6e" /><Relationship Type="http://schemas.openxmlformats.org/officeDocument/2006/relationships/notesMaster" Target="/ppt/notesMasters/notesMaster1.xml" Id="R76230f0d8b044d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29783225ff48c5" /><Relationship Type="http://schemas.openxmlformats.org/officeDocument/2006/relationships/notesMaster" Target="/ppt/notesMasters/notesMaster1.xml" Id="Rba06c139562f4e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903fc5a8aa4f87" /><Relationship Type="http://schemas.openxmlformats.org/officeDocument/2006/relationships/notesMaster" Target="/ppt/notesMasters/notesMaster1.xml" Id="R26786396173d4f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2050c7d6fd47d1" /><Relationship Type="http://schemas.openxmlformats.org/officeDocument/2006/relationships/notesMaster" Target="/ppt/notesMasters/notesMaster1.xml" Id="R0d730a109c5041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c08c60d9974680" /><Relationship Type="http://schemas.openxmlformats.org/officeDocument/2006/relationships/notesMaster" Target="/ppt/notesMasters/notesMaster1.xml" Id="Rd14b678cce8b48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2e872f52ba4ae2" /><Relationship Type="http://schemas.openxmlformats.org/officeDocument/2006/relationships/notesMaster" Target="/ppt/notesMasters/notesMaster1.xml" Id="Rbf4e476d953747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开场控制在20秒。先说项目名称，再用一句话说明核心差异：DebugPath不是一次问答，而是在图谱中通过主动询问不断缩小原因范围。资料依据：README.md，docs/architecture.md。</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30秒。只讲期中之后新增的四项工作，不重复项目背景。算法部分的新增工作包括真实案例驱动的条件概率校准和区分性问题扩展；可回答性只作为附加机制。来源：docs/graph-explanation.md，docs/calibration.md，data/demo/open_webui_ollama_trajectory.json。</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是图谱部分重点，用55秒。先讲四层：故障与证据、交互推理、环境约束、方案输出。再讲三种边的语义差别。OBSERVATION_SUPPORTS保存P(观察结果|原因)，是动态推理真正使用的概率因果边。来源：docs/graph-explanation.md，src/graph/schema_v2.py，data/demo/open_webui_ollama_trajectory.json。</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40秒。先区分三类关系：候选边决定搜索范围，证据边形成初始排序，观察边保存条件概率。用户回答以后，系统读取P(观察结果|原因)，执行贝叶斯更新。示例中服务地址配置错误从56.0%升至95.2%。来源：docs/graph-explanation.md，src/graph/schema_v2.py，data/demo/open_webui_ollama_trajectory.json。</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55秒。先明确第二阶段并非只增加可回答性参数。28条确认根因的开发案例暴露出两类稳定混淆。第一，将包可见条件下版本不兼容的条件概率从0.80校准为0.25；第二，增加目标主机本机检查，用于区分服务地址错误和服务停止。可回答率、检查成本和风险只作为信息增益的附加修正，目前不能声称已经独立证明其优势。来源：docs/calibration.md，data/evaluation/calibration_results.json，src/diagnosis/engine.py。</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本页用35秒。用户描述Open WebUI容器无法连接宿主机Ollama。系统先用BM25检索EvidenceChunk，再沿CHUNK_SUPPORTS_CAUSE映射候选原因，融合文本相关性与图谱先验并归一化为初始概率。第一名服务地址配置错误为56.0%，当前熵1.850 bit，仍需追问。系统选择信息增益0.733 bit的问题。来源：data/demo/open_webui_ollama_trajectory.json，src/diagnosis/trajectory_v2.py。</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本页用35秒。用户回答是以后，系统增加Observation节点。OBSERVATION_SUPPORTS边同时作用于所有候选原因，服务地址配置错误从56.0%升至95.2%，熵降到0.364 bit。系统随后选择下一问：必需环境变量是否缺失。来源：data/demo/open_webui_ollama_trajectory.json，src/diagnosis/trajectory_v2.py。</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50秒。第二问排除环境变量缺失后，Top-1升至96.9%，满足阈值、领先差距和有效证据数三个条件。系统随后沿图谱找到服务上下文、检查、修复、风险与来源。注入层的边界是程序化白名单校验，不应夸大为开放式模型安全。来源：data/demo/open_webui_ollama_trajectory.json，data/evaluation/injection_results.json，src/diagnosis/generator.py。</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45秒。四条新增公开确认记录在两项优化固定后加入。左侧只用正确原因平均概率展示消融路径：基础版本56.5%，只校准条件概率66.3%，只增加区分性问题70.6%，两项结合80.4%。右侧解释作用差异：概率校准主要减少版本不兼容原因的概率低估；新增问题主要解决容器地址错误与相近原因的混淆。两项结合后，四条目标案例的正确原因均排到第一位。样本小且针对性选取，因此只说明目标机制得到验证，不代表总体准确率。MRR、Brier和完整口径放在备用页。结果文件：data/evaluation/targeted_validation_cases.json，data/evaluation/optimization_metrics_exploratory.json。公开记录：https://github.com/openinterpreter/openinterpreter/issues/170；https://github.com/pytorch/pytorch/issues/144757；https://github.com/OpenHands/OpenHands/issues/8318；https://github.com/browser-use/web-ui/issues/164。</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备用页。信息增益比较提问前后的候选原因熵；用户回答后，系统读取图谱条件概率并执行贝叶斯更新。停止诊断同时要求最高概率、首位领先差距和有效回答数达到阈值。示例数值来自Open WebUI连接Ollama诊断轨迹。来源：docs/algorithm-explanation.md，data/demo/open_webui_ollama_trajectory.json，src/diagnosis/engine.py。</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用页。28条确认根因案例属于开发集，已经参与参数与结构调整，因此100%不能解释为独立测试性能。14条新来源案例组成首次冻结测试集，其中5条在故障族入口失败；端到端指标使用全部14例，选问效率另外报告成功进入图谱的9例。随后补充的4条公开确认记录只针对条件概率校准和新增问题，在参数固定后运行，不代表整体准确率。来源：data/evaluation/real_case_split.json，data/evaluation/model_freeze.json，data/evaluation/frozen_test_results.json，data/evaluation/targeted_validation_cases.json。</a:t>
            </a:r>
          </a:p>
          <a:p xmlns:a="http://schemas.openxmlformats.org/drawingml/2006/main">
            <a:r>
              <a:t>来源：项目仓库 /Users/ztyhhh/Documents/Codex/zty_work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64b806115644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21b18116ab4925" /><Relationship Type="http://schemas.openxmlformats.org/officeDocument/2006/relationships/slideLayout" Target="/ppt/slideLayouts/slideLayout1.xml" Id="Rdb507b1d74ce4c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507b1d74ce4c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8f0487a3a6473e" /><Relationship Type="http://schemas.openxmlformats.org/officeDocument/2006/relationships/notesSlide" Target="/ppt/notesSlides/notesSlide1.xml" Id="Rd0239737aff640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3a53d2e23049ca" /><Relationship Type="http://schemas.openxmlformats.org/officeDocument/2006/relationships/notesSlide" Target="/ppt/notesSlides/notesSlide2.xml" Id="R8bd7864c842c41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46d53f84534af9" /><Relationship Type="http://schemas.openxmlformats.org/officeDocument/2006/relationships/image" Target="/ppt/media/image.png" Id="R8db00b4e2e834300" /><Relationship Type="http://schemas.openxmlformats.org/officeDocument/2006/relationships/notesSlide" Target="/ppt/notesSlides/notesSlide3.xml" Id="R0a2c0cf5037c4e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d86edd82a44bd6" /><Relationship Type="http://schemas.openxmlformats.org/officeDocument/2006/relationships/notesSlide" Target="/ppt/notesSlides/notesSlide4.xml" Id="Rd9ac1a11a9884a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e3489402bd4e56" /><Relationship Type="http://schemas.openxmlformats.org/officeDocument/2006/relationships/notesSlide" Target="/ppt/notesSlides/notesSlide5.xml" Id="R14d795f9f8e4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de99de59334085" /><Relationship Type="http://schemas.openxmlformats.org/officeDocument/2006/relationships/image" Target="/ppt/media/image2.png" Id="R05f224e7f199453f" /><Relationship Type="http://schemas.openxmlformats.org/officeDocument/2006/relationships/notesSlide" Target="/ppt/notesSlides/notesSlide6.xml" Id="R40039689104141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1eb0d7fc734442" /><Relationship Type="http://schemas.openxmlformats.org/officeDocument/2006/relationships/image" Target="/ppt/media/image3.png" Id="R1282c4b76b8b4f98" /><Relationship Type="http://schemas.openxmlformats.org/officeDocument/2006/relationships/notesSlide" Target="/ppt/notesSlides/notesSlide7.xml" Id="R01e41a2ab7e042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d03791937c41f8" /><Relationship Type="http://schemas.openxmlformats.org/officeDocument/2006/relationships/image" Target="/ppt/media/image4.png" Id="Rd0d130c9baae47b6" /><Relationship Type="http://schemas.openxmlformats.org/officeDocument/2006/relationships/notesSlide" Target="/ppt/notesSlides/notesSlide8.xml" Id="Rc48b6a229eb34c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911ed5a3cb4bd5" /><Relationship Type="http://schemas.openxmlformats.org/officeDocument/2006/relationships/notesSlide" Target="/ppt/notesSlides/notesSlide9.xml" Id="R8dc2ee73188647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011aaf81ac417f" /><Relationship Type="http://schemas.openxmlformats.org/officeDocument/2006/relationships/notesSlide" Target="/ppt/notesSlides/notesSlide10.xml" Id="Rc0a80ee77db840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add55ff90746a9" /><Relationship Type="http://schemas.openxmlformats.org/officeDocument/2006/relationships/notesSlide" Target="/ppt/notesSlides/notesSlide11.xml" Id="Re4e88c5937d648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217790-17FE-4C14-BC67-12320C7DE64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F5FBF"/>
          </a:solidFill>
          <a:ln xmlns:a="http://schemas.openxmlformats.org/drawingml/2006/main" w="0">
            <a:solidFill>
              <a:srgbClr val="1F5FBF"/>
            </a:solidFill>
          </a:ln>
        </p:spPr>
      </p:sp>
      <p:sp>
        <p:nvSpPr>
          <p:cNvPr id="2" name="">
            <a:extLst xmlns:a="http://schemas.openxmlformats.org/drawingml/2006/main">
              <a:ext uri="{FF2B5EF4-FFF2-40B4-BE49-F238E27FC236}">
                <a16:creationId xmlns:a16="http://schemas.microsoft.com/office/drawing/2014/main" id="{C74564BE-8C31-4E01-9977-1C0A5CA66B7E}"/>
              </a:ext>
            </a:extLst>
          </p:cNvPr>
          <p:cNvSpPr>
            <a:spLocks xmlns:a="http://schemas.openxmlformats.org/drawingml/2006/main" noGrp="1"/>
          </p:cNvSpPr>
          <p:nvPr/>
        </p:nvSpPr>
        <p:spPr>
          <a:xfrm xmlns:a="http://schemas.openxmlformats.org/drawingml/2006/main">
            <a:off x="742950" y="7048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F5FBF"/>
                </a:solidFill>
                <a:latin typeface="Hiragino Sans GB"/>
                <a:ea typeface="Hiragino Sans GB"/>
                <a:cs typeface="Hiragino Sans GB"/>
              </a:defRPr>
            </a:pPr>
            <a:r>
              <a:rPr sz="1200" b="1">
                <a:solidFill>
                  <a:srgbClr val="1F5FBF"/>
                </a:solidFill>
                <a:latin typeface="Hiragino Sans GB"/>
                <a:ea typeface="Hiragino Sans GB"/>
                <a:cs typeface="Hiragino Sans GB"/>
              </a:rPr>
              <a:t>知识工程综合实践｜最终答辩</a:t>
            </a:r>
          </a:p>
        </p:txBody>
      </p:sp>
      <p:sp>
        <p:nvSpPr>
          <p:cNvPr id="3" name="">
            <a:extLst xmlns:a="http://schemas.openxmlformats.org/drawingml/2006/main">
              <a:ext uri="{FF2B5EF4-FFF2-40B4-BE49-F238E27FC236}">
                <a16:creationId xmlns:a16="http://schemas.microsoft.com/office/drawing/2014/main" id="{02569F2C-E20C-45B3-8BB7-36A4D03D2AF7}"/>
              </a:ext>
            </a:extLst>
          </p:cNvPr>
          <p:cNvSpPr>
            <a:spLocks xmlns:a="http://schemas.openxmlformats.org/drawingml/2006/main" noGrp="1"/>
          </p:cNvSpPr>
          <p:nvPr/>
        </p:nvSpPr>
        <p:spPr>
          <a:xfrm xmlns:a="http://schemas.openxmlformats.org/drawingml/2006/main">
            <a:off x="742950" y="1619250"/>
            <a:ext cx="781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650" b="1">
                <a:solidFill>
                  <a:srgbClr val="142735"/>
                </a:solidFill>
                <a:latin typeface="Hiragino Sans GB"/>
                <a:ea typeface="Hiragino Sans GB"/>
                <a:cs typeface="Hiragino Sans GB"/>
              </a:defRPr>
            </a:pPr>
            <a:r>
              <a:rPr sz="4650" b="1">
                <a:solidFill>
                  <a:srgbClr val="142735"/>
                </a:solidFill>
                <a:latin typeface="Hiragino Sans GB"/>
                <a:ea typeface="Hiragino Sans GB"/>
                <a:cs typeface="Hiragino Sans GB"/>
              </a:rPr>
              <a:t>DebugPath</a:t>
            </a:r>
          </a:p>
        </p:txBody>
      </p:sp>
      <p:sp>
        <p:nvSpPr>
          <p:cNvPr id="4" name="">
            <a:extLst xmlns:a="http://schemas.openxmlformats.org/drawingml/2006/main">
              <a:ext uri="{FF2B5EF4-FFF2-40B4-BE49-F238E27FC236}">
                <a16:creationId xmlns:a16="http://schemas.microsoft.com/office/drawing/2014/main" id="{8A8E6756-5DDD-4A66-AA11-F5555D1887F9}"/>
              </a:ext>
            </a:extLst>
          </p:cNvPr>
          <p:cNvSpPr>
            <a:spLocks xmlns:a="http://schemas.openxmlformats.org/drawingml/2006/main" noGrp="1"/>
          </p:cNvSpPr>
          <p:nvPr/>
        </p:nvSpPr>
        <p:spPr>
          <a:xfrm xmlns:a="http://schemas.openxmlformats.org/drawingml/2006/main">
            <a:off x="781050" y="2628900"/>
            <a:ext cx="8096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325" b="1">
                <a:solidFill>
                  <a:srgbClr val="142735"/>
                </a:solidFill>
                <a:latin typeface="Hiragino Sans GB"/>
                <a:ea typeface="Hiragino Sans GB"/>
                <a:cs typeface="Hiragino Sans GB"/>
              </a:defRPr>
            </a:pPr>
            <a:r>
              <a:rPr sz="2325" b="1">
                <a:solidFill>
                  <a:srgbClr val="142735"/>
                </a:solidFill>
                <a:latin typeface="Hiragino Sans GB"/>
                <a:ea typeface="Hiragino Sans GB"/>
                <a:cs typeface="Hiragino Sans GB"/>
              </a:rPr>
              <a:t>基于因果知识图谱与主动询问的</a:t>
            </a:r>
          </a:p>
          <a:p xmlns:a="http://schemas.openxmlformats.org/drawingml/2006/main">
            <a:pPr algn="l">
              <a:lnSpc>
                <a:spcPct val="106000"/>
              </a:lnSpc>
              <a:buNone/>
              <a:defRPr sz="2325" b="1">
                <a:solidFill>
                  <a:srgbClr val="142735"/>
                </a:solidFill>
                <a:latin typeface="Hiragino Sans GB"/>
                <a:ea typeface="Hiragino Sans GB"/>
                <a:cs typeface="Hiragino Sans GB"/>
              </a:defRPr>
            </a:pPr>
            <a:r>
              <a:rPr sz="2325" b="1">
                <a:solidFill>
                  <a:srgbClr val="142735"/>
                </a:solidFill>
                <a:latin typeface="Hiragino Sans GB"/>
                <a:ea typeface="Hiragino Sans GB"/>
                <a:cs typeface="Hiragino Sans GB"/>
              </a:rPr>
              <a:t>AI开发环境故障诊断 Graph RAG</a:t>
            </a:r>
          </a:p>
        </p:txBody>
      </p:sp>
      <p:sp>
        <p:nvSpPr>
          <p:cNvPr id="5" name="">
            <a:extLst xmlns:a="http://schemas.openxmlformats.org/drawingml/2006/main">
              <a:ext uri="{FF2B5EF4-FFF2-40B4-BE49-F238E27FC236}">
                <a16:creationId xmlns:a16="http://schemas.microsoft.com/office/drawing/2014/main" id="{E689BE6C-95B3-4D89-8B64-63CCE49EDCD4}"/>
              </a:ext>
            </a:extLst>
          </p:cNvPr>
          <p:cNvSpPr>
            <a:spLocks xmlns:a="http://schemas.openxmlformats.org/drawingml/2006/main" noGrp="1"/>
          </p:cNvSpPr>
          <p:nvPr/>
        </p:nvSpPr>
        <p:spPr>
          <a:xfrm xmlns:a="http://schemas.openxmlformats.org/drawingml/2006/main">
            <a:off x="781050" y="4057650"/>
            <a:ext cx="1381125" cy="0"/>
          </a:xfrm>
          <a:prstGeom xmlns:a="http://schemas.openxmlformats.org/drawingml/2006/main" prst="line">
            <a:avLst/>
          </a:prstGeom>
          <a:noFill xmlns:a="http://schemas.openxmlformats.org/drawingml/2006/main"/>
          <a:ln xmlns:a="http://schemas.openxmlformats.org/drawingml/2006/main" w="47625">
            <a:solidFill>
              <a:srgbClr val="E34A4A"/>
            </a:solidFill>
            <a:prstDash val="solid"/>
          </a:ln>
        </p:spPr>
      </p:sp>
      <p:sp>
        <p:nvSpPr>
          <p:cNvPr id="6" name="">
            <a:extLst xmlns:a="http://schemas.openxmlformats.org/drawingml/2006/main">
              <a:ext uri="{FF2B5EF4-FFF2-40B4-BE49-F238E27FC236}">
                <a16:creationId xmlns:a16="http://schemas.microsoft.com/office/drawing/2014/main" id="{2F586930-BB3F-4925-B6EC-14AAAF10D30A}"/>
              </a:ext>
            </a:extLst>
          </p:cNvPr>
          <p:cNvSpPr>
            <a:spLocks xmlns:a="http://schemas.openxmlformats.org/drawingml/2006/main" noGrp="1"/>
          </p:cNvSpPr>
          <p:nvPr/>
        </p:nvSpPr>
        <p:spPr>
          <a:xfrm xmlns:a="http://schemas.openxmlformats.org/drawingml/2006/main">
            <a:off x="781050" y="43624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5B6B78"/>
                </a:solidFill>
                <a:latin typeface="Hiragino Sans GB"/>
                <a:ea typeface="Hiragino Sans GB"/>
                <a:cs typeface="Hiragino Sans GB"/>
              </a:defRPr>
            </a:pPr>
            <a:r>
              <a:rPr sz="1650" b="0">
                <a:solidFill>
                  <a:srgbClr val="5B6B78"/>
                </a:solidFill>
                <a:latin typeface="Hiragino Sans GB"/>
                <a:ea typeface="Hiragino Sans GB"/>
                <a:cs typeface="Hiragino Sans GB"/>
              </a:rPr>
              <a:t>从一次性检索，走向可追溯的动态诊断</a:t>
            </a:r>
          </a:p>
        </p:txBody>
      </p:sp>
      <p:sp>
        <p:nvSpPr>
          <p:cNvPr id="7" name="">
            <a:extLst xmlns:a="http://schemas.openxmlformats.org/drawingml/2006/main">
              <a:ext uri="{FF2B5EF4-FFF2-40B4-BE49-F238E27FC236}">
                <a16:creationId xmlns:a16="http://schemas.microsoft.com/office/drawing/2014/main" id="{B47DF002-D7C0-4956-B409-D3EB45356E9A}"/>
              </a:ext>
            </a:extLst>
          </p:cNvPr>
          <p:cNvSpPr>
            <a:spLocks xmlns:a="http://schemas.openxmlformats.org/drawingml/2006/main" noGrp="1"/>
          </p:cNvSpPr>
          <p:nvPr/>
        </p:nvSpPr>
        <p:spPr>
          <a:xfrm xmlns:a="http://schemas.openxmlformats.org/drawingml/2006/main">
            <a:off x="781050" y="5162550"/>
            <a:ext cx="10668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图谱构建</a:t>
            </a:r>
          </a:p>
        </p:txBody>
      </p:sp>
      <p:sp>
        <p:nvSpPr>
          <p:cNvPr id="8" name="">
            <a:extLst xmlns:a="http://schemas.openxmlformats.org/drawingml/2006/main">
              <a:ext uri="{FF2B5EF4-FFF2-40B4-BE49-F238E27FC236}">
                <a16:creationId xmlns:a16="http://schemas.microsoft.com/office/drawing/2014/main" id="{F65EC035-56CC-4A8E-B05A-3C2464D1D7F5}"/>
              </a:ext>
            </a:extLst>
          </p:cNvPr>
          <p:cNvSpPr>
            <a:spLocks xmlns:a="http://schemas.openxmlformats.org/drawingml/2006/main" noGrp="1"/>
          </p:cNvSpPr>
          <p:nvPr/>
        </p:nvSpPr>
        <p:spPr>
          <a:xfrm xmlns:a="http://schemas.openxmlformats.org/drawingml/2006/main">
            <a:off x="1981200" y="5162550"/>
            <a:ext cx="1219200" cy="285750"/>
          </a:xfrm>
          <a:prstGeom xmlns:a="http://schemas.openxmlformats.org/drawingml/2006/main" prst="roundRect">
            <a:avLst>
              <a:gd name="adj" fmla="val 50000"/>
            </a:avLst>
          </a:prstGeom>
          <a:solidFill xmlns:a="http://schemas.openxmlformats.org/drawingml/2006/main">
            <a:srgbClr val="FFF7E8"/>
          </a:solidFill>
          <a:ln xmlns:a="http://schemas.openxmlformats.org/drawingml/2006/main" w="11430">
            <a:solidFill>
              <a:srgbClr val="FFF7E8"/>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9A5A00"/>
                </a:solidFill>
                <a:latin typeface="Hiragino Sans GB"/>
                <a:ea typeface="Hiragino Sans GB"/>
                <a:cs typeface="Hiragino Sans GB"/>
              </a:defRPr>
            </a:pPr>
            <a:r>
              <a:rPr sz="1050" b="1">
                <a:solidFill>
                  <a:srgbClr val="9A5A00"/>
                </a:solidFill>
                <a:latin typeface="Hiragino Sans GB"/>
                <a:ea typeface="Hiragino Sans GB"/>
                <a:cs typeface="Hiragino Sans GB"/>
              </a:rPr>
              <a:t>检索与推理</a:t>
            </a:r>
          </a:p>
        </p:txBody>
      </p:sp>
      <p:sp>
        <p:nvSpPr>
          <p:cNvPr id="9" name="">
            <a:extLst xmlns:a="http://schemas.openxmlformats.org/drawingml/2006/main">
              <a:ext uri="{FF2B5EF4-FFF2-40B4-BE49-F238E27FC236}">
                <a16:creationId xmlns:a16="http://schemas.microsoft.com/office/drawing/2014/main" id="{1E7CF4B8-BD6A-459F-884B-A0C411BD216D}"/>
              </a:ext>
            </a:extLst>
          </p:cNvPr>
          <p:cNvSpPr>
            <a:spLocks xmlns:a="http://schemas.openxmlformats.org/drawingml/2006/main" noGrp="1"/>
          </p:cNvSpPr>
          <p:nvPr/>
        </p:nvSpPr>
        <p:spPr>
          <a:xfrm xmlns:a="http://schemas.openxmlformats.org/drawingml/2006/main">
            <a:off x="3333750" y="5162550"/>
            <a:ext cx="1066800" cy="285750"/>
          </a:xfrm>
          <a:prstGeom xmlns:a="http://schemas.openxmlformats.org/drawingml/2006/main" prst="roundRect">
            <a:avLst>
              <a:gd name="adj" fmla="val 50000"/>
            </a:avLst>
          </a:prstGeom>
          <a:solidFill xmlns:a="http://schemas.openxmlformats.org/drawingml/2006/main">
            <a:srgbClr val="EAF8F3"/>
          </a:solidFill>
          <a:ln xmlns:a="http://schemas.openxmlformats.org/drawingml/2006/main" w="11430">
            <a:solidFill>
              <a:srgbClr val="EAF8F3"/>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知识注入</a:t>
            </a:r>
          </a:p>
        </p:txBody>
      </p:sp>
      <p:sp>
        <p:nvSpPr>
          <p:cNvPr id="10" name="">
            <a:extLst xmlns:a="http://schemas.openxmlformats.org/drawingml/2006/main">
              <a:ext uri="{FF2B5EF4-FFF2-40B4-BE49-F238E27FC236}">
                <a16:creationId xmlns:a16="http://schemas.microsoft.com/office/drawing/2014/main" id="{9F1A5962-4573-407D-BFFB-A53D56DCA9A1}"/>
              </a:ext>
            </a:extLst>
          </p:cNvPr>
          <p:cNvSpPr>
            <a:spLocks xmlns:a="http://schemas.openxmlformats.org/drawingml/2006/main" noGrp="1"/>
          </p:cNvSpPr>
          <p:nvPr/>
        </p:nvSpPr>
        <p:spPr>
          <a:xfrm xmlns:a="http://schemas.openxmlformats.org/drawingml/2006/main">
            <a:off x="781050" y="61055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赵天毅｜2026.09</a:t>
            </a:r>
          </a:p>
        </p:txBody>
      </p:sp>
      <p:sp>
        <p:nvSpPr>
          <p:cNvPr id="11" name="">
            <a:extLst xmlns:a="http://schemas.openxmlformats.org/drawingml/2006/main">
              <a:ext uri="{FF2B5EF4-FFF2-40B4-BE49-F238E27FC236}">
                <a16:creationId xmlns:a16="http://schemas.microsoft.com/office/drawing/2014/main" id="{824FAC2A-139A-494A-AFE5-BA04EC2E9EA8}"/>
              </a:ext>
            </a:extLst>
          </p:cNvPr>
          <p:cNvSpPr>
            <a:spLocks xmlns:a="http://schemas.openxmlformats.org/drawingml/2006/main" noGrp="1"/>
          </p:cNvSpPr>
          <p:nvPr/>
        </p:nvSpPr>
        <p:spPr>
          <a:xfrm xmlns:a="http://schemas.openxmlformats.org/drawingml/2006/main">
            <a:off x="9906000" y="6115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975" b="1">
                <a:solidFill>
                  <a:srgbClr val="1F5FBF"/>
                </a:solidFill>
                <a:latin typeface="Hiragino Sans GB"/>
                <a:ea typeface="Hiragino Sans GB"/>
                <a:cs typeface="Hiragino Sans GB"/>
              </a:defRPr>
            </a:pPr>
            <a:r>
              <a:rPr sz="975" b="1">
                <a:solidFill>
                  <a:srgbClr val="1F5FBF"/>
                </a:solidFill>
                <a:latin typeface="Hiragino Sans GB"/>
                <a:ea typeface="Hiragino Sans GB"/>
                <a:cs typeface="Hiragino Sans GB"/>
              </a:rPr>
              <a:t>FINAL REVIEW</a:t>
            </a:r>
          </a:p>
        </p:txBody>
      </p:sp>
    </p:spTree>
    <p:extLst>
      <p:ext uri="{BB962C8B-B14F-4D97-AF65-F5344CB8AC3E}">
        <p14:creationId xmlns:p14="http://schemas.microsoft.com/office/powerpoint/2010/main" val="11521296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152D742-E553-4627-B9CB-AA8EAD9A3847}"/>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1D4997FE-C436-4281-A0BE-E5FC60E519E2}"/>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期中之后完成的工作</a:t>
            </a:r>
          </a:p>
        </p:txBody>
      </p:sp>
      <p:sp>
        <p:nvSpPr>
          <p:cNvPr id="3" name="">
            <a:extLst xmlns:a="http://schemas.openxmlformats.org/drawingml/2006/main">
              <a:ext uri="{FF2B5EF4-FFF2-40B4-BE49-F238E27FC236}">
                <a16:creationId xmlns:a16="http://schemas.microsoft.com/office/drawing/2014/main" id="{AE736368-F910-48A1-8F55-05FCF7905140}"/>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02</a:t>
            </a:r>
          </a:p>
        </p:txBody>
      </p:sp>
      <p:sp>
        <p:nvSpPr>
          <p:cNvPr id="4" name="">
            <a:extLst xmlns:a="http://schemas.openxmlformats.org/drawingml/2006/main">
              <a:ext uri="{FF2B5EF4-FFF2-40B4-BE49-F238E27FC236}">
                <a16:creationId xmlns:a16="http://schemas.microsoft.com/office/drawing/2014/main" id="{8B6D66CE-3937-4693-BA8D-C4793FFC357D}"/>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8F6365CD-C9EF-40FC-9D2B-377394908EF2}"/>
              </a:ext>
            </a:extLst>
          </p:cNvPr>
          <p:cNvSpPr>
            <a:spLocks xmlns:a="http://schemas.openxmlformats.org/drawingml/2006/main" noGrp="1"/>
          </p:cNvSpPr>
          <p:nvPr/>
        </p:nvSpPr>
        <p:spPr>
          <a:xfrm xmlns:a="http://schemas.openxmlformats.org/drawingml/2006/main">
            <a:off x="685800" y="14668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最终版本把“动态诊断”落实为可计算、可回放的完整过程。</a:t>
            </a:r>
          </a:p>
        </p:txBody>
      </p:sp>
      <p:sp>
        <p:nvSpPr>
          <p:cNvPr id="6" name="">
            <a:extLst xmlns:a="http://schemas.openxmlformats.org/drawingml/2006/main">
              <a:ext uri="{FF2B5EF4-FFF2-40B4-BE49-F238E27FC236}">
                <a16:creationId xmlns:a16="http://schemas.microsoft.com/office/drawing/2014/main" id="{F97174D8-36B8-4925-B24F-8F6350412964}"/>
              </a:ext>
            </a:extLst>
          </p:cNvPr>
          <p:cNvSpPr>
            <a:spLocks xmlns:a="http://schemas.openxmlformats.org/drawingml/2006/main" noGrp="1"/>
          </p:cNvSpPr>
          <p:nvPr/>
        </p:nvSpPr>
        <p:spPr>
          <a:xfrm xmlns:a="http://schemas.openxmlformats.org/drawingml/2006/main">
            <a:off x="685800" y="2133600"/>
            <a:ext cx="4953000" cy="1504950"/>
          </a:xfrm>
          <a:prstGeom xmlns:a="http://schemas.openxmlformats.org/drawingml/2006/main" prst="roundRect">
            <a:avLst>
              <a:gd name="adj" fmla="val 10127"/>
            </a:avLst>
          </a:prstGeom>
          <a:solidFill xmlns:a="http://schemas.openxmlformats.org/drawingml/2006/main">
            <a:srgbClr val="EEF5FF"/>
          </a:solidFill>
          <a:ln xmlns:a="http://schemas.openxmlformats.org/drawingml/2006/main" w="11430">
            <a:solidFill>
              <a:srgbClr val="1F5FBF"/>
            </a:solidFill>
            <a:prstDash val="solid"/>
          </a:ln>
        </p:spPr>
      </p:sp>
      <p:sp>
        <p:nvSpPr>
          <p:cNvPr id="7" name="">
            <a:extLst xmlns:a="http://schemas.openxmlformats.org/drawingml/2006/main">
              <a:ext uri="{FF2B5EF4-FFF2-40B4-BE49-F238E27FC236}">
                <a16:creationId xmlns:a16="http://schemas.microsoft.com/office/drawing/2014/main" id="{D4B80BE7-6E0C-4930-8AFD-629CA0916CB7}"/>
              </a:ext>
            </a:extLst>
          </p:cNvPr>
          <p:cNvSpPr>
            <a:spLocks xmlns:a="http://schemas.openxmlformats.org/drawingml/2006/main" noGrp="1"/>
          </p:cNvSpPr>
          <p:nvPr/>
        </p:nvSpPr>
        <p:spPr>
          <a:xfrm xmlns:a="http://schemas.openxmlformats.org/drawingml/2006/main">
            <a:off x="838200" y="2266950"/>
            <a:ext cx="342900" cy="285750"/>
          </a:xfrm>
          <a:prstGeom xmlns:a="http://schemas.openxmlformats.org/drawingml/2006/main" prst="roundRect">
            <a:avLst>
              <a:gd name="adj" fmla="val 50000"/>
            </a:avLst>
          </a:prstGeom>
          <a:solidFill xmlns:a="http://schemas.openxmlformats.org/drawingml/2006/main">
            <a:srgbClr val="1F5FBF"/>
          </a:solidFill>
          <a:ln xmlns:a="http://schemas.openxmlformats.org/drawingml/2006/main" w="11430">
            <a:solidFill>
              <a:srgbClr val="1F5FB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FFFFFF"/>
                </a:solidFill>
                <a:latin typeface="Hiragino Sans GB"/>
                <a:ea typeface="Hiragino Sans GB"/>
                <a:cs typeface="Hiragino Sans GB"/>
              </a:defRPr>
            </a:pPr>
            <a:r>
              <a:rPr sz="1050" b="1">
                <a:solidFill>
                  <a:srgbClr val="FFFFFF"/>
                </a:solidFill>
                <a:latin typeface="Hiragino Sans GB"/>
                <a:ea typeface="Hiragino Sans GB"/>
                <a:cs typeface="Hiragino Sans GB"/>
              </a:rPr>
              <a:t>1</a:t>
            </a:r>
          </a:p>
        </p:txBody>
      </p:sp>
      <p:sp>
        <p:nvSpPr>
          <p:cNvPr id="8" name="">
            <a:extLst xmlns:a="http://schemas.openxmlformats.org/drawingml/2006/main">
              <a:ext uri="{FF2B5EF4-FFF2-40B4-BE49-F238E27FC236}">
                <a16:creationId xmlns:a16="http://schemas.microsoft.com/office/drawing/2014/main" id="{2ECDCCC6-AD79-4C99-AD1C-514ED43E4CA3}"/>
              </a:ext>
            </a:extLst>
          </p:cNvPr>
          <p:cNvSpPr>
            <a:spLocks xmlns:a="http://schemas.openxmlformats.org/drawingml/2006/main" noGrp="1"/>
          </p:cNvSpPr>
          <p:nvPr/>
        </p:nvSpPr>
        <p:spPr>
          <a:xfrm xmlns:a="http://schemas.openxmlformats.org/drawingml/2006/main">
            <a:off x="857250" y="2638425"/>
            <a:ext cx="461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图谱扩展</a:t>
            </a:r>
          </a:p>
        </p:txBody>
      </p:sp>
      <p:sp>
        <p:nvSpPr>
          <p:cNvPr id="9" name="">
            <a:extLst xmlns:a="http://schemas.openxmlformats.org/drawingml/2006/main">
              <a:ext uri="{FF2B5EF4-FFF2-40B4-BE49-F238E27FC236}">
                <a16:creationId xmlns:a16="http://schemas.microsoft.com/office/drawing/2014/main" id="{EE6B9CEA-DD0C-4488-8C01-E8F49428ADB9}"/>
              </a:ext>
            </a:extLst>
          </p:cNvPr>
          <p:cNvSpPr>
            <a:spLocks xmlns:a="http://schemas.openxmlformats.org/drawingml/2006/main" noGrp="1"/>
          </p:cNvSpPr>
          <p:nvPr/>
        </p:nvSpPr>
        <p:spPr>
          <a:xfrm xmlns:a="http://schemas.openxmlformats.org/drawingml/2006/main">
            <a:off x="857250" y="298132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15类节点、27类关系。补充服务、端点和部署环境，使原因能够落到具体检查与修复。</a:t>
            </a:r>
          </a:p>
        </p:txBody>
      </p:sp>
      <p:sp>
        <p:nvSpPr>
          <p:cNvPr id="10" name="">
            <a:extLst xmlns:a="http://schemas.openxmlformats.org/drawingml/2006/main">
              <a:ext uri="{FF2B5EF4-FFF2-40B4-BE49-F238E27FC236}">
                <a16:creationId xmlns:a16="http://schemas.microsoft.com/office/drawing/2014/main" id="{F5CCBDA1-2EF9-486B-821E-6C328323CEC1}"/>
              </a:ext>
            </a:extLst>
          </p:cNvPr>
          <p:cNvSpPr>
            <a:spLocks xmlns:a="http://schemas.openxmlformats.org/drawingml/2006/main" noGrp="1"/>
          </p:cNvSpPr>
          <p:nvPr/>
        </p:nvSpPr>
        <p:spPr>
          <a:xfrm xmlns:a="http://schemas.openxmlformats.org/drawingml/2006/main">
            <a:off x="6096000" y="2133600"/>
            <a:ext cx="4953000" cy="1504950"/>
          </a:xfrm>
          <a:prstGeom xmlns:a="http://schemas.openxmlformats.org/drawingml/2006/main" prst="roundRect">
            <a:avLst>
              <a:gd name="adj" fmla="val 10127"/>
            </a:avLst>
          </a:prstGeom>
          <a:solidFill xmlns:a="http://schemas.openxmlformats.org/drawingml/2006/main">
            <a:srgbClr val="FFF7E8"/>
          </a:solidFill>
          <a:ln xmlns:a="http://schemas.openxmlformats.org/drawingml/2006/main" w="11430">
            <a:solidFill>
              <a:srgbClr val="F59E0B"/>
            </a:solidFill>
            <a:prstDash val="solid"/>
          </a:ln>
        </p:spPr>
      </p:sp>
      <p:sp>
        <p:nvSpPr>
          <p:cNvPr id="11" name="">
            <a:extLst xmlns:a="http://schemas.openxmlformats.org/drawingml/2006/main">
              <a:ext uri="{FF2B5EF4-FFF2-40B4-BE49-F238E27FC236}">
                <a16:creationId xmlns:a16="http://schemas.microsoft.com/office/drawing/2014/main" id="{0C88EEF3-A192-4028-BD62-90B4AE17EB4D}"/>
              </a:ext>
            </a:extLst>
          </p:cNvPr>
          <p:cNvSpPr>
            <a:spLocks xmlns:a="http://schemas.openxmlformats.org/drawingml/2006/main" noGrp="1"/>
          </p:cNvSpPr>
          <p:nvPr/>
        </p:nvSpPr>
        <p:spPr>
          <a:xfrm xmlns:a="http://schemas.openxmlformats.org/drawingml/2006/main">
            <a:off x="6248400" y="2266950"/>
            <a:ext cx="342900" cy="2857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1430">
            <a:solidFill>
              <a:srgbClr val="F59E0B"/>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FFFFFF"/>
                </a:solidFill>
                <a:latin typeface="Hiragino Sans GB"/>
                <a:ea typeface="Hiragino Sans GB"/>
                <a:cs typeface="Hiragino Sans GB"/>
              </a:defRPr>
            </a:pPr>
            <a:r>
              <a:rPr sz="1050" b="1">
                <a:solidFill>
                  <a:srgbClr val="FFFFFF"/>
                </a:solidFill>
                <a:latin typeface="Hiragino Sans GB"/>
                <a:ea typeface="Hiragino Sans GB"/>
                <a:cs typeface="Hiragino Sans GB"/>
              </a:rPr>
              <a:t>2</a:t>
            </a:r>
          </a:p>
        </p:txBody>
      </p:sp>
      <p:sp>
        <p:nvSpPr>
          <p:cNvPr id="12" name="">
            <a:extLst xmlns:a="http://schemas.openxmlformats.org/drawingml/2006/main">
              <a:ext uri="{FF2B5EF4-FFF2-40B4-BE49-F238E27FC236}">
                <a16:creationId xmlns:a16="http://schemas.microsoft.com/office/drawing/2014/main" id="{328D5F91-F434-4F15-BF4D-CE96FE68ADD0}"/>
              </a:ext>
            </a:extLst>
          </p:cNvPr>
          <p:cNvSpPr>
            <a:spLocks xmlns:a="http://schemas.openxmlformats.org/drawingml/2006/main" noGrp="1"/>
          </p:cNvSpPr>
          <p:nvPr/>
        </p:nvSpPr>
        <p:spPr>
          <a:xfrm xmlns:a="http://schemas.openxmlformats.org/drawingml/2006/main">
            <a:off x="6267450" y="2638425"/>
            <a:ext cx="461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参数、选问与停止</a:t>
            </a:r>
          </a:p>
        </p:txBody>
      </p:sp>
      <p:sp>
        <p:nvSpPr>
          <p:cNvPr id="13" name="">
            <a:extLst xmlns:a="http://schemas.openxmlformats.org/drawingml/2006/main">
              <a:ext uri="{FF2B5EF4-FFF2-40B4-BE49-F238E27FC236}">
                <a16:creationId xmlns:a16="http://schemas.microsoft.com/office/drawing/2014/main" id="{B553452F-30DA-49D7-8CDE-CD9ED48CF905}"/>
              </a:ext>
            </a:extLst>
          </p:cNvPr>
          <p:cNvSpPr>
            <a:spLocks xmlns:a="http://schemas.openxmlformats.org/drawingml/2006/main" noGrp="1"/>
          </p:cNvSpPr>
          <p:nvPr/>
        </p:nvSpPr>
        <p:spPr>
          <a:xfrm xmlns:a="http://schemas.openxmlformats.org/drawingml/2006/main">
            <a:off x="6267450" y="298132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28条确认根因案例用于校准条件概率并增加区分性问题；置信度、领先差距和有效回答共同决定何时停止。</a:t>
            </a:r>
          </a:p>
        </p:txBody>
      </p:sp>
      <p:sp>
        <p:nvSpPr>
          <p:cNvPr id="14" name="">
            <a:extLst xmlns:a="http://schemas.openxmlformats.org/drawingml/2006/main">
              <a:ext uri="{FF2B5EF4-FFF2-40B4-BE49-F238E27FC236}">
                <a16:creationId xmlns:a16="http://schemas.microsoft.com/office/drawing/2014/main" id="{EF8C1F10-4A3C-460B-92B8-1969B1405712}"/>
              </a:ext>
            </a:extLst>
          </p:cNvPr>
          <p:cNvSpPr>
            <a:spLocks xmlns:a="http://schemas.openxmlformats.org/drawingml/2006/main" noGrp="1"/>
          </p:cNvSpPr>
          <p:nvPr/>
        </p:nvSpPr>
        <p:spPr>
          <a:xfrm xmlns:a="http://schemas.openxmlformats.org/drawingml/2006/main">
            <a:off x="685800" y="3981450"/>
            <a:ext cx="4953000" cy="1504950"/>
          </a:xfrm>
          <a:prstGeom xmlns:a="http://schemas.openxmlformats.org/drawingml/2006/main" prst="roundRect">
            <a:avLst>
              <a:gd name="adj" fmla="val 10127"/>
            </a:avLst>
          </a:prstGeom>
          <a:solidFill xmlns:a="http://schemas.openxmlformats.org/drawingml/2006/main">
            <a:srgbClr val="FFF0F0"/>
          </a:solidFill>
          <a:ln xmlns:a="http://schemas.openxmlformats.org/drawingml/2006/main" w="11430">
            <a:solidFill>
              <a:srgbClr val="E34A4A"/>
            </a:solidFill>
            <a:prstDash val="solid"/>
          </a:ln>
        </p:spPr>
      </p:sp>
      <p:sp>
        <p:nvSpPr>
          <p:cNvPr id="15" name="">
            <a:extLst xmlns:a="http://schemas.openxmlformats.org/drawingml/2006/main">
              <a:ext uri="{FF2B5EF4-FFF2-40B4-BE49-F238E27FC236}">
                <a16:creationId xmlns:a16="http://schemas.microsoft.com/office/drawing/2014/main" id="{0FF24794-076A-4EC0-825E-FBA2A4F72D40}"/>
              </a:ext>
            </a:extLst>
          </p:cNvPr>
          <p:cNvSpPr>
            <a:spLocks xmlns:a="http://schemas.openxmlformats.org/drawingml/2006/main" noGrp="1"/>
          </p:cNvSpPr>
          <p:nvPr/>
        </p:nvSpPr>
        <p:spPr>
          <a:xfrm xmlns:a="http://schemas.openxmlformats.org/drawingml/2006/main">
            <a:off x="838200" y="4114800"/>
            <a:ext cx="342900" cy="285750"/>
          </a:xfrm>
          <a:prstGeom xmlns:a="http://schemas.openxmlformats.org/drawingml/2006/main" prst="roundRect">
            <a:avLst>
              <a:gd name="adj" fmla="val 50000"/>
            </a:avLst>
          </a:prstGeom>
          <a:solidFill xmlns:a="http://schemas.openxmlformats.org/drawingml/2006/main">
            <a:srgbClr val="E34A4A"/>
          </a:solidFill>
          <a:ln xmlns:a="http://schemas.openxmlformats.org/drawingml/2006/main" w="11430">
            <a:solidFill>
              <a:srgbClr val="E34A4A"/>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FFFFFF"/>
                </a:solidFill>
                <a:latin typeface="Hiragino Sans GB"/>
                <a:ea typeface="Hiragino Sans GB"/>
                <a:cs typeface="Hiragino Sans GB"/>
              </a:defRPr>
            </a:pPr>
            <a:r>
              <a:rPr sz="1050" b="1">
                <a:solidFill>
                  <a:srgbClr val="FFFFFF"/>
                </a:solidFill>
                <a:latin typeface="Hiragino Sans GB"/>
                <a:ea typeface="Hiragino Sans GB"/>
                <a:cs typeface="Hiragino Sans GB"/>
              </a:rPr>
              <a:t>3</a:t>
            </a:r>
          </a:p>
        </p:txBody>
      </p:sp>
      <p:sp>
        <p:nvSpPr>
          <p:cNvPr id="16" name="">
            <a:extLst xmlns:a="http://schemas.openxmlformats.org/drawingml/2006/main">
              <a:ext uri="{FF2B5EF4-FFF2-40B4-BE49-F238E27FC236}">
                <a16:creationId xmlns:a16="http://schemas.microsoft.com/office/drawing/2014/main" id="{45CB4037-285C-457B-8C13-FB105DA30BF5}"/>
              </a:ext>
            </a:extLst>
          </p:cNvPr>
          <p:cNvSpPr>
            <a:spLocks xmlns:a="http://schemas.openxmlformats.org/drawingml/2006/main" noGrp="1"/>
          </p:cNvSpPr>
          <p:nvPr/>
        </p:nvSpPr>
        <p:spPr>
          <a:xfrm xmlns:a="http://schemas.openxmlformats.org/drawingml/2006/main">
            <a:off x="857250" y="4486275"/>
            <a:ext cx="461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轨迹回放</a:t>
            </a:r>
          </a:p>
        </p:txBody>
      </p:sp>
      <p:sp>
        <p:nvSpPr>
          <p:cNvPr id="17" name="">
            <a:extLst xmlns:a="http://schemas.openxmlformats.org/drawingml/2006/main">
              <a:ext uri="{FF2B5EF4-FFF2-40B4-BE49-F238E27FC236}">
                <a16:creationId xmlns:a16="http://schemas.microsoft.com/office/drawing/2014/main" id="{FECB1284-4DEC-4A2E-B72B-FF6F1F13D2A5}"/>
              </a:ext>
            </a:extLst>
          </p:cNvPr>
          <p:cNvSpPr>
            <a:spLocks xmlns:a="http://schemas.openxmlformats.org/drawingml/2006/main" noGrp="1"/>
          </p:cNvSpPr>
          <p:nvPr/>
        </p:nvSpPr>
        <p:spPr>
          <a:xfrm xmlns:a="http://schemas.openxmlformats.org/drawingml/2006/main">
            <a:off x="857250" y="482917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每轮记录问题、观察、候选概率、熵和子图变化，答辩时可以逐步解释诊断过程。</a:t>
            </a:r>
          </a:p>
        </p:txBody>
      </p:sp>
      <p:sp>
        <p:nvSpPr>
          <p:cNvPr id="18" name="">
            <a:extLst xmlns:a="http://schemas.openxmlformats.org/drawingml/2006/main">
              <a:ext uri="{FF2B5EF4-FFF2-40B4-BE49-F238E27FC236}">
                <a16:creationId xmlns:a16="http://schemas.microsoft.com/office/drawing/2014/main" id="{F886A7D0-A753-4498-9037-6C4EC12FC5F6}"/>
              </a:ext>
            </a:extLst>
          </p:cNvPr>
          <p:cNvSpPr>
            <a:spLocks xmlns:a="http://schemas.openxmlformats.org/drawingml/2006/main" noGrp="1"/>
          </p:cNvSpPr>
          <p:nvPr/>
        </p:nvSpPr>
        <p:spPr>
          <a:xfrm xmlns:a="http://schemas.openxmlformats.org/drawingml/2006/main">
            <a:off x="6096000" y="3981450"/>
            <a:ext cx="4953000" cy="1504950"/>
          </a:xfrm>
          <a:prstGeom xmlns:a="http://schemas.openxmlformats.org/drawingml/2006/main" prst="roundRect">
            <a:avLst>
              <a:gd name="adj" fmla="val 10127"/>
            </a:avLst>
          </a:prstGeom>
          <a:solidFill xmlns:a="http://schemas.openxmlformats.org/drawingml/2006/main">
            <a:srgbClr val="EAF8F3"/>
          </a:solidFill>
          <a:ln xmlns:a="http://schemas.openxmlformats.org/drawingml/2006/main" w="11430">
            <a:solidFill>
              <a:srgbClr val="168B6B"/>
            </a:solidFill>
            <a:prstDash val="solid"/>
          </a:ln>
        </p:spPr>
      </p:sp>
      <p:sp>
        <p:nvSpPr>
          <p:cNvPr id="19" name="">
            <a:extLst xmlns:a="http://schemas.openxmlformats.org/drawingml/2006/main">
              <a:ext uri="{FF2B5EF4-FFF2-40B4-BE49-F238E27FC236}">
                <a16:creationId xmlns:a16="http://schemas.microsoft.com/office/drawing/2014/main" id="{BB26EC68-F2DF-4569-872D-3F2B4185991D}"/>
              </a:ext>
            </a:extLst>
          </p:cNvPr>
          <p:cNvSpPr>
            <a:spLocks xmlns:a="http://schemas.openxmlformats.org/drawingml/2006/main" noGrp="1"/>
          </p:cNvSpPr>
          <p:nvPr/>
        </p:nvSpPr>
        <p:spPr>
          <a:xfrm xmlns:a="http://schemas.openxmlformats.org/drawingml/2006/main">
            <a:off x="6248400" y="4114800"/>
            <a:ext cx="342900" cy="285750"/>
          </a:xfrm>
          <a:prstGeom xmlns:a="http://schemas.openxmlformats.org/drawingml/2006/main" prst="roundRect">
            <a:avLst>
              <a:gd name="adj" fmla="val 50000"/>
            </a:avLst>
          </a:prstGeom>
          <a:solidFill xmlns:a="http://schemas.openxmlformats.org/drawingml/2006/main">
            <a:srgbClr val="168B6B"/>
          </a:solidFill>
          <a:ln xmlns:a="http://schemas.openxmlformats.org/drawingml/2006/main" w="11430">
            <a:solidFill>
              <a:srgbClr val="168B6B"/>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FFFFFF"/>
                </a:solidFill>
                <a:latin typeface="Hiragino Sans GB"/>
                <a:ea typeface="Hiragino Sans GB"/>
                <a:cs typeface="Hiragino Sans GB"/>
              </a:defRPr>
            </a:pPr>
            <a:r>
              <a:rPr sz="1050" b="1">
                <a:solidFill>
                  <a:srgbClr val="FFFFFF"/>
                </a:solidFill>
                <a:latin typeface="Hiragino Sans GB"/>
                <a:ea typeface="Hiragino Sans GB"/>
                <a:cs typeface="Hiragino Sans GB"/>
              </a:rPr>
              <a:t>4</a:t>
            </a:r>
          </a:p>
        </p:txBody>
      </p:sp>
      <p:sp>
        <p:nvSpPr>
          <p:cNvPr id="20" name="">
            <a:extLst xmlns:a="http://schemas.openxmlformats.org/drawingml/2006/main">
              <a:ext uri="{FF2B5EF4-FFF2-40B4-BE49-F238E27FC236}">
                <a16:creationId xmlns:a16="http://schemas.microsoft.com/office/drawing/2014/main" id="{139DDA72-A972-4241-9F81-AF28F49275B9}"/>
              </a:ext>
            </a:extLst>
          </p:cNvPr>
          <p:cNvSpPr>
            <a:spLocks xmlns:a="http://schemas.openxmlformats.org/drawingml/2006/main" noGrp="1"/>
          </p:cNvSpPr>
          <p:nvPr/>
        </p:nvSpPr>
        <p:spPr>
          <a:xfrm xmlns:a="http://schemas.openxmlformats.org/drawingml/2006/main">
            <a:off x="6267450" y="4486275"/>
            <a:ext cx="461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注入约束</a:t>
            </a:r>
          </a:p>
        </p:txBody>
      </p:sp>
      <p:sp>
        <p:nvSpPr>
          <p:cNvPr id="21" name="">
            <a:extLst xmlns:a="http://schemas.openxmlformats.org/drawingml/2006/main">
              <a:ext uri="{FF2B5EF4-FFF2-40B4-BE49-F238E27FC236}">
                <a16:creationId xmlns:a16="http://schemas.microsoft.com/office/drawing/2014/main" id="{F2E5D9C2-7C6F-4A9D-877E-123F82BAF91A}"/>
              </a:ext>
            </a:extLst>
          </p:cNvPr>
          <p:cNvSpPr>
            <a:spLocks xmlns:a="http://schemas.openxmlformats.org/drawingml/2006/main" noGrp="1"/>
          </p:cNvSpPr>
          <p:nvPr/>
        </p:nvSpPr>
        <p:spPr>
          <a:xfrm xmlns:a="http://schemas.openxmlformats.org/drawingml/2006/main">
            <a:off x="6267450" y="482917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原因、检查、修复、风险和来源通过白名单校验后，才交给大模型整理表达。</a:t>
            </a:r>
          </a:p>
        </p:txBody>
      </p:sp>
      <p:sp>
        <p:nvSpPr>
          <p:cNvPr id="22" name="">
            <a:extLst xmlns:a="http://schemas.openxmlformats.org/drawingml/2006/main">
              <a:ext uri="{FF2B5EF4-FFF2-40B4-BE49-F238E27FC236}">
                <a16:creationId xmlns:a16="http://schemas.microsoft.com/office/drawing/2014/main" id="{60BA6F5B-99AE-4184-A0F9-C719BB76CAE9}"/>
              </a:ext>
            </a:extLst>
          </p:cNvPr>
          <p:cNvSpPr>
            <a:spLocks xmlns:a="http://schemas.openxmlformats.org/drawingml/2006/main" noGrp="1"/>
          </p:cNvSpPr>
          <p:nvPr/>
        </p:nvSpPr>
        <p:spPr>
          <a:xfrm xmlns:a="http://schemas.openxmlformats.org/drawingml/2006/main">
            <a:off x="685800" y="5962650"/>
            <a:ext cx="10820400" cy="400050"/>
          </a:xfrm>
          <a:prstGeom xmlns:a="http://schemas.openxmlformats.org/drawingml/2006/main" prst="roundRect">
            <a:avLst>
              <a:gd name="adj" fmla="val 23810"/>
            </a:avLst>
          </a:prstGeom>
          <a:solidFill xmlns:a="http://schemas.openxmlformats.org/drawingml/2006/main">
            <a:srgbClr val="142735"/>
          </a:solidFill>
          <a:ln xmlns:a="http://schemas.openxmlformats.org/drawingml/2006/main" w="11430">
            <a:solidFill>
              <a:srgbClr val="14273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iragino Sans GB"/>
                <a:ea typeface="Hiragino Sans GB"/>
                <a:cs typeface="Hiragino Sans GB"/>
              </a:defRPr>
            </a:pPr>
            <a:r>
              <a:rPr sz="1350" b="1">
                <a:solidFill>
                  <a:srgbClr val="FFFFFF"/>
                </a:solidFill>
                <a:latin typeface="Hiragino Sans GB"/>
                <a:ea typeface="Hiragino Sans GB"/>
                <a:cs typeface="Hiragino Sans GB"/>
              </a:rPr>
              <a:t>最终汇报重点：图谱如何表达因果，真实案例如何改变参数与选问，回答如何改变候选子图</a:t>
            </a:r>
          </a:p>
        </p:txBody>
      </p:sp>
    </p:spTree>
    <p:extLst>
      <p:ext uri="{BB962C8B-B14F-4D97-AF65-F5344CB8AC3E}">
        <p14:creationId xmlns:p14="http://schemas.microsoft.com/office/powerpoint/2010/main" val="4436373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EC9FFF3-DC0D-405F-B10A-97B3A6E4EF2B}"/>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DEFCA575-9A9D-4042-8253-5FE93E9FC053}"/>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因果知识图谱：15类节点，四层职责</a:t>
            </a:r>
          </a:p>
        </p:txBody>
      </p:sp>
      <p:sp>
        <p:nvSpPr>
          <p:cNvPr id="3" name="">
            <a:extLst xmlns:a="http://schemas.openxmlformats.org/drawingml/2006/main">
              <a:ext uri="{FF2B5EF4-FFF2-40B4-BE49-F238E27FC236}">
                <a16:creationId xmlns:a16="http://schemas.microsoft.com/office/drawing/2014/main" id="{19D8CD54-72C1-4E10-BE57-13D7F9FE7E4F}"/>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03</a:t>
            </a:r>
          </a:p>
        </p:txBody>
      </p:sp>
      <p:sp>
        <p:nvSpPr>
          <p:cNvPr id="4" name="">
            <a:extLst xmlns:a="http://schemas.openxmlformats.org/drawingml/2006/main">
              <a:ext uri="{FF2B5EF4-FFF2-40B4-BE49-F238E27FC236}">
                <a16:creationId xmlns:a16="http://schemas.microsoft.com/office/drawing/2014/main" id="{01A7D213-09B1-4D9F-AF87-5F1354B8712D}"/>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2CF6D43D-0EEB-4A80-A0C0-A91CAA66F187}"/>
              </a:ext>
            </a:extLst>
          </p:cNvPr>
          <p:cNvSpPr>
            <a:spLocks xmlns:a="http://schemas.openxmlformats.org/drawingml/2006/main" noGrp="1"/>
          </p:cNvSpPr>
          <p:nvPr/>
        </p:nvSpPr>
        <p:spPr>
          <a:xfrm xmlns:a="http://schemas.openxmlformats.org/drawingml/2006/main">
            <a:off x="723900" y="1495425"/>
            <a:ext cx="9525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147 节点</a:t>
            </a:r>
          </a:p>
        </p:txBody>
      </p:sp>
      <p:sp>
        <p:nvSpPr>
          <p:cNvPr id="6" name="">
            <a:extLst xmlns:a="http://schemas.openxmlformats.org/drawingml/2006/main">
              <a:ext uri="{FF2B5EF4-FFF2-40B4-BE49-F238E27FC236}">
                <a16:creationId xmlns:a16="http://schemas.microsoft.com/office/drawing/2014/main" id="{2024DA79-2EBB-42E3-98D2-492630B1949F}"/>
              </a:ext>
            </a:extLst>
          </p:cNvPr>
          <p:cNvSpPr>
            <a:spLocks xmlns:a="http://schemas.openxmlformats.org/drawingml/2006/main" noGrp="1"/>
          </p:cNvSpPr>
          <p:nvPr/>
        </p:nvSpPr>
        <p:spPr>
          <a:xfrm xmlns:a="http://schemas.openxmlformats.org/drawingml/2006/main">
            <a:off x="1771650" y="1495425"/>
            <a:ext cx="9525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378 关系</a:t>
            </a:r>
          </a:p>
        </p:txBody>
      </p:sp>
      <p:sp>
        <p:nvSpPr>
          <p:cNvPr id="7" name="">
            <a:extLst xmlns:a="http://schemas.openxmlformats.org/drawingml/2006/main">
              <a:ext uri="{FF2B5EF4-FFF2-40B4-BE49-F238E27FC236}">
                <a16:creationId xmlns:a16="http://schemas.microsoft.com/office/drawing/2014/main" id="{DB7141BE-4625-4DE0-A59C-75EA1213887D}"/>
              </a:ext>
            </a:extLst>
          </p:cNvPr>
          <p:cNvSpPr>
            <a:spLocks xmlns:a="http://schemas.openxmlformats.org/drawingml/2006/main" noGrp="1"/>
          </p:cNvSpPr>
          <p:nvPr/>
        </p:nvSpPr>
        <p:spPr>
          <a:xfrm xmlns:a="http://schemas.openxmlformats.org/drawingml/2006/main">
            <a:off x="2819400" y="1495425"/>
            <a:ext cx="13335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27 类受控关系</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db00b4e2e834300"/>
          <a:stretch xmlns:a="http://schemas.openxmlformats.org/drawingml/2006/main"/>
        </p:blipFill>
        <p:spPr>
          <a:xfrm xmlns:a="http://schemas.openxmlformats.org/drawingml/2006/main">
            <a:off x="647700" y="1958892"/>
            <a:ext cx="7762875" cy="383556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68B40F4-9D88-460E-88F4-0D01F24E970F}"/>
              </a:ext>
            </a:extLst>
          </p:cNvPr>
          <p:cNvSpPr>
            <a:spLocks xmlns:a="http://schemas.openxmlformats.org/drawingml/2006/main" noGrp="1"/>
          </p:cNvSpPr>
          <p:nvPr/>
        </p:nvSpPr>
        <p:spPr>
          <a:xfrm xmlns:a="http://schemas.openxmlformats.org/drawingml/2006/main">
            <a:off x="647700" y="5905500"/>
            <a:ext cx="7762875" cy="361950"/>
          </a:xfrm>
          <a:prstGeom xmlns:a="http://schemas.openxmlformats.org/drawingml/2006/main" prst="roundRect">
            <a:avLst>
              <a:gd name="adj" fmla="val 26316"/>
            </a:avLst>
          </a:prstGeom>
          <a:solidFill xmlns:a="http://schemas.openxmlformats.org/drawingml/2006/main">
            <a:srgbClr val="EEF5FF"/>
          </a:solidFill>
          <a:ln xmlns:a="http://schemas.openxmlformats.org/drawingml/2006/main" w="11430">
            <a:solidFill>
              <a:srgbClr val="1F5FBF"/>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1F5FBF"/>
                </a:solidFill>
                <a:latin typeface="Hiragino Sans GB"/>
                <a:ea typeface="Hiragino Sans GB"/>
                <a:cs typeface="Hiragino Sans GB"/>
              </a:defRPr>
            </a:pPr>
            <a:r>
              <a:rPr sz="975" b="1">
                <a:solidFill>
                  <a:srgbClr val="1F5FBF"/>
                </a:solidFill>
                <a:latin typeface="Hiragino Sans GB"/>
                <a:ea typeface="Hiragino Sans GB"/>
                <a:cs typeface="Hiragino Sans GB"/>
              </a:rPr>
              <a:t>3个故障入口：Python模块无法导入　｜　PyTorch无法使用GPU　｜　服务或配置连接失败</a:t>
            </a:r>
          </a:p>
        </p:txBody>
      </p:sp>
      <p:sp>
        <p:nvSpPr>
          <p:cNvPr id="10" name="">
            <a:extLst xmlns:a="http://schemas.openxmlformats.org/drawingml/2006/main">
              <a:ext uri="{FF2B5EF4-FFF2-40B4-BE49-F238E27FC236}">
                <a16:creationId xmlns:a16="http://schemas.microsoft.com/office/drawing/2014/main" id="{C5D1AA7D-F45B-4E29-A133-BB70ACC76268}"/>
              </a:ext>
            </a:extLst>
          </p:cNvPr>
          <p:cNvSpPr>
            <a:spLocks xmlns:a="http://schemas.openxmlformats.org/drawingml/2006/main" noGrp="1"/>
          </p:cNvSpPr>
          <p:nvPr/>
        </p:nvSpPr>
        <p:spPr>
          <a:xfrm xmlns:a="http://schemas.openxmlformats.org/drawingml/2006/main">
            <a:off x="8763000" y="19335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42735"/>
                </a:solidFill>
                <a:latin typeface="Hiragino Sans GB"/>
                <a:ea typeface="Hiragino Sans GB"/>
                <a:cs typeface="Hiragino Sans GB"/>
              </a:defRPr>
            </a:pPr>
            <a:r>
              <a:rPr sz="1575" b="1">
                <a:solidFill>
                  <a:srgbClr val="142735"/>
                </a:solidFill>
                <a:latin typeface="Hiragino Sans GB"/>
                <a:ea typeface="Hiragino Sans GB"/>
                <a:cs typeface="Hiragino Sans GB"/>
              </a:rPr>
              <a:t>三种“支持”必须区分</a:t>
            </a:r>
          </a:p>
        </p:txBody>
      </p:sp>
      <p:sp>
        <p:nvSpPr>
          <p:cNvPr id="11" name="">
            <a:extLst xmlns:a="http://schemas.openxmlformats.org/drawingml/2006/main">
              <a:ext uri="{FF2B5EF4-FFF2-40B4-BE49-F238E27FC236}">
                <a16:creationId xmlns:a16="http://schemas.microsoft.com/office/drawing/2014/main" id="{FD9B2347-DB46-4436-ADC7-1814DBCA7F9B}"/>
              </a:ext>
            </a:extLst>
          </p:cNvPr>
          <p:cNvSpPr>
            <a:spLocks xmlns:a="http://schemas.openxmlformats.org/drawingml/2006/main" noGrp="1"/>
          </p:cNvSpPr>
          <p:nvPr/>
        </p:nvSpPr>
        <p:spPr>
          <a:xfrm xmlns:a="http://schemas.openxmlformats.org/drawingml/2006/main">
            <a:off x="8763000" y="2466975"/>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F5FBF"/>
                </a:solidFill>
                <a:latin typeface="Hiragino Sans GB"/>
                <a:ea typeface="Hiragino Sans GB"/>
                <a:cs typeface="Hiragino Sans GB"/>
              </a:defRPr>
            </a:pPr>
            <a:r>
              <a:rPr sz="1200" b="1">
                <a:solidFill>
                  <a:srgbClr val="1F5FBF"/>
                </a:solidFill>
                <a:latin typeface="Hiragino Sans GB"/>
                <a:ea typeface="Hiragino Sans GB"/>
                <a:cs typeface="Hiragino Sans GB"/>
              </a:rPr>
              <a:t>HAS_POSSIBLE_CAUSE</a:t>
            </a:r>
          </a:p>
        </p:txBody>
      </p:sp>
      <p:sp>
        <p:nvSpPr>
          <p:cNvPr id="12" name="">
            <a:extLst xmlns:a="http://schemas.openxmlformats.org/drawingml/2006/main">
              <a:ext uri="{FF2B5EF4-FFF2-40B4-BE49-F238E27FC236}">
                <a16:creationId xmlns:a16="http://schemas.microsoft.com/office/drawing/2014/main" id="{41786726-8E6E-411F-9779-B839ECA8FF55}"/>
              </a:ext>
            </a:extLst>
          </p:cNvPr>
          <p:cNvSpPr>
            <a:spLocks xmlns:a="http://schemas.openxmlformats.org/drawingml/2006/main" noGrp="1"/>
          </p:cNvSpPr>
          <p:nvPr/>
        </p:nvSpPr>
        <p:spPr>
          <a:xfrm xmlns:a="http://schemas.openxmlformats.org/drawingml/2006/main">
            <a:off x="8763000" y="27622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只表示候选集合，不证明原因成立</a:t>
            </a:r>
          </a:p>
        </p:txBody>
      </p:sp>
      <p:sp>
        <p:nvSpPr>
          <p:cNvPr id="13" name="">
            <a:extLst xmlns:a="http://schemas.openxmlformats.org/drawingml/2006/main">
              <a:ext uri="{FF2B5EF4-FFF2-40B4-BE49-F238E27FC236}">
                <a16:creationId xmlns:a16="http://schemas.microsoft.com/office/drawing/2014/main" id="{D902C5B9-6B46-4801-85E3-E8A1B164827E}"/>
              </a:ext>
            </a:extLst>
          </p:cNvPr>
          <p:cNvSpPr>
            <a:spLocks xmlns:a="http://schemas.openxmlformats.org/drawingml/2006/main" noGrp="1"/>
          </p:cNvSpPr>
          <p:nvPr/>
        </p:nvSpPr>
        <p:spPr>
          <a:xfrm xmlns:a="http://schemas.openxmlformats.org/drawingml/2006/main">
            <a:off x="8763000" y="33718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68B6B"/>
                </a:solidFill>
                <a:latin typeface="Hiragino Sans GB"/>
                <a:ea typeface="Hiragino Sans GB"/>
                <a:cs typeface="Hiragino Sans GB"/>
              </a:defRPr>
            </a:pPr>
            <a:r>
              <a:rPr sz="1200" b="1">
                <a:solidFill>
                  <a:srgbClr val="168B6B"/>
                </a:solidFill>
                <a:latin typeface="Hiragino Sans GB"/>
                <a:ea typeface="Hiragino Sans GB"/>
                <a:cs typeface="Hiragino Sans GB"/>
              </a:rPr>
              <a:t>CHUNK_SUPPORTS_CAUSE</a:t>
            </a:r>
          </a:p>
        </p:txBody>
      </p:sp>
      <p:sp>
        <p:nvSpPr>
          <p:cNvPr id="14" name="">
            <a:extLst xmlns:a="http://schemas.openxmlformats.org/drawingml/2006/main">
              <a:ext uri="{FF2B5EF4-FFF2-40B4-BE49-F238E27FC236}">
                <a16:creationId xmlns:a16="http://schemas.microsoft.com/office/drawing/2014/main" id="{E234BBF4-B5BE-4D5C-B67D-E8C8B46F1A71}"/>
              </a:ext>
            </a:extLst>
          </p:cNvPr>
          <p:cNvSpPr>
            <a:spLocks xmlns:a="http://schemas.openxmlformats.org/drawingml/2006/main" noGrp="1"/>
          </p:cNvSpPr>
          <p:nvPr/>
        </p:nvSpPr>
        <p:spPr>
          <a:xfrm xmlns:a="http://schemas.openxmlformats.org/drawingml/2006/main">
            <a:off x="8763000" y="366712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表示证据片段与原因相关，用于初始排序</a:t>
            </a:r>
          </a:p>
        </p:txBody>
      </p:sp>
      <p:sp>
        <p:nvSpPr>
          <p:cNvPr id="15" name="">
            <a:extLst xmlns:a="http://schemas.openxmlformats.org/drawingml/2006/main">
              <a:ext uri="{FF2B5EF4-FFF2-40B4-BE49-F238E27FC236}">
                <a16:creationId xmlns:a16="http://schemas.microsoft.com/office/drawing/2014/main" id="{32282597-D151-4AA6-8A6A-E216F1826159}"/>
              </a:ext>
            </a:extLst>
          </p:cNvPr>
          <p:cNvSpPr>
            <a:spLocks xmlns:a="http://schemas.openxmlformats.org/drawingml/2006/main" noGrp="1"/>
          </p:cNvSpPr>
          <p:nvPr/>
        </p:nvSpPr>
        <p:spPr>
          <a:xfrm xmlns:a="http://schemas.openxmlformats.org/drawingml/2006/main">
            <a:off x="8763000" y="4276725"/>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E34A4A"/>
                </a:solidFill>
                <a:latin typeface="Hiragino Sans GB"/>
                <a:ea typeface="Hiragino Sans GB"/>
                <a:cs typeface="Hiragino Sans GB"/>
              </a:defRPr>
            </a:pPr>
            <a:r>
              <a:rPr sz="1200" b="1">
                <a:solidFill>
                  <a:srgbClr val="E34A4A"/>
                </a:solidFill>
                <a:latin typeface="Hiragino Sans GB"/>
                <a:ea typeface="Hiragino Sans GB"/>
                <a:cs typeface="Hiragino Sans GB"/>
              </a:rPr>
              <a:t>OBSERVATION_SUPPORTS</a:t>
            </a:r>
          </a:p>
        </p:txBody>
      </p:sp>
      <p:sp>
        <p:nvSpPr>
          <p:cNvPr id="16" name="">
            <a:extLst xmlns:a="http://schemas.openxmlformats.org/drawingml/2006/main">
              <a:ext uri="{FF2B5EF4-FFF2-40B4-BE49-F238E27FC236}">
                <a16:creationId xmlns:a16="http://schemas.microsoft.com/office/drawing/2014/main" id="{DBD972D6-8FAE-49DD-BAC8-B18D879CAE0D}"/>
              </a:ext>
            </a:extLst>
          </p:cNvPr>
          <p:cNvSpPr>
            <a:spLocks xmlns:a="http://schemas.openxmlformats.org/drawingml/2006/main" noGrp="1"/>
          </p:cNvSpPr>
          <p:nvPr/>
        </p:nvSpPr>
        <p:spPr>
          <a:xfrm xmlns:a="http://schemas.openxmlformats.org/drawingml/2006/main">
            <a:off x="8763000" y="4572000"/>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保存条件概率。用户回答后，它真正驱动贝叶斯更新</a:t>
            </a:r>
          </a:p>
        </p:txBody>
      </p:sp>
      <p:sp>
        <p:nvSpPr>
          <p:cNvPr id="17" name="">
            <a:extLst xmlns:a="http://schemas.openxmlformats.org/drawingml/2006/main">
              <a:ext uri="{FF2B5EF4-FFF2-40B4-BE49-F238E27FC236}">
                <a16:creationId xmlns:a16="http://schemas.microsoft.com/office/drawing/2014/main" id="{22DA43FA-8429-4987-AE12-2D4CFB0F669D}"/>
              </a:ext>
            </a:extLst>
          </p:cNvPr>
          <p:cNvSpPr>
            <a:spLocks xmlns:a="http://schemas.openxmlformats.org/drawingml/2006/main" noGrp="1"/>
          </p:cNvSpPr>
          <p:nvPr/>
        </p:nvSpPr>
        <p:spPr>
          <a:xfrm xmlns:a="http://schemas.openxmlformats.org/drawingml/2006/main">
            <a:off x="8743950" y="5448300"/>
            <a:ext cx="1238250" cy="457200"/>
          </a:xfrm>
          <a:prstGeom xmlns:a="http://schemas.openxmlformats.org/drawingml/2006/main" prst="roundRect">
            <a:avLst>
              <a:gd name="adj" fmla="val 20833"/>
            </a:avLst>
          </a:prstGeom>
          <a:solidFill xmlns:a="http://schemas.openxmlformats.org/drawingml/2006/main">
            <a:srgbClr val="FFF7E8"/>
          </a:solidFill>
          <a:ln xmlns:a="http://schemas.openxmlformats.org/drawingml/2006/main" w="11430">
            <a:solidFill>
              <a:srgbClr val="F59E0B"/>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42735"/>
                </a:solidFill>
                <a:latin typeface="Hiragino Sans GB"/>
                <a:ea typeface="Hiragino Sans GB"/>
                <a:cs typeface="Hiragino Sans GB"/>
              </a:defRPr>
            </a:pPr>
            <a:r>
              <a:rPr sz="1350" b="1">
                <a:solidFill>
                  <a:srgbClr val="142735"/>
                </a:solidFill>
                <a:latin typeface="Hiragino Sans GB"/>
                <a:ea typeface="Hiragino Sans GB"/>
                <a:cs typeface="Hiragino Sans GB"/>
              </a:rPr>
              <a:t>问题</a:t>
            </a:r>
          </a:p>
        </p:txBody>
      </p:sp>
      <p:sp>
        <p:nvSpPr>
          <p:cNvPr id="18" name="">
            <a:extLst xmlns:a="http://schemas.openxmlformats.org/drawingml/2006/main">
              <a:ext uri="{FF2B5EF4-FFF2-40B4-BE49-F238E27FC236}">
                <a16:creationId xmlns:a16="http://schemas.microsoft.com/office/drawing/2014/main" id="{A1437F72-1943-4A4F-A387-4A17F00DBE09}"/>
              </a:ext>
            </a:extLst>
          </p:cNvPr>
          <p:cNvSpPr>
            <a:spLocks xmlns:a="http://schemas.openxmlformats.org/drawingml/2006/main" noGrp="1"/>
          </p:cNvSpPr>
          <p:nvPr/>
        </p:nvSpPr>
        <p:spPr>
          <a:xfrm xmlns:a="http://schemas.openxmlformats.org/drawingml/2006/main">
            <a:off x="10287000" y="5448300"/>
            <a:ext cx="1238250" cy="457200"/>
          </a:xfrm>
          <a:prstGeom xmlns:a="http://schemas.openxmlformats.org/drawingml/2006/main" prst="roundRect">
            <a:avLst>
              <a:gd name="adj" fmla="val 20833"/>
            </a:avLst>
          </a:prstGeom>
          <a:solidFill xmlns:a="http://schemas.openxmlformats.org/drawingml/2006/main">
            <a:srgbClr val="FFF0F0"/>
          </a:solidFill>
          <a:ln xmlns:a="http://schemas.openxmlformats.org/drawingml/2006/main" w="11430">
            <a:solidFill>
              <a:srgbClr val="E34A4A"/>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42735"/>
                </a:solidFill>
                <a:latin typeface="Hiragino Sans GB"/>
                <a:ea typeface="Hiragino Sans GB"/>
                <a:cs typeface="Hiragino Sans GB"/>
              </a:defRPr>
            </a:pPr>
            <a:r>
              <a:rPr sz="1350" b="1">
                <a:solidFill>
                  <a:srgbClr val="142735"/>
                </a:solidFill>
                <a:latin typeface="Hiragino Sans GB"/>
                <a:ea typeface="Hiragino Sans GB"/>
                <a:cs typeface="Hiragino Sans GB"/>
              </a:rPr>
              <a:t>观察</a:t>
            </a:r>
          </a:p>
        </p:txBody>
      </p:sp>
      <p:cxnSp>
        <p:nvCxnSpPr>
          <p:cNvPr id="39" name=""/>
          <p:cNvCxnSpPr>
            <a:stCxn xmlns:a="http://schemas.openxmlformats.org/drawingml/2006/main" id="17" idx="3"/>
            <a:endCxn xmlns:a="http://schemas.openxmlformats.org/drawingml/2006/main" id="18" idx="1"/>
          </p:cNvCxnSpPr>
          <p:nvPr/>
        </p:nvCxnSpPr>
        <p:spPr>
          <a:xfrm xmlns:a="http://schemas.openxmlformats.org/drawingml/2006/main">
            <a:off x="9982200" y="5676900"/>
            <a:ext cx="304800" cy="0"/>
          </a:xfrm>
          <a:prstGeom xmlns:a="http://schemas.openxmlformats.org/drawingml/2006/main" prst="straightConnector1">
            <a:avLst/>
          </a:prstGeom>
          <a:ln xmlns:a="http://schemas.openxmlformats.org/drawingml/2006/main" w="19050">
            <a:solidFill>
              <a:srgbClr val="E34A4A"/>
            </a:solidFill>
            <a:prstDash val="solid"/>
            <a:tailEnd type="triangle" w="sm" len="sm"/>
          </a:ln>
        </p:spPr>
      </p:cxnSp>
      <p:sp>
        <p:nvSpPr>
          <p:cNvPr id="20" name="">
            <a:extLst xmlns:a="http://schemas.openxmlformats.org/drawingml/2006/main">
              <a:ext uri="{FF2B5EF4-FFF2-40B4-BE49-F238E27FC236}">
                <a16:creationId xmlns:a16="http://schemas.microsoft.com/office/drawing/2014/main" id="{73886BA5-B51A-4EEF-96BC-1C08EDB3DCD3}"/>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真正的概率因果闭环：Question → Observation → Cause 概率更新</a:t>
            </a:r>
          </a:p>
        </p:txBody>
      </p:sp>
    </p:spTree>
    <p:extLst>
      <p:ext uri="{BB962C8B-B14F-4D97-AF65-F5344CB8AC3E}">
        <p14:creationId xmlns:p14="http://schemas.microsoft.com/office/powerpoint/2010/main" val="10138848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BD4C84B-D753-4C15-88A8-204942ACB2E5}"/>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265D4A85-3C32-42BA-B857-FF159E591EF2}"/>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因果关系如何驱动候选子图变化</a:t>
            </a:r>
          </a:p>
        </p:txBody>
      </p:sp>
      <p:sp>
        <p:nvSpPr>
          <p:cNvPr id="3" name="">
            <a:extLst xmlns:a="http://schemas.openxmlformats.org/drawingml/2006/main">
              <a:ext uri="{FF2B5EF4-FFF2-40B4-BE49-F238E27FC236}">
                <a16:creationId xmlns:a16="http://schemas.microsoft.com/office/drawing/2014/main" id="{35C75296-C003-458A-A947-5F52A4F73DA1}"/>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04</a:t>
            </a:r>
          </a:p>
        </p:txBody>
      </p:sp>
      <p:sp>
        <p:nvSpPr>
          <p:cNvPr id="4" name="">
            <a:extLst xmlns:a="http://schemas.openxmlformats.org/drawingml/2006/main">
              <a:ext uri="{FF2B5EF4-FFF2-40B4-BE49-F238E27FC236}">
                <a16:creationId xmlns:a16="http://schemas.microsoft.com/office/drawing/2014/main" id="{C7FD7047-D411-4A5A-AF3C-6AF34F0A9DDF}"/>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ED5379C2-734B-4DAE-B109-80249A45525B}"/>
              </a:ext>
            </a:extLst>
          </p:cNvPr>
          <p:cNvSpPr>
            <a:spLocks xmlns:a="http://schemas.openxmlformats.org/drawingml/2006/main" noGrp="1"/>
          </p:cNvSpPr>
          <p:nvPr/>
        </p:nvSpPr>
        <p:spPr>
          <a:xfrm xmlns:a="http://schemas.openxmlformats.org/drawingml/2006/main">
            <a:off x="685800" y="1466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42735"/>
                </a:solidFill>
                <a:latin typeface="Hiragino Sans GB"/>
                <a:ea typeface="Hiragino Sans GB"/>
                <a:cs typeface="Hiragino Sans GB"/>
              </a:defRPr>
            </a:pPr>
            <a:r>
              <a:rPr sz="1575" b="1">
                <a:solidFill>
                  <a:srgbClr val="142735"/>
                </a:solidFill>
                <a:latin typeface="Hiragino Sans GB"/>
                <a:ea typeface="Hiragino Sans GB"/>
                <a:cs typeface="Hiragino Sans GB"/>
              </a:rPr>
              <a:t>三类关系承担不同任务，只有观察边参与回答后的概率更新。</a:t>
            </a:r>
          </a:p>
        </p:txBody>
      </p:sp>
      <p:sp>
        <p:nvSpPr>
          <p:cNvPr id="6" name="">
            <a:extLst xmlns:a="http://schemas.openxmlformats.org/drawingml/2006/main">
              <a:ext uri="{FF2B5EF4-FFF2-40B4-BE49-F238E27FC236}">
                <a16:creationId xmlns:a16="http://schemas.microsoft.com/office/drawing/2014/main" id="{6CFBA3F3-B2F7-4A85-B13D-EB6ADFCEE270}"/>
              </a:ext>
            </a:extLst>
          </p:cNvPr>
          <p:cNvSpPr>
            <a:spLocks xmlns:a="http://schemas.openxmlformats.org/drawingml/2006/main" noGrp="1"/>
          </p:cNvSpPr>
          <p:nvPr/>
        </p:nvSpPr>
        <p:spPr>
          <a:xfrm xmlns:a="http://schemas.openxmlformats.org/drawingml/2006/main">
            <a:off x="685800" y="2133600"/>
            <a:ext cx="4762500" cy="838200"/>
          </a:xfrm>
          <a:prstGeom xmlns:a="http://schemas.openxmlformats.org/drawingml/2006/main" prst="roundRect">
            <a:avLst>
              <a:gd name="adj" fmla="val 13636"/>
            </a:avLst>
          </a:prstGeom>
          <a:solidFill xmlns:a="http://schemas.openxmlformats.org/drawingml/2006/main">
            <a:srgbClr val="F4F7FA"/>
          </a:solidFill>
          <a:ln xmlns:a="http://schemas.openxmlformats.org/drawingml/2006/main" w="11430">
            <a:solidFill>
              <a:srgbClr val="D8E0E7"/>
            </a:solidFill>
            <a:prstDash val="solid"/>
          </a:ln>
        </p:spPr>
      </p:sp>
      <p:sp>
        <p:nvSpPr>
          <p:cNvPr id="7" name="">
            <a:extLst xmlns:a="http://schemas.openxmlformats.org/drawingml/2006/main">
              <a:ext uri="{FF2B5EF4-FFF2-40B4-BE49-F238E27FC236}">
                <a16:creationId xmlns:a16="http://schemas.microsoft.com/office/drawing/2014/main" id="{2C296A19-A2D3-490F-BDC6-0BBE2D370399}"/>
              </a:ext>
            </a:extLst>
          </p:cNvPr>
          <p:cNvSpPr>
            <a:spLocks xmlns:a="http://schemas.openxmlformats.org/drawingml/2006/main" noGrp="1"/>
          </p:cNvSpPr>
          <p:nvPr/>
        </p:nvSpPr>
        <p:spPr>
          <a:xfrm xmlns:a="http://schemas.openxmlformats.org/drawingml/2006/main">
            <a:off x="876300" y="23050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01</a:t>
            </a:r>
          </a:p>
        </p:txBody>
      </p:sp>
      <p:sp>
        <p:nvSpPr>
          <p:cNvPr id="8" name="">
            <a:extLst xmlns:a="http://schemas.openxmlformats.org/drawingml/2006/main">
              <a:ext uri="{FF2B5EF4-FFF2-40B4-BE49-F238E27FC236}">
                <a16:creationId xmlns:a16="http://schemas.microsoft.com/office/drawing/2014/main" id="{46284DE5-E143-4B9D-BE2B-74BA375D2301}"/>
              </a:ext>
            </a:extLst>
          </p:cNvPr>
          <p:cNvSpPr>
            <a:spLocks xmlns:a="http://schemas.openxmlformats.org/drawingml/2006/main" noGrp="1"/>
          </p:cNvSpPr>
          <p:nvPr/>
        </p:nvSpPr>
        <p:spPr>
          <a:xfrm xmlns:a="http://schemas.openxmlformats.org/drawingml/2006/main">
            <a:off x="1390650" y="22669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F5FBF"/>
                </a:solidFill>
                <a:latin typeface="Hiragino Sans GB"/>
                <a:ea typeface="Hiragino Sans GB"/>
                <a:cs typeface="Hiragino Sans GB"/>
              </a:defRPr>
            </a:pPr>
            <a:r>
              <a:rPr sz="1275" b="1">
                <a:solidFill>
                  <a:srgbClr val="1F5FBF"/>
                </a:solidFill>
                <a:latin typeface="Hiragino Sans GB"/>
                <a:ea typeface="Hiragino Sans GB"/>
                <a:cs typeface="Hiragino Sans GB"/>
              </a:rPr>
              <a:t>HAS_POSSIBLE_CAUSE</a:t>
            </a:r>
          </a:p>
        </p:txBody>
      </p:sp>
      <p:sp>
        <p:nvSpPr>
          <p:cNvPr id="9" name="">
            <a:extLst xmlns:a="http://schemas.openxmlformats.org/drawingml/2006/main">
              <a:ext uri="{FF2B5EF4-FFF2-40B4-BE49-F238E27FC236}">
                <a16:creationId xmlns:a16="http://schemas.microsoft.com/office/drawing/2014/main" id="{3DC90E8F-2324-440F-903E-FCD9AE61DD1E}"/>
              </a:ext>
            </a:extLst>
          </p:cNvPr>
          <p:cNvSpPr>
            <a:spLocks xmlns:a="http://schemas.openxmlformats.org/drawingml/2006/main" noGrp="1"/>
          </p:cNvSpPr>
          <p:nvPr/>
        </p:nvSpPr>
        <p:spPr>
          <a:xfrm xmlns:a="http://schemas.openxmlformats.org/drawingml/2006/main">
            <a:off x="4095750" y="2266950"/>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1F5FBF"/>
                </a:solidFill>
                <a:latin typeface="Hiragino Sans GB"/>
                <a:ea typeface="Hiragino Sans GB"/>
                <a:cs typeface="Hiragino Sans GB"/>
              </a:defRPr>
            </a:pPr>
            <a:r>
              <a:rPr sz="1200" b="1">
                <a:solidFill>
                  <a:srgbClr val="1F5FBF"/>
                </a:solidFill>
                <a:latin typeface="Hiragino Sans GB"/>
                <a:ea typeface="Hiragino Sans GB"/>
                <a:cs typeface="Hiragino Sans GB"/>
              </a:rPr>
              <a:t>定义候选集合</a:t>
            </a:r>
          </a:p>
        </p:txBody>
      </p:sp>
      <p:sp>
        <p:nvSpPr>
          <p:cNvPr id="10" name="">
            <a:extLst xmlns:a="http://schemas.openxmlformats.org/drawingml/2006/main">
              <a:ext uri="{FF2B5EF4-FFF2-40B4-BE49-F238E27FC236}">
                <a16:creationId xmlns:a16="http://schemas.microsoft.com/office/drawing/2014/main" id="{ABB84F9B-AD8A-4D57-82CC-DE37D297ACFB}"/>
              </a:ext>
            </a:extLst>
          </p:cNvPr>
          <p:cNvSpPr>
            <a:spLocks xmlns:a="http://schemas.openxmlformats.org/drawingml/2006/main" noGrp="1"/>
          </p:cNvSpPr>
          <p:nvPr/>
        </p:nvSpPr>
        <p:spPr>
          <a:xfrm xmlns:a="http://schemas.openxmlformats.org/drawingml/2006/main">
            <a:off x="1390650" y="259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故障可能由哪些原因造成</a:t>
            </a:r>
          </a:p>
        </p:txBody>
      </p:sp>
      <p:sp>
        <p:nvSpPr>
          <p:cNvPr id="11" name="">
            <a:extLst xmlns:a="http://schemas.openxmlformats.org/drawingml/2006/main">
              <a:ext uri="{FF2B5EF4-FFF2-40B4-BE49-F238E27FC236}">
                <a16:creationId xmlns:a16="http://schemas.microsoft.com/office/drawing/2014/main" id="{2506CBCA-E5FC-47BC-B1C9-E401D668F116}"/>
              </a:ext>
            </a:extLst>
          </p:cNvPr>
          <p:cNvSpPr>
            <a:spLocks xmlns:a="http://schemas.openxmlformats.org/drawingml/2006/main" noGrp="1"/>
          </p:cNvSpPr>
          <p:nvPr/>
        </p:nvSpPr>
        <p:spPr>
          <a:xfrm xmlns:a="http://schemas.openxmlformats.org/drawingml/2006/main">
            <a:off x="685800" y="3200400"/>
            <a:ext cx="4762500" cy="838200"/>
          </a:xfrm>
          <a:prstGeom xmlns:a="http://schemas.openxmlformats.org/drawingml/2006/main" prst="roundRect">
            <a:avLst>
              <a:gd name="adj" fmla="val 13636"/>
            </a:avLst>
          </a:prstGeom>
          <a:solidFill xmlns:a="http://schemas.openxmlformats.org/drawingml/2006/main">
            <a:srgbClr val="F4F7FA"/>
          </a:solidFill>
          <a:ln xmlns:a="http://schemas.openxmlformats.org/drawingml/2006/main" w="11430">
            <a:solidFill>
              <a:srgbClr val="D8E0E7"/>
            </a:solidFill>
            <a:prstDash val="solid"/>
          </a:ln>
        </p:spPr>
      </p:sp>
      <p:sp>
        <p:nvSpPr>
          <p:cNvPr id="12" name="">
            <a:extLst xmlns:a="http://schemas.openxmlformats.org/drawingml/2006/main">
              <a:ext uri="{FF2B5EF4-FFF2-40B4-BE49-F238E27FC236}">
                <a16:creationId xmlns:a16="http://schemas.microsoft.com/office/drawing/2014/main" id="{9BB73E31-53E4-421A-A96B-C52D7167132C}"/>
              </a:ext>
            </a:extLst>
          </p:cNvPr>
          <p:cNvSpPr>
            <a:spLocks xmlns:a="http://schemas.openxmlformats.org/drawingml/2006/main" noGrp="1"/>
          </p:cNvSpPr>
          <p:nvPr/>
        </p:nvSpPr>
        <p:spPr>
          <a:xfrm xmlns:a="http://schemas.openxmlformats.org/drawingml/2006/main">
            <a:off x="876300" y="3371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02</a:t>
            </a:r>
          </a:p>
        </p:txBody>
      </p:sp>
      <p:sp>
        <p:nvSpPr>
          <p:cNvPr id="13" name="">
            <a:extLst xmlns:a="http://schemas.openxmlformats.org/drawingml/2006/main">
              <a:ext uri="{FF2B5EF4-FFF2-40B4-BE49-F238E27FC236}">
                <a16:creationId xmlns:a16="http://schemas.microsoft.com/office/drawing/2014/main" id="{4F2BDA68-A82D-4B7D-8554-94CBBB7BCCAE}"/>
              </a:ext>
            </a:extLst>
          </p:cNvPr>
          <p:cNvSpPr>
            <a:spLocks xmlns:a="http://schemas.openxmlformats.org/drawingml/2006/main" noGrp="1"/>
          </p:cNvSpPr>
          <p:nvPr/>
        </p:nvSpPr>
        <p:spPr>
          <a:xfrm xmlns:a="http://schemas.openxmlformats.org/drawingml/2006/main">
            <a:off x="1390650" y="33337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68B6B"/>
                </a:solidFill>
                <a:latin typeface="Hiragino Sans GB"/>
                <a:ea typeface="Hiragino Sans GB"/>
                <a:cs typeface="Hiragino Sans GB"/>
              </a:defRPr>
            </a:pPr>
            <a:r>
              <a:rPr sz="1275" b="1">
                <a:solidFill>
                  <a:srgbClr val="168B6B"/>
                </a:solidFill>
                <a:latin typeface="Hiragino Sans GB"/>
                <a:ea typeface="Hiragino Sans GB"/>
                <a:cs typeface="Hiragino Sans GB"/>
              </a:rPr>
              <a:t>CHUNK_SUPPORTS_CAUSE</a:t>
            </a:r>
          </a:p>
        </p:txBody>
      </p:sp>
      <p:sp>
        <p:nvSpPr>
          <p:cNvPr id="14" name="">
            <a:extLst xmlns:a="http://schemas.openxmlformats.org/drawingml/2006/main">
              <a:ext uri="{FF2B5EF4-FFF2-40B4-BE49-F238E27FC236}">
                <a16:creationId xmlns:a16="http://schemas.microsoft.com/office/drawing/2014/main" id="{A37D59B4-A344-4457-879A-1F316EA95320}"/>
              </a:ext>
            </a:extLst>
          </p:cNvPr>
          <p:cNvSpPr>
            <a:spLocks xmlns:a="http://schemas.openxmlformats.org/drawingml/2006/main" noGrp="1"/>
          </p:cNvSpPr>
          <p:nvPr/>
        </p:nvSpPr>
        <p:spPr>
          <a:xfrm xmlns:a="http://schemas.openxmlformats.org/drawingml/2006/main">
            <a:off x="4095750" y="3333750"/>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168B6B"/>
                </a:solidFill>
                <a:latin typeface="Hiragino Sans GB"/>
                <a:ea typeface="Hiragino Sans GB"/>
                <a:cs typeface="Hiragino Sans GB"/>
              </a:defRPr>
            </a:pPr>
            <a:r>
              <a:rPr sz="1200" b="1">
                <a:solidFill>
                  <a:srgbClr val="168B6B"/>
                </a:solidFill>
                <a:latin typeface="Hiragino Sans GB"/>
                <a:ea typeface="Hiragino Sans GB"/>
                <a:cs typeface="Hiragino Sans GB"/>
              </a:rPr>
              <a:t>形成初始排序</a:t>
            </a:r>
          </a:p>
        </p:txBody>
      </p:sp>
      <p:sp>
        <p:nvSpPr>
          <p:cNvPr id="15" name="">
            <a:extLst xmlns:a="http://schemas.openxmlformats.org/drawingml/2006/main">
              <a:ext uri="{FF2B5EF4-FFF2-40B4-BE49-F238E27FC236}">
                <a16:creationId xmlns:a16="http://schemas.microsoft.com/office/drawing/2014/main" id="{1BD032E6-C3F7-4FAF-8BEF-233F88F23BE1}"/>
              </a:ext>
            </a:extLst>
          </p:cNvPr>
          <p:cNvSpPr>
            <a:spLocks xmlns:a="http://schemas.openxmlformats.org/drawingml/2006/main" noGrp="1"/>
          </p:cNvSpPr>
          <p:nvPr/>
        </p:nvSpPr>
        <p:spPr>
          <a:xfrm xmlns:a="http://schemas.openxmlformats.org/drawingml/2006/main">
            <a:off x="1390650" y="36576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BM25证据片段映射到原因</a:t>
            </a:r>
          </a:p>
        </p:txBody>
      </p:sp>
      <p:sp>
        <p:nvSpPr>
          <p:cNvPr id="16" name="">
            <a:extLst xmlns:a="http://schemas.openxmlformats.org/drawingml/2006/main">
              <a:ext uri="{FF2B5EF4-FFF2-40B4-BE49-F238E27FC236}">
                <a16:creationId xmlns:a16="http://schemas.microsoft.com/office/drawing/2014/main" id="{A5808214-5002-412F-BE41-D908A764A517}"/>
              </a:ext>
            </a:extLst>
          </p:cNvPr>
          <p:cNvSpPr>
            <a:spLocks xmlns:a="http://schemas.openxmlformats.org/drawingml/2006/main" noGrp="1"/>
          </p:cNvSpPr>
          <p:nvPr/>
        </p:nvSpPr>
        <p:spPr>
          <a:xfrm xmlns:a="http://schemas.openxmlformats.org/drawingml/2006/main">
            <a:off x="685800" y="4267200"/>
            <a:ext cx="4762500" cy="838200"/>
          </a:xfrm>
          <a:prstGeom xmlns:a="http://schemas.openxmlformats.org/drawingml/2006/main" prst="roundRect">
            <a:avLst>
              <a:gd name="adj" fmla="val 13636"/>
            </a:avLst>
          </a:prstGeom>
          <a:solidFill xmlns:a="http://schemas.openxmlformats.org/drawingml/2006/main">
            <a:srgbClr val="F4F7FA"/>
          </a:solidFill>
          <a:ln xmlns:a="http://schemas.openxmlformats.org/drawingml/2006/main" w="11430">
            <a:solidFill>
              <a:srgbClr val="D8E0E7"/>
            </a:solidFill>
            <a:prstDash val="solid"/>
          </a:ln>
        </p:spPr>
      </p:sp>
      <p:sp>
        <p:nvSpPr>
          <p:cNvPr id="17" name="">
            <a:extLst xmlns:a="http://schemas.openxmlformats.org/drawingml/2006/main">
              <a:ext uri="{FF2B5EF4-FFF2-40B4-BE49-F238E27FC236}">
                <a16:creationId xmlns:a16="http://schemas.microsoft.com/office/drawing/2014/main" id="{AF46E957-9905-4A79-B8E7-DF3F26517BAB}"/>
              </a:ext>
            </a:extLst>
          </p:cNvPr>
          <p:cNvSpPr>
            <a:spLocks xmlns:a="http://schemas.openxmlformats.org/drawingml/2006/main" noGrp="1"/>
          </p:cNvSpPr>
          <p:nvPr/>
        </p:nvSpPr>
        <p:spPr>
          <a:xfrm xmlns:a="http://schemas.openxmlformats.org/drawingml/2006/main">
            <a:off x="876300" y="44386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03</a:t>
            </a:r>
          </a:p>
        </p:txBody>
      </p:sp>
      <p:sp>
        <p:nvSpPr>
          <p:cNvPr id="18" name="">
            <a:extLst xmlns:a="http://schemas.openxmlformats.org/drawingml/2006/main">
              <a:ext uri="{FF2B5EF4-FFF2-40B4-BE49-F238E27FC236}">
                <a16:creationId xmlns:a16="http://schemas.microsoft.com/office/drawing/2014/main" id="{4C71DC8C-CD21-4FE7-B502-BA20BD297C5D}"/>
              </a:ext>
            </a:extLst>
          </p:cNvPr>
          <p:cNvSpPr>
            <a:spLocks xmlns:a="http://schemas.openxmlformats.org/drawingml/2006/main" noGrp="1"/>
          </p:cNvSpPr>
          <p:nvPr/>
        </p:nvSpPr>
        <p:spPr>
          <a:xfrm xmlns:a="http://schemas.openxmlformats.org/drawingml/2006/main">
            <a:off x="1390650" y="44005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E34A4A"/>
                </a:solidFill>
                <a:latin typeface="Hiragino Sans GB"/>
                <a:ea typeface="Hiragino Sans GB"/>
                <a:cs typeface="Hiragino Sans GB"/>
              </a:defRPr>
            </a:pPr>
            <a:r>
              <a:rPr sz="1275" b="1">
                <a:solidFill>
                  <a:srgbClr val="E34A4A"/>
                </a:solidFill>
                <a:latin typeface="Hiragino Sans GB"/>
                <a:ea typeface="Hiragino Sans GB"/>
                <a:cs typeface="Hiragino Sans GB"/>
              </a:rPr>
              <a:t>OBSERVATION_SUPPORTS</a:t>
            </a:r>
          </a:p>
        </p:txBody>
      </p:sp>
      <p:sp>
        <p:nvSpPr>
          <p:cNvPr id="19" name="">
            <a:extLst xmlns:a="http://schemas.openxmlformats.org/drawingml/2006/main">
              <a:ext uri="{FF2B5EF4-FFF2-40B4-BE49-F238E27FC236}">
                <a16:creationId xmlns:a16="http://schemas.microsoft.com/office/drawing/2014/main" id="{A98788CC-5EE5-4AB7-A17F-823D060D2824}"/>
              </a:ext>
            </a:extLst>
          </p:cNvPr>
          <p:cNvSpPr>
            <a:spLocks xmlns:a="http://schemas.openxmlformats.org/drawingml/2006/main" noGrp="1"/>
          </p:cNvSpPr>
          <p:nvPr/>
        </p:nvSpPr>
        <p:spPr>
          <a:xfrm xmlns:a="http://schemas.openxmlformats.org/drawingml/2006/main">
            <a:off x="4095750" y="4400550"/>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E34A4A"/>
                </a:solidFill>
                <a:latin typeface="Hiragino Sans GB"/>
                <a:ea typeface="Hiragino Sans GB"/>
                <a:cs typeface="Hiragino Sans GB"/>
              </a:defRPr>
            </a:pPr>
            <a:r>
              <a:rPr sz="1200" b="1">
                <a:solidFill>
                  <a:srgbClr val="E34A4A"/>
                </a:solidFill>
                <a:latin typeface="Hiragino Sans GB"/>
                <a:ea typeface="Hiragino Sans GB"/>
                <a:cs typeface="Hiragino Sans GB"/>
              </a:rPr>
              <a:t>更新原因概率</a:t>
            </a:r>
          </a:p>
        </p:txBody>
      </p:sp>
      <p:sp>
        <p:nvSpPr>
          <p:cNvPr id="20" name="">
            <a:extLst xmlns:a="http://schemas.openxmlformats.org/drawingml/2006/main">
              <a:ext uri="{FF2B5EF4-FFF2-40B4-BE49-F238E27FC236}">
                <a16:creationId xmlns:a16="http://schemas.microsoft.com/office/drawing/2014/main" id="{C00CB0F9-AF43-440B-BB3C-7E774DEB9A09}"/>
              </a:ext>
            </a:extLst>
          </p:cNvPr>
          <p:cNvSpPr>
            <a:spLocks xmlns:a="http://schemas.openxmlformats.org/drawingml/2006/main" noGrp="1"/>
          </p:cNvSpPr>
          <p:nvPr/>
        </p:nvSpPr>
        <p:spPr>
          <a:xfrm xmlns:a="http://schemas.openxmlformats.org/drawingml/2006/main">
            <a:off x="1390650" y="47244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保存 P(观察结果｜原因)</a:t>
            </a:r>
          </a:p>
        </p:txBody>
      </p:sp>
      <p:sp>
        <p:nvSpPr>
          <p:cNvPr id="21" name="">
            <a:extLst xmlns:a="http://schemas.openxmlformats.org/drawingml/2006/main">
              <a:ext uri="{FF2B5EF4-FFF2-40B4-BE49-F238E27FC236}">
                <a16:creationId xmlns:a16="http://schemas.microsoft.com/office/drawing/2014/main" id="{5A00F80B-67F3-4A1D-A56E-7300837E47AE}"/>
              </a:ext>
            </a:extLst>
          </p:cNvPr>
          <p:cNvSpPr>
            <a:spLocks xmlns:a="http://schemas.openxmlformats.org/drawingml/2006/main" noGrp="1"/>
          </p:cNvSpPr>
          <p:nvPr/>
        </p:nvSpPr>
        <p:spPr>
          <a:xfrm xmlns:a="http://schemas.openxmlformats.org/drawingml/2006/main">
            <a:off x="6572250" y="2038350"/>
            <a:ext cx="4095750" cy="876300"/>
          </a:xfrm>
          <a:prstGeom xmlns:a="http://schemas.openxmlformats.org/drawingml/2006/main" prst="roundRect">
            <a:avLst>
              <a:gd name="adj" fmla="val 17391"/>
            </a:avLst>
          </a:prstGeom>
          <a:solidFill xmlns:a="http://schemas.openxmlformats.org/drawingml/2006/main">
            <a:srgbClr val="FFF7E8"/>
          </a:solidFill>
          <a:ln xmlns:a="http://schemas.openxmlformats.org/drawingml/2006/main" w="11430">
            <a:solidFill>
              <a:srgbClr val="F59E0B"/>
            </a:solidFill>
            <a:prstDash val="solid"/>
          </a:ln>
        </p:spPr>
      </p:sp>
      <p:sp>
        <p:nvSpPr>
          <p:cNvPr id="22" name="">
            <a:extLst xmlns:a="http://schemas.openxmlformats.org/drawingml/2006/main">
              <a:ext uri="{FF2B5EF4-FFF2-40B4-BE49-F238E27FC236}">
                <a16:creationId xmlns:a16="http://schemas.microsoft.com/office/drawing/2014/main" id="{CBABA7E7-163C-439D-AE31-407B9AB27E4C}"/>
              </a:ext>
            </a:extLst>
          </p:cNvPr>
          <p:cNvSpPr>
            <a:spLocks xmlns:a="http://schemas.openxmlformats.org/drawingml/2006/main" noGrp="1"/>
          </p:cNvSpPr>
          <p:nvPr/>
        </p:nvSpPr>
        <p:spPr>
          <a:xfrm xmlns:a="http://schemas.openxmlformats.org/drawingml/2006/main">
            <a:off x="6743700" y="22098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问题</a:t>
            </a:r>
          </a:p>
        </p:txBody>
      </p:sp>
      <p:sp>
        <p:nvSpPr>
          <p:cNvPr id="23" name="">
            <a:extLst xmlns:a="http://schemas.openxmlformats.org/drawingml/2006/main">
              <a:ext uri="{FF2B5EF4-FFF2-40B4-BE49-F238E27FC236}">
                <a16:creationId xmlns:a16="http://schemas.microsoft.com/office/drawing/2014/main" id="{3C2D98F1-922D-4A90-A1B2-B6B2EFE2EDBE}"/>
              </a:ext>
            </a:extLst>
          </p:cNvPr>
          <p:cNvSpPr>
            <a:spLocks xmlns:a="http://schemas.openxmlformats.org/drawingml/2006/main" noGrp="1"/>
          </p:cNvSpPr>
          <p:nvPr/>
        </p:nvSpPr>
        <p:spPr>
          <a:xfrm xmlns:a="http://schemas.openxmlformats.org/drawingml/2006/main">
            <a:off x="6743700" y="2562225"/>
            <a:ext cx="375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宿主机正常，容器访问失败吗？</a:t>
            </a:r>
          </a:p>
        </p:txBody>
      </p:sp>
      <p:sp>
        <p:nvSpPr>
          <p:cNvPr id="24" name="">
            <a:extLst xmlns:a="http://schemas.openxmlformats.org/drawingml/2006/main">
              <a:ext uri="{FF2B5EF4-FFF2-40B4-BE49-F238E27FC236}">
                <a16:creationId xmlns:a16="http://schemas.microsoft.com/office/drawing/2014/main" id="{208B5CD7-F509-4A7C-A0A7-A5240B773620}"/>
              </a:ext>
            </a:extLst>
          </p:cNvPr>
          <p:cNvSpPr>
            <a:spLocks xmlns:a="http://schemas.openxmlformats.org/drawingml/2006/main" noGrp="1"/>
          </p:cNvSpPr>
          <p:nvPr/>
        </p:nvSpPr>
        <p:spPr>
          <a:xfrm xmlns:a="http://schemas.openxmlformats.org/drawingml/2006/main">
            <a:off x="6572250" y="3371850"/>
            <a:ext cx="409575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11430">
            <a:solidFill>
              <a:srgbClr val="E34A4A"/>
            </a:solidFill>
            <a:prstDash val="solid"/>
          </a:ln>
        </p:spPr>
      </p:sp>
      <p:sp>
        <p:nvSpPr>
          <p:cNvPr id="25" name="">
            <a:extLst xmlns:a="http://schemas.openxmlformats.org/drawingml/2006/main">
              <a:ext uri="{FF2B5EF4-FFF2-40B4-BE49-F238E27FC236}">
                <a16:creationId xmlns:a16="http://schemas.microsoft.com/office/drawing/2014/main" id="{6DD18BC1-9984-4D16-B815-F033C2D8939A}"/>
              </a:ext>
            </a:extLst>
          </p:cNvPr>
          <p:cNvSpPr>
            <a:spLocks xmlns:a="http://schemas.openxmlformats.org/drawingml/2006/main" noGrp="1"/>
          </p:cNvSpPr>
          <p:nvPr/>
        </p:nvSpPr>
        <p:spPr>
          <a:xfrm xmlns:a="http://schemas.openxmlformats.org/drawingml/2006/main">
            <a:off x="6743700" y="35433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观察</a:t>
            </a:r>
          </a:p>
        </p:txBody>
      </p:sp>
      <p:sp>
        <p:nvSpPr>
          <p:cNvPr id="26" name="">
            <a:extLst xmlns:a="http://schemas.openxmlformats.org/drawingml/2006/main">
              <a:ext uri="{FF2B5EF4-FFF2-40B4-BE49-F238E27FC236}">
                <a16:creationId xmlns:a16="http://schemas.microsoft.com/office/drawing/2014/main" id="{23D223AD-CE63-4E8A-8E81-711B31532274}"/>
              </a:ext>
            </a:extLst>
          </p:cNvPr>
          <p:cNvSpPr>
            <a:spLocks xmlns:a="http://schemas.openxmlformats.org/drawingml/2006/main" noGrp="1"/>
          </p:cNvSpPr>
          <p:nvPr/>
        </p:nvSpPr>
        <p:spPr>
          <a:xfrm xmlns:a="http://schemas.openxmlformats.org/drawingml/2006/main">
            <a:off x="6743700" y="3895725"/>
            <a:ext cx="375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用户回答：是</a:t>
            </a:r>
          </a:p>
        </p:txBody>
      </p:sp>
      <p:sp>
        <p:nvSpPr>
          <p:cNvPr id="27" name="">
            <a:extLst xmlns:a="http://schemas.openxmlformats.org/drawingml/2006/main">
              <a:ext uri="{FF2B5EF4-FFF2-40B4-BE49-F238E27FC236}">
                <a16:creationId xmlns:a16="http://schemas.microsoft.com/office/drawing/2014/main" id="{BC2D2546-A8AC-4E9B-BCD3-FD58333D610F}"/>
              </a:ext>
            </a:extLst>
          </p:cNvPr>
          <p:cNvSpPr>
            <a:spLocks xmlns:a="http://schemas.openxmlformats.org/drawingml/2006/main" noGrp="1"/>
          </p:cNvSpPr>
          <p:nvPr/>
        </p:nvSpPr>
        <p:spPr>
          <a:xfrm xmlns:a="http://schemas.openxmlformats.org/drawingml/2006/main">
            <a:off x="6572250" y="4705350"/>
            <a:ext cx="4095750" cy="876300"/>
          </a:xfrm>
          <a:prstGeom xmlns:a="http://schemas.openxmlformats.org/drawingml/2006/main" prst="roundRect">
            <a:avLst>
              <a:gd name="adj" fmla="val 17391"/>
            </a:avLst>
          </a:prstGeom>
          <a:solidFill xmlns:a="http://schemas.openxmlformats.org/drawingml/2006/main">
            <a:srgbClr val="EEF5FF"/>
          </a:solidFill>
          <a:ln xmlns:a="http://schemas.openxmlformats.org/drawingml/2006/main" w="11430">
            <a:solidFill>
              <a:srgbClr val="1F5FBF"/>
            </a:solidFill>
            <a:prstDash val="solid"/>
          </a:ln>
        </p:spPr>
      </p:sp>
      <p:sp>
        <p:nvSpPr>
          <p:cNvPr id="28" name="">
            <a:extLst xmlns:a="http://schemas.openxmlformats.org/drawingml/2006/main">
              <a:ext uri="{FF2B5EF4-FFF2-40B4-BE49-F238E27FC236}">
                <a16:creationId xmlns:a16="http://schemas.microsoft.com/office/drawing/2014/main" id="{403BE879-E66B-4477-BEFF-69CF199640C9}"/>
              </a:ext>
            </a:extLst>
          </p:cNvPr>
          <p:cNvSpPr>
            <a:spLocks xmlns:a="http://schemas.openxmlformats.org/drawingml/2006/main" noGrp="1"/>
          </p:cNvSpPr>
          <p:nvPr/>
        </p:nvSpPr>
        <p:spPr>
          <a:xfrm xmlns:a="http://schemas.openxmlformats.org/drawingml/2006/main">
            <a:off x="6743700" y="4876800"/>
            <a:ext cx="375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原因概率</a:t>
            </a:r>
          </a:p>
        </p:txBody>
      </p:sp>
      <p:sp>
        <p:nvSpPr>
          <p:cNvPr id="29" name="">
            <a:extLst xmlns:a="http://schemas.openxmlformats.org/drawingml/2006/main">
              <a:ext uri="{FF2B5EF4-FFF2-40B4-BE49-F238E27FC236}">
                <a16:creationId xmlns:a16="http://schemas.microsoft.com/office/drawing/2014/main" id="{C1926653-2DC8-4CA2-8AFE-CCC6885B56A8}"/>
              </a:ext>
            </a:extLst>
          </p:cNvPr>
          <p:cNvSpPr>
            <a:spLocks xmlns:a="http://schemas.openxmlformats.org/drawingml/2006/main" noGrp="1"/>
          </p:cNvSpPr>
          <p:nvPr/>
        </p:nvSpPr>
        <p:spPr>
          <a:xfrm xmlns:a="http://schemas.openxmlformats.org/drawingml/2006/main">
            <a:off x="6743700" y="5229225"/>
            <a:ext cx="375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服务地址配置错误  56.0% → 95.2%</a:t>
            </a:r>
          </a:p>
        </p:txBody>
      </p:sp>
      <p:cxnSp>
        <p:nvCxnSpPr>
          <p:cNvPr id="63" name=""/>
          <p:cNvCxnSpPr>
            <a:stCxn xmlns:a="http://schemas.openxmlformats.org/drawingml/2006/main" id="21" idx="2"/>
            <a:endCxn xmlns:a="http://schemas.openxmlformats.org/drawingml/2006/main" id="24" idx="0"/>
          </p:cNvCxnSpPr>
          <p:nvPr/>
        </p:nvCxnSpPr>
        <p:spPr>
          <a:xfrm xmlns:a="http://schemas.openxmlformats.org/drawingml/2006/main">
            <a:off x="8620125" y="2914650"/>
            <a:ext cx="0" cy="457200"/>
          </a:xfrm>
          <a:prstGeom xmlns:a="http://schemas.openxmlformats.org/drawingml/2006/main" prst="straightConnector1">
            <a:avLst/>
          </a:prstGeom>
          <a:ln xmlns:a="http://schemas.openxmlformats.org/drawingml/2006/main" w="19050">
            <a:solidFill>
              <a:srgbClr val="E34A4A"/>
            </a:solidFill>
            <a:prstDash val="solid"/>
            <a:tailEnd type="triangle" w="sm" len="sm"/>
          </a:ln>
        </p:spPr>
      </p:cxnSp>
      <p:cxnSp>
        <p:nvCxnSpPr>
          <p:cNvPr id="64" name=""/>
          <p:cNvCxnSpPr>
            <a:stCxn xmlns:a="http://schemas.openxmlformats.org/drawingml/2006/main" id="24" idx="2"/>
            <a:endCxn xmlns:a="http://schemas.openxmlformats.org/drawingml/2006/main" id="27" idx="0"/>
          </p:cNvCxnSpPr>
          <p:nvPr/>
        </p:nvCxnSpPr>
        <p:spPr>
          <a:xfrm xmlns:a="http://schemas.openxmlformats.org/drawingml/2006/main">
            <a:off x="8620125" y="4248150"/>
            <a:ext cx="0" cy="457200"/>
          </a:xfrm>
          <a:prstGeom xmlns:a="http://schemas.openxmlformats.org/drawingml/2006/main" prst="straightConnector1">
            <a:avLst/>
          </a:prstGeom>
          <a:ln xmlns:a="http://schemas.openxmlformats.org/drawingml/2006/main" w="19050">
            <a:solidFill>
              <a:srgbClr val="E34A4A"/>
            </a:solidFill>
            <a:prstDash val="solid"/>
            <a:tailEnd type="triangle" w="sm" len="sm"/>
          </a:ln>
        </p:spPr>
      </p:cxnSp>
      <p:sp>
        <p:nvSpPr>
          <p:cNvPr id="32" name="">
            <a:extLst xmlns:a="http://schemas.openxmlformats.org/drawingml/2006/main">
              <a:ext uri="{FF2B5EF4-FFF2-40B4-BE49-F238E27FC236}">
                <a16:creationId xmlns:a16="http://schemas.microsoft.com/office/drawing/2014/main" id="{EF6A1637-CD8A-4323-BA5A-91E7F25F6716}"/>
              </a:ext>
            </a:extLst>
          </p:cNvPr>
          <p:cNvSpPr>
            <a:spLocks xmlns:a="http://schemas.openxmlformats.org/drawingml/2006/main" noGrp="1"/>
          </p:cNvSpPr>
          <p:nvPr/>
        </p:nvSpPr>
        <p:spPr>
          <a:xfrm xmlns:a="http://schemas.openxmlformats.org/drawingml/2006/main">
            <a:off x="10744200" y="369570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E34A4A"/>
                </a:solidFill>
                <a:latin typeface="Hiragino Sans GB"/>
                <a:ea typeface="Hiragino Sans GB"/>
                <a:cs typeface="Hiragino Sans GB"/>
              </a:defRPr>
            </a:pPr>
            <a:r>
              <a:rPr sz="975" b="1">
                <a:solidFill>
                  <a:srgbClr val="E34A4A"/>
                </a:solidFill>
                <a:latin typeface="Hiragino Sans GB"/>
                <a:ea typeface="Hiragino Sans GB"/>
                <a:cs typeface="Hiragino Sans GB"/>
              </a:rPr>
              <a:t>读取条件概率</a:t>
            </a:r>
          </a:p>
        </p:txBody>
      </p:sp>
      <p:sp>
        <p:nvSpPr>
          <p:cNvPr id="33" name="">
            <a:extLst xmlns:a="http://schemas.openxmlformats.org/drawingml/2006/main">
              <a:ext uri="{FF2B5EF4-FFF2-40B4-BE49-F238E27FC236}">
                <a16:creationId xmlns:a16="http://schemas.microsoft.com/office/drawing/2014/main" id="{A178381A-51D7-4CCB-B287-AF2742B7C477}"/>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oundRect">
            <a:avLst>
              <a:gd name="adj" fmla="val 21739"/>
            </a:avLst>
          </a:prstGeom>
          <a:solidFill xmlns:a="http://schemas.openxmlformats.org/drawingml/2006/main">
            <a:srgbClr val="EEF5FF"/>
          </a:solidFill>
          <a:ln xmlns:a="http://schemas.openxmlformats.org/drawingml/2006/main" w="11430">
            <a:solidFill>
              <a:srgbClr val="1F5F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回答进入图谱后：新增 Observation  →  贝叶斯更新  →  原因重排  →  选择下一问</a:t>
            </a:r>
          </a:p>
        </p:txBody>
      </p:sp>
    </p:spTree>
    <p:extLst>
      <p:ext uri="{BB962C8B-B14F-4D97-AF65-F5344CB8AC3E}">
        <p14:creationId xmlns:p14="http://schemas.microsoft.com/office/powerpoint/2010/main" val="15279572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F2D21B-5AFF-43D8-A233-457861A4B2D8}"/>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72CD58A2-4009-46B5-8077-C31B2292B970}"/>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真实案例驱动的因果参数校准</a:t>
            </a:r>
          </a:p>
        </p:txBody>
      </p:sp>
      <p:sp>
        <p:nvSpPr>
          <p:cNvPr id="3" name="">
            <a:extLst xmlns:a="http://schemas.openxmlformats.org/drawingml/2006/main">
              <a:ext uri="{FF2B5EF4-FFF2-40B4-BE49-F238E27FC236}">
                <a16:creationId xmlns:a16="http://schemas.microsoft.com/office/drawing/2014/main" id="{7B3CF8BF-BF81-4B89-B570-3F0A7AE7E633}"/>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05</a:t>
            </a:r>
          </a:p>
        </p:txBody>
      </p:sp>
      <p:sp>
        <p:nvSpPr>
          <p:cNvPr id="4" name="">
            <a:extLst xmlns:a="http://schemas.openxmlformats.org/drawingml/2006/main">
              <a:ext uri="{FF2B5EF4-FFF2-40B4-BE49-F238E27FC236}">
                <a16:creationId xmlns:a16="http://schemas.microsoft.com/office/drawing/2014/main" id="{293EDC5A-2EFE-430B-860E-867B37AB5EC7}"/>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92ECF417-6A39-49C5-B935-8A6BC710D145}"/>
              </a:ext>
            </a:extLst>
          </p:cNvPr>
          <p:cNvSpPr>
            <a:spLocks xmlns:a="http://schemas.openxmlformats.org/drawingml/2006/main" noGrp="1"/>
          </p:cNvSpPr>
          <p:nvPr/>
        </p:nvSpPr>
        <p:spPr>
          <a:xfrm xmlns:a="http://schemas.openxmlformats.org/drawingml/2006/main">
            <a:off x="685800" y="15049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42735"/>
                </a:solidFill>
                <a:latin typeface="Hiragino Sans GB"/>
                <a:ea typeface="Hiragino Sans GB"/>
                <a:cs typeface="Hiragino Sans GB"/>
              </a:defRPr>
            </a:pPr>
            <a:r>
              <a:rPr sz="1575" b="1">
                <a:solidFill>
                  <a:srgbClr val="142735"/>
                </a:solidFill>
                <a:latin typeface="Hiragino Sans GB"/>
                <a:ea typeface="Hiragino Sans GB"/>
                <a:cs typeface="Hiragino Sans GB"/>
              </a:rPr>
              <a:t>28条确认根因的开发案例用于发现稳定混淆，再修改图谱中的条件概率与诊断问题。</a:t>
            </a:r>
          </a:p>
        </p:txBody>
      </p:sp>
      <p:sp>
        <p:nvSpPr>
          <p:cNvPr id="6" name="">
            <a:extLst xmlns:a="http://schemas.openxmlformats.org/drawingml/2006/main">
              <a:ext uri="{FF2B5EF4-FFF2-40B4-BE49-F238E27FC236}">
                <a16:creationId xmlns:a16="http://schemas.microsoft.com/office/drawing/2014/main" id="{19617AE8-84B8-45F8-8CA1-73B4EEC3B345}"/>
              </a:ext>
            </a:extLst>
          </p:cNvPr>
          <p:cNvSpPr>
            <a:spLocks xmlns:a="http://schemas.openxmlformats.org/drawingml/2006/main" noGrp="1"/>
          </p:cNvSpPr>
          <p:nvPr/>
        </p:nvSpPr>
        <p:spPr>
          <a:xfrm xmlns:a="http://schemas.openxmlformats.org/drawingml/2006/main">
            <a:off x="685800" y="21336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E34A4A"/>
                </a:solidFill>
                <a:latin typeface="Hiragino Sans GB"/>
                <a:ea typeface="Hiragino Sans GB"/>
                <a:cs typeface="Hiragino Sans GB"/>
              </a:defRPr>
            </a:pPr>
            <a:r>
              <a:rPr sz="1425" b="1">
                <a:solidFill>
                  <a:srgbClr val="E34A4A"/>
                </a:solidFill>
                <a:latin typeface="Hiragino Sans GB"/>
                <a:ea typeface="Hiragino Sans GB"/>
                <a:cs typeface="Hiragino Sans GB"/>
              </a:rPr>
              <a:t>案例暴露的问题</a:t>
            </a:r>
          </a:p>
        </p:txBody>
      </p:sp>
      <p:sp>
        <p:nvSpPr>
          <p:cNvPr id="7" name="">
            <a:extLst xmlns:a="http://schemas.openxmlformats.org/drawingml/2006/main">
              <a:ext uri="{FF2B5EF4-FFF2-40B4-BE49-F238E27FC236}">
                <a16:creationId xmlns:a16="http://schemas.microsoft.com/office/drawing/2014/main" id="{F111C5B2-E520-47A0-BDA8-AF7B2D7B8BE6}"/>
              </a:ext>
            </a:extLst>
          </p:cNvPr>
          <p:cNvSpPr>
            <a:spLocks xmlns:a="http://schemas.openxmlformats.org/drawingml/2006/main" noGrp="1"/>
          </p:cNvSpPr>
          <p:nvPr/>
        </p:nvSpPr>
        <p:spPr>
          <a:xfrm xmlns:a="http://schemas.openxmlformats.org/drawingml/2006/main">
            <a:off x="685800" y="2571750"/>
            <a:ext cx="4171950" cy="1066800"/>
          </a:xfrm>
          <a:prstGeom xmlns:a="http://schemas.openxmlformats.org/drawingml/2006/main" prst="roundRect">
            <a:avLst>
              <a:gd name="adj" fmla="val 10714"/>
            </a:avLst>
          </a:prstGeom>
          <a:solidFill xmlns:a="http://schemas.openxmlformats.org/drawingml/2006/main">
            <a:srgbClr val="FFF0F0"/>
          </a:solidFill>
          <a:ln xmlns:a="http://schemas.openxmlformats.org/drawingml/2006/main" w="11430">
            <a:solidFill>
              <a:srgbClr val="E34A4A"/>
            </a:solidFill>
            <a:prstDash val="solid"/>
          </a:ln>
        </p:spPr>
      </p:sp>
      <p:sp>
        <p:nvSpPr>
          <p:cNvPr id="8" name="">
            <a:extLst xmlns:a="http://schemas.openxmlformats.org/drawingml/2006/main">
              <a:ext uri="{FF2B5EF4-FFF2-40B4-BE49-F238E27FC236}">
                <a16:creationId xmlns:a16="http://schemas.microsoft.com/office/drawing/2014/main" id="{29B65FBE-C024-409E-B596-754997F233A9}"/>
              </a:ext>
            </a:extLst>
          </p:cNvPr>
          <p:cNvSpPr>
            <a:spLocks xmlns:a="http://schemas.openxmlformats.org/drawingml/2006/main" noGrp="1"/>
          </p:cNvSpPr>
          <p:nvPr/>
        </p:nvSpPr>
        <p:spPr>
          <a:xfrm xmlns:a="http://schemas.openxmlformats.org/drawingml/2006/main">
            <a:off x="895350" y="2752725"/>
            <a:ext cx="361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版本不兼容被误判</a:t>
            </a:r>
          </a:p>
        </p:txBody>
      </p:sp>
      <p:sp>
        <p:nvSpPr>
          <p:cNvPr id="9" name="">
            <a:extLst xmlns:a="http://schemas.openxmlformats.org/drawingml/2006/main">
              <a:ext uri="{FF2B5EF4-FFF2-40B4-BE49-F238E27FC236}">
                <a16:creationId xmlns:a16="http://schemas.microsoft.com/office/drawing/2014/main" id="{F4365963-97EC-4A9B-9FCA-C942EC5A9CCE}"/>
              </a:ext>
            </a:extLst>
          </p:cNvPr>
          <p:cNvSpPr>
            <a:spLocks xmlns:a="http://schemas.openxmlformats.org/drawingml/2006/main" noGrp="1"/>
          </p:cNvSpPr>
          <p:nvPr/>
        </p:nvSpPr>
        <p:spPr>
          <a:xfrm xmlns:a="http://schemas.openxmlformats.org/drawingml/2006/main">
            <a:off x="895350" y="3124200"/>
            <a:ext cx="3695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0">
                <a:solidFill>
                  <a:srgbClr val="5B6B78"/>
                </a:solidFill>
                <a:latin typeface="Hiragino Sans GB"/>
                <a:ea typeface="Hiragino Sans GB"/>
                <a:cs typeface="Hiragino Sans GB"/>
              </a:defRPr>
            </a:pPr>
            <a:r>
              <a:rPr sz="1275" b="0">
                <a:solidFill>
                  <a:srgbClr val="5B6B78"/>
                </a:solidFill>
                <a:latin typeface="Hiragino Sans GB"/>
                <a:ea typeface="Hiragino Sans GB"/>
                <a:cs typeface="Hiragino Sans GB"/>
              </a:rPr>
              <a:t>原设 P（包可见｜版本不兼容）= 0.80</a:t>
            </a:r>
          </a:p>
        </p:txBody>
      </p:sp>
      <p:sp>
        <p:nvSpPr>
          <p:cNvPr id="10" name="">
            <a:extLst xmlns:a="http://schemas.openxmlformats.org/drawingml/2006/main">
              <a:ext uri="{FF2B5EF4-FFF2-40B4-BE49-F238E27FC236}">
                <a16:creationId xmlns:a16="http://schemas.microsoft.com/office/drawing/2014/main" id="{7D9C6D4C-AE53-4EFF-991B-E6764B7252E6}"/>
              </a:ext>
            </a:extLst>
          </p:cNvPr>
          <p:cNvSpPr>
            <a:spLocks xmlns:a="http://schemas.openxmlformats.org/drawingml/2006/main" noGrp="1"/>
          </p:cNvSpPr>
          <p:nvPr/>
        </p:nvSpPr>
        <p:spPr>
          <a:xfrm xmlns:a="http://schemas.openxmlformats.org/drawingml/2006/main">
            <a:off x="685800" y="3905250"/>
            <a:ext cx="4171950" cy="1066800"/>
          </a:xfrm>
          <a:prstGeom xmlns:a="http://schemas.openxmlformats.org/drawingml/2006/main" prst="roundRect">
            <a:avLst>
              <a:gd name="adj" fmla="val 10714"/>
            </a:avLst>
          </a:prstGeom>
          <a:solidFill xmlns:a="http://schemas.openxmlformats.org/drawingml/2006/main">
            <a:srgbClr val="FFF0F0"/>
          </a:solidFill>
          <a:ln xmlns:a="http://schemas.openxmlformats.org/drawingml/2006/main" w="11430">
            <a:solidFill>
              <a:srgbClr val="E34A4A"/>
            </a:solidFill>
            <a:prstDash val="solid"/>
          </a:ln>
        </p:spPr>
      </p:sp>
      <p:sp>
        <p:nvSpPr>
          <p:cNvPr id="11" name="">
            <a:extLst xmlns:a="http://schemas.openxmlformats.org/drawingml/2006/main">
              <a:ext uri="{FF2B5EF4-FFF2-40B4-BE49-F238E27FC236}">
                <a16:creationId xmlns:a16="http://schemas.microsoft.com/office/drawing/2014/main" id="{A321B680-8EEC-4964-AD82-180777A48308}"/>
              </a:ext>
            </a:extLst>
          </p:cNvPr>
          <p:cNvSpPr>
            <a:spLocks xmlns:a="http://schemas.openxmlformats.org/drawingml/2006/main" noGrp="1"/>
          </p:cNvSpPr>
          <p:nvPr/>
        </p:nvSpPr>
        <p:spPr>
          <a:xfrm xmlns:a="http://schemas.openxmlformats.org/drawingml/2006/main">
            <a:off x="895350" y="408622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地址错误与服务停止难以区分</a:t>
            </a:r>
          </a:p>
        </p:txBody>
      </p:sp>
      <p:sp>
        <p:nvSpPr>
          <p:cNvPr id="12" name="">
            <a:extLst xmlns:a="http://schemas.openxmlformats.org/drawingml/2006/main">
              <a:ext uri="{FF2B5EF4-FFF2-40B4-BE49-F238E27FC236}">
                <a16:creationId xmlns:a16="http://schemas.microsoft.com/office/drawing/2014/main" id="{83B8998C-86F6-4C9E-BFDF-6BCBE71A2744}"/>
              </a:ext>
            </a:extLst>
          </p:cNvPr>
          <p:cNvSpPr>
            <a:spLocks xmlns:a="http://schemas.openxmlformats.org/drawingml/2006/main" noGrp="1"/>
          </p:cNvSpPr>
          <p:nvPr/>
        </p:nvSpPr>
        <p:spPr>
          <a:xfrm xmlns:a="http://schemas.openxmlformats.org/drawingml/2006/main">
            <a:off x="895350" y="4438650"/>
            <a:ext cx="3695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B6B78"/>
                </a:solidFill>
                <a:latin typeface="Hiragino Sans GB"/>
                <a:ea typeface="Hiragino Sans GB"/>
                <a:cs typeface="Hiragino Sans GB"/>
              </a:defRPr>
            </a:pPr>
            <a:r>
              <a:rPr sz="1200" b="0">
                <a:solidFill>
                  <a:srgbClr val="5B6B78"/>
                </a:solidFill>
                <a:latin typeface="Hiragino Sans GB"/>
                <a:ea typeface="Hiragino Sans GB"/>
                <a:cs typeface="Hiragino Sans GB"/>
              </a:rPr>
              <a:t>原有健康检查没有表达“目标主机本机是否可达”</a:t>
            </a:r>
          </a:p>
        </p:txBody>
      </p:sp>
      <p:sp>
        <p:nvSpPr>
          <p:cNvPr id="13" name="">
            <a:extLst xmlns:a="http://schemas.openxmlformats.org/drawingml/2006/main">
              <a:ext uri="{FF2B5EF4-FFF2-40B4-BE49-F238E27FC236}">
                <a16:creationId xmlns:a16="http://schemas.microsoft.com/office/drawing/2014/main" id="{0370D294-A627-438D-9EB4-30A76FA722B6}"/>
              </a:ext>
            </a:extLst>
          </p:cNvPr>
          <p:cNvSpPr>
            <a:spLocks xmlns:a="http://schemas.openxmlformats.org/drawingml/2006/main" noGrp="1"/>
          </p:cNvSpPr>
          <p:nvPr/>
        </p:nvSpPr>
        <p:spPr>
          <a:xfrm xmlns:a="http://schemas.openxmlformats.org/drawingml/2006/main">
            <a:off x="5105400" y="3105150"/>
            <a:ext cx="876300" cy="0"/>
          </a:xfrm>
          <a:prstGeom xmlns:a="http://schemas.openxmlformats.org/drawingml/2006/main" prst="line">
            <a:avLst/>
          </a:prstGeom>
          <a:noFill xmlns:a="http://schemas.openxmlformats.org/drawingml/2006/main"/>
          <a:ln xmlns:a="http://schemas.openxmlformats.org/drawingml/2006/main" w="20955">
            <a:solidFill>
              <a:srgbClr val="1F5FBF"/>
            </a:solidFill>
            <a:prstDash val="solid"/>
          </a:ln>
        </p:spPr>
      </p:sp>
      <p:sp>
        <p:nvSpPr>
          <p:cNvPr id="14" name="">
            <a:extLst xmlns:a="http://schemas.openxmlformats.org/drawingml/2006/main">
              <a:ext uri="{FF2B5EF4-FFF2-40B4-BE49-F238E27FC236}">
                <a16:creationId xmlns:a16="http://schemas.microsoft.com/office/drawing/2014/main" id="{9E83666A-43A5-44B8-959B-BBDC562DE98D}"/>
              </a:ext>
            </a:extLst>
          </p:cNvPr>
          <p:cNvSpPr>
            <a:spLocks xmlns:a="http://schemas.openxmlformats.org/drawingml/2006/main" noGrp="1"/>
          </p:cNvSpPr>
          <p:nvPr/>
        </p:nvSpPr>
        <p:spPr>
          <a:xfrm xmlns:a="http://schemas.openxmlformats.org/drawingml/2006/main">
            <a:off x="5105400" y="4438650"/>
            <a:ext cx="876300" cy="0"/>
          </a:xfrm>
          <a:prstGeom xmlns:a="http://schemas.openxmlformats.org/drawingml/2006/main" prst="line">
            <a:avLst/>
          </a:prstGeom>
          <a:noFill xmlns:a="http://schemas.openxmlformats.org/drawingml/2006/main"/>
          <a:ln xmlns:a="http://schemas.openxmlformats.org/drawingml/2006/main" w="20955">
            <a:solidFill>
              <a:srgbClr val="1F5FBF"/>
            </a:solidFill>
            <a:prstDash val="solid"/>
          </a:ln>
        </p:spPr>
      </p:sp>
      <p:sp>
        <p:nvSpPr>
          <p:cNvPr id="15" name="">
            <a:extLst xmlns:a="http://schemas.openxmlformats.org/drawingml/2006/main">
              <a:ext uri="{FF2B5EF4-FFF2-40B4-BE49-F238E27FC236}">
                <a16:creationId xmlns:a16="http://schemas.microsoft.com/office/drawing/2014/main" id="{58171112-5283-4CA5-9850-4B83AAE08FB7}"/>
              </a:ext>
            </a:extLst>
          </p:cNvPr>
          <p:cNvSpPr>
            <a:spLocks xmlns:a="http://schemas.openxmlformats.org/drawingml/2006/main" noGrp="1"/>
          </p:cNvSpPr>
          <p:nvPr/>
        </p:nvSpPr>
        <p:spPr>
          <a:xfrm xmlns:a="http://schemas.openxmlformats.org/drawingml/2006/main">
            <a:off x="5124450" y="27051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案例校准</a:t>
            </a:r>
          </a:p>
        </p:txBody>
      </p:sp>
      <p:sp>
        <p:nvSpPr>
          <p:cNvPr id="16" name="">
            <a:extLst xmlns:a="http://schemas.openxmlformats.org/drawingml/2006/main">
              <a:ext uri="{FF2B5EF4-FFF2-40B4-BE49-F238E27FC236}">
                <a16:creationId xmlns:a16="http://schemas.microsoft.com/office/drawing/2014/main" id="{79D3B29E-53F4-4D9C-8DF8-E4F31F0BC2F6}"/>
              </a:ext>
            </a:extLst>
          </p:cNvPr>
          <p:cNvSpPr>
            <a:spLocks xmlns:a="http://schemas.openxmlformats.org/drawingml/2006/main" noGrp="1"/>
          </p:cNvSpPr>
          <p:nvPr/>
        </p:nvSpPr>
        <p:spPr>
          <a:xfrm xmlns:a="http://schemas.openxmlformats.org/drawingml/2006/main">
            <a:off x="5124450" y="40386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结构扩展</a:t>
            </a:r>
          </a:p>
        </p:txBody>
      </p:sp>
      <p:sp>
        <p:nvSpPr>
          <p:cNvPr id="17" name="">
            <a:extLst xmlns:a="http://schemas.openxmlformats.org/drawingml/2006/main">
              <a:ext uri="{FF2B5EF4-FFF2-40B4-BE49-F238E27FC236}">
                <a16:creationId xmlns:a16="http://schemas.microsoft.com/office/drawing/2014/main" id="{E43A75A5-DE1A-4B62-9527-AF545303143E}"/>
              </a:ext>
            </a:extLst>
          </p:cNvPr>
          <p:cNvSpPr>
            <a:spLocks xmlns:a="http://schemas.openxmlformats.org/drawingml/2006/main" noGrp="1"/>
          </p:cNvSpPr>
          <p:nvPr/>
        </p:nvSpPr>
        <p:spPr>
          <a:xfrm xmlns:a="http://schemas.openxmlformats.org/drawingml/2006/main">
            <a:off x="6267450" y="21336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F5FBF"/>
                </a:solidFill>
                <a:latin typeface="Hiragino Sans GB"/>
                <a:ea typeface="Hiragino Sans GB"/>
                <a:cs typeface="Hiragino Sans GB"/>
              </a:defRPr>
            </a:pPr>
            <a:r>
              <a:rPr sz="1425" b="1">
                <a:solidFill>
                  <a:srgbClr val="1F5FBF"/>
                </a:solidFill>
                <a:latin typeface="Hiragino Sans GB"/>
                <a:ea typeface="Hiragino Sans GB"/>
                <a:cs typeface="Hiragino Sans GB"/>
              </a:rPr>
              <a:t>图谱中的修改</a:t>
            </a:r>
          </a:p>
        </p:txBody>
      </p:sp>
      <p:sp>
        <p:nvSpPr>
          <p:cNvPr id="18" name="">
            <a:extLst xmlns:a="http://schemas.openxmlformats.org/drawingml/2006/main">
              <a:ext uri="{FF2B5EF4-FFF2-40B4-BE49-F238E27FC236}">
                <a16:creationId xmlns:a16="http://schemas.microsoft.com/office/drawing/2014/main" id="{F6520EE4-645A-49C2-8321-7C7A361C8792}"/>
              </a:ext>
            </a:extLst>
          </p:cNvPr>
          <p:cNvSpPr>
            <a:spLocks xmlns:a="http://schemas.openxmlformats.org/drawingml/2006/main" noGrp="1"/>
          </p:cNvSpPr>
          <p:nvPr/>
        </p:nvSpPr>
        <p:spPr>
          <a:xfrm xmlns:a="http://schemas.openxmlformats.org/drawingml/2006/main">
            <a:off x="6267450" y="2571750"/>
            <a:ext cx="5238750" cy="1066800"/>
          </a:xfrm>
          <a:prstGeom xmlns:a="http://schemas.openxmlformats.org/drawingml/2006/main" prst="roundRect">
            <a:avLst>
              <a:gd name="adj" fmla="val 10714"/>
            </a:avLst>
          </a:prstGeom>
          <a:solidFill xmlns:a="http://schemas.openxmlformats.org/drawingml/2006/main">
            <a:srgbClr val="EEF5FF"/>
          </a:solidFill>
          <a:ln xmlns:a="http://schemas.openxmlformats.org/drawingml/2006/main" w="11430">
            <a:solidFill>
              <a:srgbClr val="1F5FBF"/>
            </a:solidFill>
            <a:prstDash val="solid"/>
          </a:ln>
        </p:spPr>
      </p:sp>
      <p:sp>
        <p:nvSpPr>
          <p:cNvPr id="19" name="">
            <a:extLst xmlns:a="http://schemas.openxmlformats.org/drawingml/2006/main">
              <a:ext uri="{FF2B5EF4-FFF2-40B4-BE49-F238E27FC236}">
                <a16:creationId xmlns:a16="http://schemas.microsoft.com/office/drawing/2014/main" id="{7E835AEE-42ED-411E-BAC2-27C0A0EBE773}"/>
              </a:ext>
            </a:extLst>
          </p:cNvPr>
          <p:cNvSpPr>
            <a:spLocks xmlns:a="http://schemas.openxmlformats.org/drawingml/2006/main" noGrp="1"/>
          </p:cNvSpPr>
          <p:nvPr/>
        </p:nvSpPr>
        <p:spPr>
          <a:xfrm xmlns:a="http://schemas.openxmlformats.org/drawingml/2006/main">
            <a:off x="6515100" y="278130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5B6B78"/>
                </a:solidFill>
                <a:latin typeface="Hiragino Sans GB"/>
                <a:ea typeface="Hiragino Sans GB"/>
                <a:cs typeface="Hiragino Sans GB"/>
              </a:defRPr>
            </a:pPr>
            <a:r>
              <a:rPr sz="2100" b="1">
                <a:solidFill>
                  <a:srgbClr val="5B6B78"/>
                </a:solidFill>
                <a:latin typeface="Hiragino Sans GB"/>
                <a:ea typeface="Hiragino Sans GB"/>
                <a:cs typeface="Hiragino Sans GB"/>
              </a:rPr>
              <a:t>0.80</a:t>
            </a:r>
          </a:p>
        </p:txBody>
      </p:sp>
      <p:sp>
        <p:nvSpPr>
          <p:cNvPr id="20" name="">
            <a:extLst xmlns:a="http://schemas.openxmlformats.org/drawingml/2006/main">
              <a:ext uri="{FF2B5EF4-FFF2-40B4-BE49-F238E27FC236}">
                <a16:creationId xmlns:a16="http://schemas.microsoft.com/office/drawing/2014/main" id="{4445B327-7EE2-42DE-8692-8F985303E0D2}"/>
              </a:ext>
            </a:extLst>
          </p:cNvPr>
          <p:cNvSpPr>
            <a:spLocks xmlns:a="http://schemas.openxmlformats.org/drawingml/2006/main" noGrp="1"/>
          </p:cNvSpPr>
          <p:nvPr/>
        </p:nvSpPr>
        <p:spPr>
          <a:xfrm xmlns:a="http://schemas.openxmlformats.org/drawingml/2006/main">
            <a:off x="7505700" y="279082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025" b="1">
                <a:solidFill>
                  <a:srgbClr val="1F5FBF"/>
                </a:solidFill>
                <a:latin typeface="Hiragino Sans GB"/>
                <a:ea typeface="Hiragino Sans GB"/>
                <a:cs typeface="Hiragino Sans GB"/>
              </a:defRPr>
            </a:pPr>
            <a:r>
              <a:rPr sz="2025" b="1">
                <a:solidFill>
                  <a:srgbClr val="1F5FBF"/>
                </a:solidFill>
                <a:latin typeface="Hiragino Sans GB"/>
                <a:ea typeface="Hiragino Sans GB"/>
                <a:cs typeface="Hiragino Sans GB"/>
              </a:rPr>
              <a:t>→</a:t>
            </a:r>
          </a:p>
        </p:txBody>
      </p:sp>
      <p:sp>
        <p:nvSpPr>
          <p:cNvPr id="21" name="">
            <a:extLst xmlns:a="http://schemas.openxmlformats.org/drawingml/2006/main">
              <a:ext uri="{FF2B5EF4-FFF2-40B4-BE49-F238E27FC236}">
                <a16:creationId xmlns:a16="http://schemas.microsoft.com/office/drawing/2014/main" id="{CE01C0D8-6551-4020-9C37-7D7D0F6A8F57}"/>
              </a:ext>
            </a:extLst>
          </p:cNvPr>
          <p:cNvSpPr>
            <a:spLocks xmlns:a="http://schemas.openxmlformats.org/drawingml/2006/main" noGrp="1"/>
          </p:cNvSpPr>
          <p:nvPr/>
        </p:nvSpPr>
        <p:spPr>
          <a:xfrm xmlns:a="http://schemas.openxmlformats.org/drawingml/2006/main">
            <a:off x="8039100" y="278130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325" b="1">
                <a:solidFill>
                  <a:srgbClr val="1F5FBF"/>
                </a:solidFill>
                <a:latin typeface="Hiragino Sans GB"/>
                <a:ea typeface="Hiragino Sans GB"/>
                <a:cs typeface="Hiragino Sans GB"/>
              </a:defRPr>
            </a:pPr>
            <a:r>
              <a:rPr sz="2325" b="1">
                <a:solidFill>
                  <a:srgbClr val="1F5FBF"/>
                </a:solidFill>
                <a:latin typeface="Hiragino Sans GB"/>
                <a:ea typeface="Hiragino Sans GB"/>
                <a:cs typeface="Hiragino Sans GB"/>
              </a:rPr>
              <a:t>0.25</a:t>
            </a:r>
          </a:p>
        </p:txBody>
      </p:sp>
      <p:sp>
        <p:nvSpPr>
          <p:cNvPr id="22" name="">
            <a:extLst xmlns:a="http://schemas.openxmlformats.org/drawingml/2006/main">
              <a:ext uri="{FF2B5EF4-FFF2-40B4-BE49-F238E27FC236}">
                <a16:creationId xmlns:a16="http://schemas.microsoft.com/office/drawing/2014/main" id="{601E6EDA-1646-493A-96F9-65F0C108EA00}"/>
              </a:ext>
            </a:extLst>
          </p:cNvPr>
          <p:cNvSpPr>
            <a:spLocks xmlns:a="http://schemas.openxmlformats.org/drawingml/2006/main" noGrp="1"/>
          </p:cNvSpPr>
          <p:nvPr/>
        </p:nvSpPr>
        <p:spPr>
          <a:xfrm xmlns:a="http://schemas.openxmlformats.org/drawingml/2006/main">
            <a:off x="9239250" y="28194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两条开发观察经拉普拉斯平滑</a:t>
            </a:r>
          </a:p>
        </p:txBody>
      </p:sp>
      <p:sp>
        <p:nvSpPr>
          <p:cNvPr id="23" name="">
            <a:extLst xmlns:a="http://schemas.openxmlformats.org/drawingml/2006/main">
              <a:ext uri="{FF2B5EF4-FFF2-40B4-BE49-F238E27FC236}">
                <a16:creationId xmlns:a16="http://schemas.microsoft.com/office/drawing/2014/main" id="{DC2D5C03-C808-4F99-9054-1B31F391E78E}"/>
              </a:ext>
            </a:extLst>
          </p:cNvPr>
          <p:cNvSpPr>
            <a:spLocks xmlns:a="http://schemas.openxmlformats.org/drawingml/2006/main" noGrp="1"/>
          </p:cNvSpPr>
          <p:nvPr/>
        </p:nvSpPr>
        <p:spPr>
          <a:xfrm xmlns:a="http://schemas.openxmlformats.org/drawingml/2006/main">
            <a:off x="6267450" y="3905250"/>
            <a:ext cx="5238750" cy="1066800"/>
          </a:xfrm>
          <a:prstGeom xmlns:a="http://schemas.openxmlformats.org/drawingml/2006/main" prst="roundRect">
            <a:avLst>
              <a:gd name="adj" fmla="val 10714"/>
            </a:avLst>
          </a:prstGeom>
          <a:solidFill xmlns:a="http://schemas.openxmlformats.org/drawingml/2006/main">
            <a:srgbClr val="EAF8F3"/>
          </a:solidFill>
          <a:ln xmlns:a="http://schemas.openxmlformats.org/drawingml/2006/main" w="11430">
            <a:solidFill>
              <a:srgbClr val="168B6B"/>
            </a:solidFill>
            <a:prstDash val="solid"/>
          </a:ln>
        </p:spPr>
      </p:sp>
      <p:sp>
        <p:nvSpPr>
          <p:cNvPr id="24" name="">
            <a:extLst xmlns:a="http://schemas.openxmlformats.org/drawingml/2006/main">
              <a:ext uri="{FF2B5EF4-FFF2-40B4-BE49-F238E27FC236}">
                <a16:creationId xmlns:a16="http://schemas.microsoft.com/office/drawing/2014/main" id="{0E15899B-60CD-4789-9D67-AAD8E44ED904}"/>
              </a:ext>
            </a:extLst>
          </p:cNvPr>
          <p:cNvSpPr>
            <a:spLocks xmlns:a="http://schemas.openxmlformats.org/drawingml/2006/main" noGrp="1"/>
          </p:cNvSpPr>
          <p:nvPr/>
        </p:nvSpPr>
        <p:spPr>
          <a:xfrm xmlns:a="http://schemas.openxmlformats.org/drawingml/2006/main">
            <a:off x="6496050" y="409575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68B6B"/>
                </a:solidFill>
                <a:latin typeface="Hiragino Sans GB"/>
                <a:ea typeface="Hiragino Sans GB"/>
                <a:cs typeface="Hiragino Sans GB"/>
              </a:defRPr>
            </a:pPr>
            <a:r>
              <a:rPr sz="1125" b="1">
                <a:solidFill>
                  <a:srgbClr val="168B6B"/>
                </a:solidFill>
                <a:latin typeface="Hiragino Sans GB"/>
                <a:ea typeface="Hiragino Sans GB"/>
                <a:cs typeface="Hiragino Sans GB"/>
              </a:rPr>
              <a:t>新增问题</a:t>
            </a:r>
          </a:p>
        </p:txBody>
      </p:sp>
      <p:sp>
        <p:nvSpPr>
          <p:cNvPr id="25" name="">
            <a:extLst xmlns:a="http://schemas.openxmlformats.org/drawingml/2006/main">
              <a:ext uri="{FF2B5EF4-FFF2-40B4-BE49-F238E27FC236}">
                <a16:creationId xmlns:a16="http://schemas.microsoft.com/office/drawing/2014/main" id="{2D58FBA6-F6FC-4460-9B58-B697A51BAC1C}"/>
              </a:ext>
            </a:extLst>
          </p:cNvPr>
          <p:cNvSpPr>
            <a:spLocks xmlns:a="http://schemas.openxmlformats.org/drawingml/2006/main" noGrp="1"/>
          </p:cNvSpPr>
          <p:nvPr/>
        </p:nvSpPr>
        <p:spPr>
          <a:xfrm xmlns:a="http://schemas.openxmlformats.org/drawingml/2006/main">
            <a:off x="7677150" y="4057650"/>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目标主机本机检查是否成功？</a:t>
            </a:r>
          </a:p>
        </p:txBody>
      </p:sp>
      <p:sp>
        <p:nvSpPr>
          <p:cNvPr id="26" name="">
            <a:extLst xmlns:a="http://schemas.openxmlformats.org/drawingml/2006/main">
              <a:ext uri="{FF2B5EF4-FFF2-40B4-BE49-F238E27FC236}">
                <a16:creationId xmlns:a16="http://schemas.microsoft.com/office/drawing/2014/main" id="{20D2333F-92BC-4100-A825-5762A604BDEE}"/>
              </a:ext>
            </a:extLst>
          </p:cNvPr>
          <p:cNvSpPr>
            <a:spLocks xmlns:a="http://schemas.openxmlformats.org/drawingml/2006/main" noGrp="1"/>
          </p:cNvSpPr>
          <p:nvPr/>
        </p:nvSpPr>
        <p:spPr>
          <a:xfrm xmlns:a="http://schemas.openxmlformats.org/drawingml/2006/main">
            <a:off x="6496050" y="4476750"/>
            <a:ext cx="468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观察结果通过条件概率边重新区分地址错误、服务停止等原因</a:t>
            </a:r>
          </a:p>
        </p:txBody>
      </p:sp>
      <p:sp>
        <p:nvSpPr>
          <p:cNvPr id="27" name="">
            <a:extLst xmlns:a="http://schemas.openxmlformats.org/drawingml/2006/main">
              <a:ext uri="{FF2B5EF4-FFF2-40B4-BE49-F238E27FC236}">
                <a16:creationId xmlns:a16="http://schemas.microsoft.com/office/drawing/2014/main" id="{4974E0FC-660C-4D3F-AE9A-F163802D15FC}"/>
              </a:ext>
            </a:extLst>
          </p:cNvPr>
          <p:cNvSpPr>
            <a:spLocks xmlns:a="http://schemas.openxmlformats.org/drawingml/2006/main" noGrp="1"/>
          </p:cNvSpPr>
          <p:nvPr/>
        </p:nvSpPr>
        <p:spPr>
          <a:xfrm xmlns:a="http://schemas.openxmlformats.org/drawingml/2006/main">
            <a:off x="685800" y="5334000"/>
            <a:ext cx="10820400" cy="628650"/>
          </a:xfrm>
          <a:prstGeom xmlns:a="http://schemas.openxmlformats.org/drawingml/2006/main" prst="roundRect">
            <a:avLst>
              <a:gd name="adj" fmla="val 18182"/>
            </a:avLst>
          </a:prstGeom>
          <a:solidFill xmlns:a="http://schemas.openxmlformats.org/drawingml/2006/main">
            <a:srgbClr val="F4F7FA"/>
          </a:solidFill>
          <a:ln xmlns:a="http://schemas.openxmlformats.org/drawingml/2006/main" w="11430">
            <a:solidFill>
              <a:srgbClr val="D8E0E7"/>
            </a:solidFill>
            <a:prstDash val="solid"/>
          </a:ln>
        </p:spPr>
      </p:sp>
      <p:sp>
        <p:nvSpPr>
          <p:cNvPr id="28" name="">
            <a:extLst xmlns:a="http://schemas.openxmlformats.org/drawingml/2006/main">
              <a:ext uri="{FF2B5EF4-FFF2-40B4-BE49-F238E27FC236}">
                <a16:creationId xmlns:a16="http://schemas.microsoft.com/office/drawing/2014/main" id="{3F4243E5-8D58-474A-A789-F70D36B4639C}"/>
              </a:ext>
            </a:extLst>
          </p:cNvPr>
          <p:cNvSpPr>
            <a:spLocks xmlns:a="http://schemas.openxmlformats.org/drawingml/2006/main" noGrp="1"/>
          </p:cNvSpPr>
          <p:nvPr/>
        </p:nvSpPr>
        <p:spPr>
          <a:xfrm xmlns:a="http://schemas.openxmlformats.org/drawingml/2006/main">
            <a:off x="895350" y="5505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F5FBF"/>
                </a:solidFill>
                <a:latin typeface="Hiragino Sans GB"/>
                <a:ea typeface="Hiragino Sans GB"/>
                <a:cs typeface="Hiragino Sans GB"/>
              </a:defRPr>
            </a:pPr>
            <a:r>
              <a:rPr sz="1275" b="1">
                <a:solidFill>
                  <a:srgbClr val="1F5FBF"/>
                </a:solidFill>
                <a:latin typeface="Hiragino Sans GB"/>
                <a:ea typeface="Hiragino Sans GB"/>
                <a:cs typeface="Hiragino Sans GB"/>
              </a:rPr>
              <a:t>选问仍以信息增益为核心</a:t>
            </a:r>
          </a:p>
        </p:txBody>
      </p:sp>
      <p:sp>
        <p:nvSpPr>
          <p:cNvPr id="29" name="">
            <a:extLst xmlns:a="http://schemas.openxmlformats.org/drawingml/2006/main">
              <a:ext uri="{FF2B5EF4-FFF2-40B4-BE49-F238E27FC236}">
                <a16:creationId xmlns:a16="http://schemas.microsoft.com/office/drawing/2014/main" id="{71F2E2D7-8A29-4DD5-84AF-9094429AA976}"/>
              </a:ext>
            </a:extLst>
          </p:cNvPr>
          <p:cNvSpPr>
            <a:spLocks xmlns:a="http://schemas.openxmlformats.org/drawingml/2006/main" noGrp="1"/>
          </p:cNvSpPr>
          <p:nvPr/>
        </p:nvSpPr>
        <p:spPr>
          <a:xfrm xmlns:a="http://schemas.openxmlformats.org/drawingml/2006/main">
            <a:off x="3581400" y="547687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142735"/>
                </a:solidFill>
                <a:latin typeface="Hiragino Sans GB"/>
                <a:ea typeface="Hiragino Sans GB"/>
                <a:cs typeface="Hiragino Sans GB"/>
              </a:defRPr>
            </a:pPr>
            <a:r>
              <a:rPr sz="1500" b="1">
                <a:solidFill>
                  <a:srgbClr val="142735"/>
                </a:solidFill>
                <a:latin typeface="Hiragino Sans GB"/>
                <a:ea typeface="Hiragino Sans GB"/>
                <a:cs typeface="Hiragino Sans GB"/>
              </a:rPr>
              <a:t>Utility(q) = IG(q) × 可回答率 − 成本惩罚 − 风险惩罚</a:t>
            </a:r>
          </a:p>
        </p:txBody>
      </p:sp>
      <p:sp>
        <p:nvSpPr>
          <p:cNvPr id="30" name="">
            <a:extLst xmlns:a="http://schemas.openxmlformats.org/drawingml/2006/main">
              <a:ext uri="{FF2B5EF4-FFF2-40B4-BE49-F238E27FC236}">
                <a16:creationId xmlns:a16="http://schemas.microsoft.com/office/drawing/2014/main" id="{A22E6529-7B5F-4A84-9202-B037B31D4D6C}"/>
              </a:ext>
            </a:extLst>
          </p:cNvPr>
          <p:cNvSpPr>
            <a:spLocks xmlns:a="http://schemas.openxmlformats.org/drawingml/2006/main" noGrp="1"/>
          </p:cNvSpPr>
          <p:nvPr/>
        </p:nvSpPr>
        <p:spPr>
          <a:xfrm xmlns:a="http://schemas.openxmlformats.org/drawingml/2006/main">
            <a:off x="10001250" y="550545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1">
                <a:solidFill>
                  <a:srgbClr val="5B6B78"/>
                </a:solidFill>
                <a:latin typeface="Hiragino Sans GB"/>
                <a:ea typeface="Hiragino Sans GB"/>
                <a:cs typeface="Hiragino Sans GB"/>
              </a:defRPr>
            </a:pPr>
            <a:r>
              <a:rPr sz="1050" b="1">
                <a:solidFill>
                  <a:srgbClr val="5B6B78"/>
                </a:solidFill>
                <a:latin typeface="Hiragino Sans GB"/>
                <a:ea typeface="Hiragino Sans GB"/>
                <a:cs typeface="Hiragino Sans GB"/>
              </a:rPr>
              <a:t>附加修正</a:t>
            </a:r>
          </a:p>
        </p:txBody>
      </p:sp>
      <p:sp>
        <p:nvSpPr>
          <p:cNvPr id="31" name="">
            <a:extLst xmlns:a="http://schemas.openxmlformats.org/drawingml/2006/main">
              <a:ext uri="{FF2B5EF4-FFF2-40B4-BE49-F238E27FC236}">
                <a16:creationId xmlns:a16="http://schemas.microsoft.com/office/drawing/2014/main" id="{3A7D2306-BE23-4FE9-B488-6A9C5315EF28}"/>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第二阶段的主要优化：用案例纠正因果参数，并补充能够消除稳定混淆的问题</a:t>
            </a:r>
          </a:p>
        </p:txBody>
      </p:sp>
    </p:spTree>
    <p:extLst>
      <p:ext uri="{BB962C8B-B14F-4D97-AF65-F5344CB8AC3E}">
        <p14:creationId xmlns:p14="http://schemas.microsoft.com/office/powerpoint/2010/main" val="9853050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 name="">
            <a:extLst xmlns:a="http://schemas.openxmlformats.org/drawingml/2006/main">
              <a:ext uri="{FF2B5EF4-FFF2-40B4-BE49-F238E27FC236}">
                <a16:creationId xmlns:a16="http://schemas.microsoft.com/office/drawing/2014/main" id="{6D4A49D9-5792-4061-AD49-C8AD8537B145}"/>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388D7A65-4B92-4C8F-AE49-7C42689A2105}"/>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动态子图重放：一次回答如何改变检索结果</a:t>
            </a:r>
          </a:p>
        </p:txBody>
      </p:sp>
      <p:sp>
        <p:nvSpPr>
          <p:cNvPr id="3" name="">
            <a:extLst xmlns:a="http://schemas.openxmlformats.org/drawingml/2006/main">
              <a:ext uri="{FF2B5EF4-FFF2-40B4-BE49-F238E27FC236}">
                <a16:creationId xmlns:a16="http://schemas.microsoft.com/office/drawing/2014/main" id="{E2731FF4-253C-4FF9-A30B-D4B307074D80}"/>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06</a:t>
            </a:r>
          </a:p>
        </p:txBody>
      </p:sp>
      <p:sp>
        <p:nvSpPr>
          <p:cNvPr id="4" name="">
            <a:extLst xmlns:a="http://schemas.openxmlformats.org/drawingml/2006/main">
              <a:ext uri="{FF2B5EF4-FFF2-40B4-BE49-F238E27FC236}">
                <a16:creationId xmlns:a16="http://schemas.microsoft.com/office/drawing/2014/main" id="{117D5B4A-148D-43C4-AEEB-FFB1A61AD7D2}"/>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3752A1B6-690F-4548-A84F-BFC167903790}"/>
              </a:ext>
            </a:extLst>
          </p:cNvPr>
          <p:cNvSpPr>
            <a:spLocks xmlns:a="http://schemas.openxmlformats.org/drawingml/2006/main" noGrp="1"/>
          </p:cNvSpPr>
          <p:nvPr/>
        </p:nvSpPr>
        <p:spPr>
          <a:xfrm xmlns:a="http://schemas.openxmlformats.org/drawingml/2006/main">
            <a:off x="685800" y="14668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第 0 轮｜初始检索</a:t>
            </a:r>
          </a:p>
        </p:txBody>
      </p:sp>
      <p:sp>
        <p:nvSpPr>
          <p:cNvPr id="6" name="">
            <a:extLst xmlns:a="http://schemas.openxmlformats.org/drawingml/2006/main">
              <a:ext uri="{FF2B5EF4-FFF2-40B4-BE49-F238E27FC236}">
                <a16:creationId xmlns:a16="http://schemas.microsoft.com/office/drawing/2014/main" id="{253C0E3A-5097-4778-98FB-D3FEB21C66B8}"/>
              </a:ext>
            </a:extLst>
          </p:cNvPr>
          <p:cNvSpPr>
            <a:spLocks xmlns:a="http://schemas.openxmlformats.org/drawingml/2006/main" noGrp="1"/>
          </p:cNvSpPr>
          <p:nvPr/>
        </p:nvSpPr>
        <p:spPr>
          <a:xfrm xmlns:a="http://schemas.openxmlformats.org/drawingml/2006/main">
            <a:off x="6648450" y="14668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E34A4A"/>
                </a:solidFill>
                <a:latin typeface="Hiragino Sans GB"/>
                <a:ea typeface="Hiragino Sans GB"/>
                <a:cs typeface="Hiragino Sans GB"/>
              </a:defRPr>
            </a:pPr>
            <a:r>
              <a:rPr sz="1350" b="1">
                <a:solidFill>
                  <a:srgbClr val="E34A4A"/>
                </a:solidFill>
                <a:latin typeface="Hiragino Sans GB"/>
                <a:ea typeface="Hiragino Sans GB"/>
                <a:cs typeface="Hiragino Sans GB"/>
              </a:rPr>
              <a:t>第 1 轮｜用户回答“是”</a:t>
            </a:r>
          </a:p>
        </p:txBody>
      </p:sp>
      <p:sp>
        <p:nvSpPr>
          <p:cNvPr id="7" name="">
            <a:extLst xmlns:a="http://schemas.openxmlformats.org/drawingml/2006/main">
              <a:ext uri="{FF2B5EF4-FFF2-40B4-BE49-F238E27FC236}">
                <a16:creationId xmlns:a16="http://schemas.microsoft.com/office/drawing/2014/main" id="{8FB4172D-3CF7-444D-9D57-27209F33D6ED}"/>
              </a:ext>
            </a:extLst>
          </p:cNvPr>
          <p:cNvSpPr>
            <a:spLocks xmlns:a="http://schemas.openxmlformats.org/drawingml/2006/main" noGrp="1"/>
          </p:cNvSpPr>
          <p:nvPr/>
        </p:nvSpPr>
        <p:spPr>
          <a:xfrm xmlns:a="http://schemas.openxmlformats.org/drawingml/2006/main">
            <a:off x="685800" y="1876425"/>
            <a:ext cx="5238750" cy="3562350"/>
          </a:xfrm>
          <a:prstGeom xmlns:a="http://schemas.openxmlformats.org/drawingml/2006/main" prst="roundRect">
            <a:avLst>
              <a:gd name="adj" fmla="val 3209"/>
            </a:avLst>
          </a:prstGeom>
          <a:solidFill xmlns:a="http://schemas.openxmlformats.org/drawingml/2006/main">
            <a:srgbClr val="FFFFFF"/>
          </a:solidFill>
          <a:ln xmlns:a="http://schemas.openxmlformats.org/drawingml/2006/main" w="11430">
            <a:solidFill>
              <a:srgbClr val="D8E0E7"/>
            </a:solidFill>
            <a:prstDash val="solid"/>
          </a:ln>
        </p:spPr>
      </p:sp>
      <p:sp>
        <p:nvSpPr>
          <p:cNvPr id="8" name="">
            <a:extLst xmlns:a="http://schemas.openxmlformats.org/drawingml/2006/main">
              <a:ext uri="{FF2B5EF4-FFF2-40B4-BE49-F238E27FC236}">
                <a16:creationId xmlns:a16="http://schemas.microsoft.com/office/drawing/2014/main" id="{A181FBE9-66D8-4424-AD0F-ED1470F07E6C}"/>
              </a:ext>
            </a:extLst>
          </p:cNvPr>
          <p:cNvSpPr>
            <a:spLocks xmlns:a="http://schemas.openxmlformats.org/drawingml/2006/main" noGrp="1"/>
          </p:cNvSpPr>
          <p:nvPr/>
        </p:nvSpPr>
        <p:spPr>
          <a:xfrm xmlns:a="http://schemas.openxmlformats.org/drawingml/2006/main">
            <a:off x="6267450" y="1876425"/>
            <a:ext cx="5238750" cy="3562350"/>
          </a:xfrm>
          <a:prstGeom xmlns:a="http://schemas.openxmlformats.org/drawingml/2006/main" prst="roundRect">
            <a:avLst>
              <a:gd name="adj" fmla="val 3209"/>
            </a:avLst>
          </a:prstGeom>
          <a:solidFill xmlns:a="http://schemas.openxmlformats.org/drawingml/2006/main">
            <a:srgbClr val="FFFFFF"/>
          </a:solidFill>
          <a:ln xmlns:a="http://schemas.openxmlformats.org/drawingml/2006/main" w="11430">
            <a:solidFill>
              <a:srgbClr val="D8E0E7"/>
            </a:solidFill>
            <a:prstDash val="solid"/>
          </a:ln>
        </p:spPr>
      </p:sp>
      <p:sp>
        <p:nvSpPr>
          <p:cNvPr id="9" name="">
            <a:extLst xmlns:a="http://schemas.openxmlformats.org/drawingml/2006/main">
              <a:ext uri="{FF2B5EF4-FFF2-40B4-BE49-F238E27FC236}">
                <a16:creationId xmlns:a16="http://schemas.microsoft.com/office/drawing/2014/main" id="{A1743BBB-96C3-49D6-B1C1-A3799F840475}"/>
              </a:ext>
            </a:extLst>
          </p:cNvPr>
          <p:cNvSpPr>
            <a:spLocks xmlns:a="http://schemas.openxmlformats.org/drawingml/2006/main" noGrp="1"/>
          </p:cNvSpPr>
          <p:nvPr/>
        </p:nvSpPr>
        <p:spPr>
          <a:xfrm xmlns:a="http://schemas.openxmlformats.org/drawingml/2006/main">
            <a:off x="895350" y="2066925"/>
            <a:ext cx="6858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Issue</a:t>
            </a:r>
          </a:p>
        </p:txBody>
      </p:sp>
      <p:sp>
        <p:nvSpPr>
          <p:cNvPr id="10" name="">
            <a:extLst xmlns:a="http://schemas.openxmlformats.org/drawingml/2006/main">
              <a:ext uri="{FF2B5EF4-FFF2-40B4-BE49-F238E27FC236}">
                <a16:creationId xmlns:a16="http://schemas.microsoft.com/office/drawing/2014/main" id="{7DD2AD3D-4A63-4773-A2D1-0C010173ADAA}"/>
              </a:ext>
            </a:extLst>
          </p:cNvPr>
          <p:cNvSpPr>
            <a:spLocks xmlns:a="http://schemas.openxmlformats.org/drawingml/2006/main" noGrp="1"/>
          </p:cNvSpPr>
          <p:nvPr/>
        </p:nvSpPr>
        <p:spPr>
          <a:xfrm xmlns:a="http://schemas.openxmlformats.org/drawingml/2006/main">
            <a:off x="1695450" y="20859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服务或配置连接失败</a:t>
            </a:r>
          </a:p>
        </p:txBody>
      </p:sp>
      <p:sp>
        <p:nvSpPr>
          <p:cNvPr id="11" name="">
            <a:extLst xmlns:a="http://schemas.openxmlformats.org/drawingml/2006/main">
              <a:ext uri="{FF2B5EF4-FFF2-40B4-BE49-F238E27FC236}">
                <a16:creationId xmlns:a16="http://schemas.microsoft.com/office/drawing/2014/main" id="{2B6F90F6-D5D9-4735-B9F4-790FB127736F}"/>
              </a:ext>
            </a:extLst>
          </p:cNvPr>
          <p:cNvSpPr>
            <a:spLocks xmlns:a="http://schemas.openxmlformats.org/drawingml/2006/main" noGrp="1"/>
          </p:cNvSpPr>
          <p:nvPr/>
        </p:nvSpPr>
        <p:spPr>
          <a:xfrm xmlns:a="http://schemas.openxmlformats.org/drawingml/2006/main">
            <a:off x="6477000" y="2066925"/>
            <a:ext cx="1009650" cy="285750"/>
          </a:xfrm>
          <a:prstGeom xmlns:a="http://schemas.openxmlformats.org/drawingml/2006/main" prst="roundRect">
            <a:avLst>
              <a:gd name="adj" fmla="val 50000"/>
            </a:avLst>
          </a:prstGeom>
          <a:solidFill xmlns:a="http://schemas.openxmlformats.org/drawingml/2006/main">
            <a:srgbClr val="FFF0F0"/>
          </a:solidFill>
          <a:ln xmlns:a="http://schemas.openxmlformats.org/drawingml/2006/main" w="11430">
            <a:solidFill>
              <a:srgbClr val="FFF0F0"/>
            </a:solidFill>
            <a:prstDash val="solid"/>
          </a:ln>
        </p:spPr>
        <p:txBody>
          <a:bodyPr xmlns:a="http://schemas.openxmlformats.org/drawingml/2006/main" lIns="76200" tIns="0" rIns="76200" bIns="0" anchor="ctr">
            <a:normAutofit fontScale="88446"/>
          </a:bodyPr>
          <a:lstStyle xmlns:a="http://schemas.openxmlformats.org/drawingml/2006/main"/>
          <a:p xmlns:a="http://schemas.openxmlformats.org/drawingml/2006/main">
            <a:pPr algn="ctr">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Observation</a:t>
            </a:r>
          </a:p>
        </p:txBody>
      </p:sp>
      <p:sp>
        <p:nvSpPr>
          <p:cNvPr id="12" name="">
            <a:extLst xmlns:a="http://schemas.openxmlformats.org/drawingml/2006/main">
              <a:ext uri="{FF2B5EF4-FFF2-40B4-BE49-F238E27FC236}">
                <a16:creationId xmlns:a16="http://schemas.microsoft.com/office/drawing/2014/main" id="{C9A47DAC-A9A7-4C66-A662-F2E6D25718CE}"/>
              </a:ext>
            </a:extLst>
          </p:cNvPr>
          <p:cNvSpPr>
            <a:spLocks xmlns:a="http://schemas.openxmlformats.org/drawingml/2006/main" noGrp="1"/>
          </p:cNvSpPr>
          <p:nvPr/>
        </p:nvSpPr>
        <p:spPr>
          <a:xfrm xmlns:a="http://schemas.openxmlformats.org/drawingml/2006/main">
            <a:off x="7620000" y="20859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E34A4A"/>
                </a:solidFill>
                <a:latin typeface="Hiragino Sans GB"/>
                <a:ea typeface="Hiragino Sans GB"/>
                <a:cs typeface="Hiragino Sans GB"/>
              </a:defRPr>
            </a:pPr>
            <a:r>
              <a:rPr sz="1275" b="1">
                <a:solidFill>
                  <a:srgbClr val="E34A4A"/>
                </a:solidFill>
                <a:latin typeface="Hiragino Sans GB"/>
                <a:ea typeface="Hiragino Sans GB"/>
                <a:cs typeface="Hiragino Sans GB"/>
              </a:rPr>
              <a:t>是：宿主机成功、容器失败</a:t>
            </a:r>
          </a:p>
        </p:txBody>
      </p:sp>
      <p:sp>
        <p:nvSpPr>
          <p:cNvPr id="13" name="">
            <a:extLst xmlns:a="http://schemas.openxmlformats.org/drawingml/2006/main">
              <a:ext uri="{FF2B5EF4-FFF2-40B4-BE49-F238E27FC236}">
                <a16:creationId xmlns:a16="http://schemas.microsoft.com/office/drawing/2014/main" id="{635CFDE5-B48E-4FC4-A9A9-1A3F19FF6CF7}"/>
              </a:ext>
            </a:extLst>
          </p:cNvPr>
          <p:cNvSpPr>
            <a:spLocks xmlns:a="http://schemas.openxmlformats.org/drawingml/2006/main" noGrp="1"/>
          </p:cNvSpPr>
          <p:nvPr/>
        </p:nvSpPr>
        <p:spPr>
          <a:xfrm xmlns:a="http://schemas.openxmlformats.org/drawingml/2006/main">
            <a:off x="895350" y="25431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服务地址配置错误</a:t>
            </a:r>
          </a:p>
        </p:txBody>
      </p:sp>
      <p:sp>
        <p:nvSpPr>
          <p:cNvPr id="14" name="">
            <a:extLst xmlns:a="http://schemas.openxmlformats.org/drawingml/2006/main">
              <a:ext uri="{FF2B5EF4-FFF2-40B4-BE49-F238E27FC236}">
                <a16:creationId xmlns:a16="http://schemas.microsoft.com/office/drawing/2014/main" id="{9B4069E8-8AE0-4720-A8A4-CFCB5F49F6E8}"/>
              </a:ext>
            </a:extLst>
          </p:cNvPr>
          <p:cNvSpPr>
            <a:spLocks xmlns:a="http://schemas.openxmlformats.org/drawingml/2006/main" noGrp="1"/>
          </p:cNvSpPr>
          <p:nvPr/>
        </p:nvSpPr>
        <p:spPr>
          <a:xfrm xmlns:a="http://schemas.openxmlformats.org/drawingml/2006/main">
            <a:off x="2971800" y="257175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15" name="">
            <a:extLst xmlns:a="http://schemas.openxmlformats.org/drawingml/2006/main">
              <a:ext uri="{FF2B5EF4-FFF2-40B4-BE49-F238E27FC236}">
                <a16:creationId xmlns:a16="http://schemas.microsoft.com/office/drawing/2014/main" id="{CC8213FE-F648-4E5B-894B-1583D30F3CD2}"/>
              </a:ext>
            </a:extLst>
          </p:cNvPr>
          <p:cNvSpPr>
            <a:spLocks xmlns:a="http://schemas.openxmlformats.org/drawingml/2006/main" noGrp="1"/>
          </p:cNvSpPr>
          <p:nvPr/>
        </p:nvSpPr>
        <p:spPr>
          <a:xfrm xmlns:a="http://schemas.openxmlformats.org/drawingml/2006/main">
            <a:off x="2971800" y="2571750"/>
            <a:ext cx="1098804" cy="161925"/>
          </a:xfrm>
          <a:prstGeom xmlns:a="http://schemas.openxmlformats.org/drawingml/2006/main" prst="roundRect">
            <a:avLst>
              <a:gd name="adj" fmla="val 47059"/>
            </a:avLst>
          </a:prstGeom>
          <a:solidFill xmlns:a="http://schemas.openxmlformats.org/drawingml/2006/main">
            <a:srgbClr val="1F5FBF"/>
          </a:solidFill>
          <a:ln xmlns:a="http://schemas.openxmlformats.org/drawingml/2006/main" w="11430">
            <a:solidFill>
              <a:srgbClr val="1F5FBF"/>
            </a:solidFill>
            <a:prstDash val="solid"/>
          </a:ln>
        </p:spPr>
      </p:sp>
      <p:sp>
        <p:nvSpPr>
          <p:cNvPr id="16" name="">
            <a:extLst xmlns:a="http://schemas.openxmlformats.org/drawingml/2006/main">
              <a:ext uri="{FF2B5EF4-FFF2-40B4-BE49-F238E27FC236}">
                <a16:creationId xmlns:a16="http://schemas.microsoft.com/office/drawing/2014/main" id="{1A355E1D-1DAB-4C99-B97E-79FCA2C4FB22}"/>
              </a:ext>
            </a:extLst>
          </p:cNvPr>
          <p:cNvSpPr>
            <a:spLocks xmlns:a="http://schemas.openxmlformats.org/drawingml/2006/main" noGrp="1"/>
          </p:cNvSpPr>
          <p:nvPr/>
        </p:nvSpPr>
        <p:spPr>
          <a:xfrm xmlns:a="http://schemas.openxmlformats.org/drawingml/2006/main">
            <a:off x="5010150" y="253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56.0%</a:t>
            </a:r>
          </a:p>
        </p:txBody>
      </p:sp>
      <p:sp>
        <p:nvSpPr>
          <p:cNvPr id="17" name="">
            <a:extLst xmlns:a="http://schemas.openxmlformats.org/drawingml/2006/main">
              <a:ext uri="{FF2B5EF4-FFF2-40B4-BE49-F238E27FC236}">
                <a16:creationId xmlns:a16="http://schemas.microsoft.com/office/drawing/2014/main" id="{D5D92F80-7A49-4CBF-9ECD-68659FE73283}"/>
              </a:ext>
            </a:extLst>
          </p:cNvPr>
          <p:cNvSpPr>
            <a:spLocks xmlns:a="http://schemas.openxmlformats.org/drawingml/2006/main" noGrp="1"/>
          </p:cNvSpPr>
          <p:nvPr/>
        </p:nvSpPr>
        <p:spPr>
          <a:xfrm xmlns:a="http://schemas.openxmlformats.org/drawingml/2006/main">
            <a:off x="895350" y="29718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必需环境变量缺失</a:t>
            </a:r>
          </a:p>
        </p:txBody>
      </p:sp>
      <p:sp>
        <p:nvSpPr>
          <p:cNvPr id="18" name="">
            <a:extLst xmlns:a="http://schemas.openxmlformats.org/drawingml/2006/main">
              <a:ext uri="{FF2B5EF4-FFF2-40B4-BE49-F238E27FC236}">
                <a16:creationId xmlns:a16="http://schemas.microsoft.com/office/drawing/2014/main" id="{4AA0E19F-6BEA-4400-B377-05AA25D7C4D1}"/>
              </a:ext>
            </a:extLst>
          </p:cNvPr>
          <p:cNvSpPr>
            <a:spLocks xmlns:a="http://schemas.openxmlformats.org/drawingml/2006/main" noGrp="1"/>
          </p:cNvSpPr>
          <p:nvPr/>
        </p:nvSpPr>
        <p:spPr>
          <a:xfrm xmlns:a="http://schemas.openxmlformats.org/drawingml/2006/main">
            <a:off x="2971800" y="3000375"/>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19" name="">
            <a:extLst xmlns:a="http://schemas.openxmlformats.org/drawingml/2006/main">
              <a:ext uri="{FF2B5EF4-FFF2-40B4-BE49-F238E27FC236}">
                <a16:creationId xmlns:a16="http://schemas.microsoft.com/office/drawing/2014/main" id="{9E8E029E-747E-4518-9DE1-642FAC8C3C50}"/>
              </a:ext>
            </a:extLst>
          </p:cNvPr>
          <p:cNvSpPr>
            <a:spLocks xmlns:a="http://schemas.openxmlformats.org/drawingml/2006/main" noGrp="1"/>
          </p:cNvSpPr>
          <p:nvPr/>
        </p:nvSpPr>
        <p:spPr>
          <a:xfrm xmlns:a="http://schemas.openxmlformats.org/drawingml/2006/main">
            <a:off x="2971800" y="3000375"/>
            <a:ext cx="270777" cy="161925"/>
          </a:xfrm>
          <a:prstGeom xmlns:a="http://schemas.openxmlformats.org/drawingml/2006/main" prst="roundRect">
            <a:avLst>
              <a:gd name="adj" fmla="val 47059"/>
            </a:avLst>
          </a:prstGeom>
          <a:solidFill xmlns:a="http://schemas.openxmlformats.org/drawingml/2006/main">
            <a:srgbClr val="A8B4BE"/>
          </a:solidFill>
          <a:ln xmlns:a="http://schemas.openxmlformats.org/drawingml/2006/main" w="11430">
            <a:solidFill>
              <a:srgbClr val="A8B4BE"/>
            </a:solidFill>
            <a:prstDash val="solid"/>
          </a:ln>
        </p:spPr>
      </p:sp>
      <p:sp>
        <p:nvSpPr>
          <p:cNvPr id="20" name="">
            <a:extLst xmlns:a="http://schemas.openxmlformats.org/drawingml/2006/main">
              <a:ext uri="{FF2B5EF4-FFF2-40B4-BE49-F238E27FC236}">
                <a16:creationId xmlns:a16="http://schemas.microsoft.com/office/drawing/2014/main" id="{D51C9CE7-9E3A-4126-ADD1-4FB2542B5565}"/>
              </a:ext>
            </a:extLst>
          </p:cNvPr>
          <p:cNvSpPr>
            <a:spLocks xmlns:a="http://schemas.openxmlformats.org/drawingml/2006/main" noGrp="1"/>
          </p:cNvSpPr>
          <p:nvPr/>
        </p:nvSpPr>
        <p:spPr>
          <a:xfrm xmlns:a="http://schemas.openxmlformats.org/drawingml/2006/main">
            <a:off x="5010150" y="29622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13.8%</a:t>
            </a:r>
          </a:p>
        </p:txBody>
      </p:sp>
      <p:sp>
        <p:nvSpPr>
          <p:cNvPr id="21" name="">
            <a:extLst xmlns:a="http://schemas.openxmlformats.org/drawingml/2006/main">
              <a:ext uri="{FF2B5EF4-FFF2-40B4-BE49-F238E27FC236}">
                <a16:creationId xmlns:a16="http://schemas.microsoft.com/office/drawing/2014/main" id="{28E6EEF1-BA87-4415-8257-D946C53FEE3E}"/>
              </a:ext>
            </a:extLst>
          </p:cNvPr>
          <p:cNvSpPr>
            <a:spLocks xmlns:a="http://schemas.openxmlformats.org/drawingml/2006/main" noGrp="1"/>
          </p:cNvSpPr>
          <p:nvPr/>
        </p:nvSpPr>
        <p:spPr>
          <a:xfrm xmlns:a="http://schemas.openxmlformats.org/drawingml/2006/main">
            <a:off x="895350" y="340042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目标服务未启动</a:t>
            </a:r>
          </a:p>
        </p:txBody>
      </p:sp>
      <p:sp>
        <p:nvSpPr>
          <p:cNvPr id="22" name="">
            <a:extLst xmlns:a="http://schemas.openxmlformats.org/drawingml/2006/main">
              <a:ext uri="{FF2B5EF4-FFF2-40B4-BE49-F238E27FC236}">
                <a16:creationId xmlns:a16="http://schemas.microsoft.com/office/drawing/2014/main" id="{EE6E1B40-1337-4BD3-9352-5FD9DA97EA27}"/>
              </a:ext>
            </a:extLst>
          </p:cNvPr>
          <p:cNvSpPr>
            <a:spLocks xmlns:a="http://schemas.openxmlformats.org/drawingml/2006/main" noGrp="1"/>
          </p:cNvSpPr>
          <p:nvPr/>
        </p:nvSpPr>
        <p:spPr>
          <a:xfrm xmlns:a="http://schemas.openxmlformats.org/drawingml/2006/main">
            <a:off x="2971800" y="342900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23" name="">
            <a:extLst xmlns:a="http://schemas.openxmlformats.org/drawingml/2006/main">
              <a:ext uri="{FF2B5EF4-FFF2-40B4-BE49-F238E27FC236}">
                <a16:creationId xmlns:a16="http://schemas.microsoft.com/office/drawing/2014/main" id="{443C4A6B-CEE1-4FAF-8BAC-55F813A6090C}"/>
              </a:ext>
            </a:extLst>
          </p:cNvPr>
          <p:cNvSpPr>
            <a:spLocks xmlns:a="http://schemas.openxmlformats.org/drawingml/2006/main" noGrp="1"/>
          </p:cNvSpPr>
          <p:nvPr/>
        </p:nvSpPr>
        <p:spPr>
          <a:xfrm xmlns:a="http://schemas.openxmlformats.org/drawingml/2006/main">
            <a:off x="2971800" y="3429000"/>
            <a:ext cx="270777" cy="161925"/>
          </a:xfrm>
          <a:prstGeom xmlns:a="http://schemas.openxmlformats.org/drawingml/2006/main" prst="roundRect">
            <a:avLst>
              <a:gd name="adj" fmla="val 47059"/>
            </a:avLst>
          </a:prstGeom>
          <a:solidFill xmlns:a="http://schemas.openxmlformats.org/drawingml/2006/main">
            <a:srgbClr val="A8B4BE"/>
          </a:solidFill>
          <a:ln xmlns:a="http://schemas.openxmlformats.org/drawingml/2006/main" w="11430">
            <a:solidFill>
              <a:srgbClr val="A8B4BE"/>
            </a:solidFill>
            <a:prstDash val="solid"/>
          </a:ln>
        </p:spPr>
      </p:sp>
      <p:sp>
        <p:nvSpPr>
          <p:cNvPr id="24" name="">
            <a:extLst xmlns:a="http://schemas.openxmlformats.org/drawingml/2006/main">
              <a:ext uri="{FF2B5EF4-FFF2-40B4-BE49-F238E27FC236}">
                <a16:creationId xmlns:a16="http://schemas.microsoft.com/office/drawing/2014/main" id="{652CC26E-E123-402E-8980-BCD839D8FEBB}"/>
              </a:ext>
            </a:extLst>
          </p:cNvPr>
          <p:cNvSpPr>
            <a:spLocks xmlns:a="http://schemas.openxmlformats.org/drawingml/2006/main" noGrp="1"/>
          </p:cNvSpPr>
          <p:nvPr/>
        </p:nvSpPr>
        <p:spPr>
          <a:xfrm xmlns:a="http://schemas.openxmlformats.org/drawingml/2006/main">
            <a:off x="5010150" y="33909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13.8%</a:t>
            </a:r>
          </a:p>
        </p:txBody>
      </p:sp>
      <p:sp>
        <p:nvSpPr>
          <p:cNvPr id="25" name="">
            <a:extLst xmlns:a="http://schemas.openxmlformats.org/drawingml/2006/main">
              <a:ext uri="{FF2B5EF4-FFF2-40B4-BE49-F238E27FC236}">
                <a16:creationId xmlns:a16="http://schemas.microsoft.com/office/drawing/2014/main" id="{21EB6D90-CFED-4EAA-B010-4E7CB4F4DF3D}"/>
              </a:ext>
            </a:extLst>
          </p:cNvPr>
          <p:cNvSpPr>
            <a:spLocks xmlns:a="http://schemas.openxmlformats.org/drawingml/2006/main" noGrp="1"/>
          </p:cNvSpPr>
          <p:nvPr/>
        </p:nvSpPr>
        <p:spPr>
          <a:xfrm xmlns:a="http://schemas.openxmlformats.org/drawingml/2006/main">
            <a:off x="895350" y="38290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端口被其他进程占用</a:t>
            </a:r>
          </a:p>
        </p:txBody>
      </p:sp>
      <p:sp>
        <p:nvSpPr>
          <p:cNvPr id="26" name="">
            <a:extLst xmlns:a="http://schemas.openxmlformats.org/drawingml/2006/main">
              <a:ext uri="{FF2B5EF4-FFF2-40B4-BE49-F238E27FC236}">
                <a16:creationId xmlns:a16="http://schemas.microsoft.com/office/drawing/2014/main" id="{EB27AD57-C00C-45E5-B984-60F8D67545FD}"/>
              </a:ext>
            </a:extLst>
          </p:cNvPr>
          <p:cNvSpPr>
            <a:spLocks xmlns:a="http://schemas.openxmlformats.org/drawingml/2006/main" noGrp="1"/>
          </p:cNvSpPr>
          <p:nvPr/>
        </p:nvSpPr>
        <p:spPr>
          <a:xfrm xmlns:a="http://schemas.openxmlformats.org/drawingml/2006/main">
            <a:off x="2971800" y="3857625"/>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27" name="">
            <a:extLst xmlns:a="http://schemas.openxmlformats.org/drawingml/2006/main">
              <a:ext uri="{FF2B5EF4-FFF2-40B4-BE49-F238E27FC236}">
                <a16:creationId xmlns:a16="http://schemas.microsoft.com/office/drawing/2014/main" id="{A9C20A2C-2D7C-4D6E-8088-AD00F28364E9}"/>
              </a:ext>
            </a:extLst>
          </p:cNvPr>
          <p:cNvSpPr>
            <a:spLocks xmlns:a="http://schemas.openxmlformats.org/drawingml/2006/main" noGrp="1"/>
          </p:cNvSpPr>
          <p:nvPr/>
        </p:nvSpPr>
        <p:spPr>
          <a:xfrm xmlns:a="http://schemas.openxmlformats.org/drawingml/2006/main">
            <a:off x="2971800" y="3857625"/>
            <a:ext cx="162858" cy="161925"/>
          </a:xfrm>
          <a:prstGeom xmlns:a="http://schemas.openxmlformats.org/drawingml/2006/main" prst="roundRect">
            <a:avLst>
              <a:gd name="adj" fmla="val 47059"/>
            </a:avLst>
          </a:prstGeom>
          <a:solidFill xmlns:a="http://schemas.openxmlformats.org/drawingml/2006/main">
            <a:srgbClr val="A8B4BE"/>
          </a:solidFill>
          <a:ln xmlns:a="http://schemas.openxmlformats.org/drawingml/2006/main" w="11430">
            <a:solidFill>
              <a:srgbClr val="A8B4BE"/>
            </a:solidFill>
            <a:prstDash val="solid"/>
          </a:ln>
        </p:spPr>
      </p:sp>
      <p:sp>
        <p:nvSpPr>
          <p:cNvPr id="28" name="">
            <a:extLst xmlns:a="http://schemas.openxmlformats.org/drawingml/2006/main">
              <a:ext uri="{FF2B5EF4-FFF2-40B4-BE49-F238E27FC236}">
                <a16:creationId xmlns:a16="http://schemas.microsoft.com/office/drawing/2014/main" id="{AE79A776-F58D-49C1-BC4E-9773A215D11A}"/>
              </a:ext>
            </a:extLst>
          </p:cNvPr>
          <p:cNvSpPr>
            <a:spLocks xmlns:a="http://schemas.openxmlformats.org/drawingml/2006/main" noGrp="1"/>
          </p:cNvSpPr>
          <p:nvPr/>
        </p:nvSpPr>
        <p:spPr>
          <a:xfrm xmlns:a="http://schemas.openxmlformats.org/drawingml/2006/main">
            <a:off x="5010150" y="38195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8.3%</a:t>
            </a:r>
          </a:p>
        </p:txBody>
      </p:sp>
      <p:sp>
        <p:nvSpPr>
          <p:cNvPr id="29" name="">
            <a:extLst xmlns:a="http://schemas.openxmlformats.org/drawingml/2006/main">
              <a:ext uri="{FF2B5EF4-FFF2-40B4-BE49-F238E27FC236}">
                <a16:creationId xmlns:a16="http://schemas.microsoft.com/office/drawing/2014/main" id="{68D9E659-4283-4A6E-BB24-2B3B1E47EE83}"/>
              </a:ext>
            </a:extLst>
          </p:cNvPr>
          <p:cNvSpPr>
            <a:spLocks xmlns:a="http://schemas.openxmlformats.org/drawingml/2006/main" noGrp="1"/>
          </p:cNvSpPr>
          <p:nvPr/>
        </p:nvSpPr>
        <p:spPr>
          <a:xfrm xmlns:a="http://schemas.openxmlformats.org/drawingml/2006/main">
            <a:off x="895350" y="42576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认证信息无效</a:t>
            </a:r>
          </a:p>
        </p:txBody>
      </p:sp>
      <p:sp>
        <p:nvSpPr>
          <p:cNvPr id="30" name="">
            <a:extLst xmlns:a="http://schemas.openxmlformats.org/drawingml/2006/main">
              <a:ext uri="{FF2B5EF4-FFF2-40B4-BE49-F238E27FC236}">
                <a16:creationId xmlns:a16="http://schemas.microsoft.com/office/drawing/2014/main" id="{DBCF77DA-60C8-4434-9092-8C792C380B2B}"/>
              </a:ext>
            </a:extLst>
          </p:cNvPr>
          <p:cNvSpPr>
            <a:spLocks xmlns:a="http://schemas.openxmlformats.org/drawingml/2006/main" noGrp="1"/>
          </p:cNvSpPr>
          <p:nvPr/>
        </p:nvSpPr>
        <p:spPr>
          <a:xfrm xmlns:a="http://schemas.openxmlformats.org/drawingml/2006/main">
            <a:off x="2971800" y="428625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31" name="">
            <a:extLst xmlns:a="http://schemas.openxmlformats.org/drawingml/2006/main">
              <a:ext uri="{FF2B5EF4-FFF2-40B4-BE49-F238E27FC236}">
                <a16:creationId xmlns:a16="http://schemas.microsoft.com/office/drawing/2014/main" id="{6A5914C4-5736-4615-815A-1EDB15E824A0}"/>
              </a:ext>
            </a:extLst>
          </p:cNvPr>
          <p:cNvSpPr>
            <a:spLocks xmlns:a="http://schemas.openxmlformats.org/drawingml/2006/main" noGrp="1"/>
          </p:cNvSpPr>
          <p:nvPr/>
        </p:nvSpPr>
        <p:spPr>
          <a:xfrm xmlns:a="http://schemas.openxmlformats.org/drawingml/2006/main">
            <a:off x="2971800" y="4286250"/>
            <a:ext cx="162858" cy="161925"/>
          </a:xfrm>
          <a:prstGeom xmlns:a="http://schemas.openxmlformats.org/drawingml/2006/main" prst="roundRect">
            <a:avLst>
              <a:gd name="adj" fmla="val 47059"/>
            </a:avLst>
          </a:prstGeom>
          <a:solidFill xmlns:a="http://schemas.openxmlformats.org/drawingml/2006/main">
            <a:srgbClr val="A8B4BE"/>
          </a:solidFill>
          <a:ln xmlns:a="http://schemas.openxmlformats.org/drawingml/2006/main" w="11430">
            <a:solidFill>
              <a:srgbClr val="A8B4BE"/>
            </a:solidFill>
            <a:prstDash val="solid"/>
          </a:ln>
        </p:spPr>
      </p:sp>
      <p:sp>
        <p:nvSpPr>
          <p:cNvPr id="32" name="">
            <a:extLst xmlns:a="http://schemas.openxmlformats.org/drawingml/2006/main">
              <a:ext uri="{FF2B5EF4-FFF2-40B4-BE49-F238E27FC236}">
                <a16:creationId xmlns:a16="http://schemas.microsoft.com/office/drawing/2014/main" id="{5BE0A835-1BCF-426D-A9B5-E5A3AD4A7344}"/>
              </a:ext>
            </a:extLst>
          </p:cNvPr>
          <p:cNvSpPr>
            <a:spLocks xmlns:a="http://schemas.openxmlformats.org/drawingml/2006/main" noGrp="1"/>
          </p:cNvSpPr>
          <p:nvPr/>
        </p:nvSpPr>
        <p:spPr>
          <a:xfrm xmlns:a="http://schemas.openxmlformats.org/drawingml/2006/main">
            <a:off x="5010150" y="42481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8.3%</a:t>
            </a:r>
          </a:p>
        </p:txBody>
      </p:sp>
      <p:sp>
        <p:nvSpPr>
          <p:cNvPr id="33" name="">
            <a:extLst xmlns:a="http://schemas.openxmlformats.org/drawingml/2006/main">
              <a:ext uri="{FF2B5EF4-FFF2-40B4-BE49-F238E27FC236}">
                <a16:creationId xmlns:a16="http://schemas.microsoft.com/office/drawing/2014/main" id="{B8B320D2-4B3D-4F77-8DFB-7C2537415EA0}"/>
              </a:ext>
            </a:extLst>
          </p:cNvPr>
          <p:cNvSpPr>
            <a:spLocks xmlns:a="http://schemas.openxmlformats.org/drawingml/2006/main" noGrp="1"/>
          </p:cNvSpPr>
          <p:nvPr/>
        </p:nvSpPr>
        <p:spPr>
          <a:xfrm xmlns:a="http://schemas.openxmlformats.org/drawingml/2006/main">
            <a:off x="6477000" y="25431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服务地址配置错误</a:t>
            </a:r>
          </a:p>
        </p:txBody>
      </p:sp>
      <p:sp>
        <p:nvSpPr>
          <p:cNvPr id="34" name="">
            <a:extLst xmlns:a="http://schemas.openxmlformats.org/drawingml/2006/main">
              <a:ext uri="{FF2B5EF4-FFF2-40B4-BE49-F238E27FC236}">
                <a16:creationId xmlns:a16="http://schemas.microsoft.com/office/drawing/2014/main" id="{1FBA7C79-F47F-424C-A534-F4595C47E827}"/>
              </a:ext>
            </a:extLst>
          </p:cNvPr>
          <p:cNvSpPr>
            <a:spLocks xmlns:a="http://schemas.openxmlformats.org/drawingml/2006/main" noGrp="1"/>
          </p:cNvSpPr>
          <p:nvPr/>
        </p:nvSpPr>
        <p:spPr>
          <a:xfrm xmlns:a="http://schemas.openxmlformats.org/drawingml/2006/main">
            <a:off x="8553450" y="257175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35" name="">
            <a:extLst xmlns:a="http://schemas.openxmlformats.org/drawingml/2006/main">
              <a:ext uri="{FF2B5EF4-FFF2-40B4-BE49-F238E27FC236}">
                <a16:creationId xmlns:a16="http://schemas.microsoft.com/office/drawing/2014/main" id="{83024B00-0091-4B2E-B582-7E1AF8A8BCF5}"/>
              </a:ext>
            </a:extLst>
          </p:cNvPr>
          <p:cNvSpPr>
            <a:spLocks xmlns:a="http://schemas.openxmlformats.org/drawingml/2006/main" noGrp="1"/>
          </p:cNvSpPr>
          <p:nvPr/>
        </p:nvSpPr>
        <p:spPr>
          <a:xfrm xmlns:a="http://schemas.openxmlformats.org/drawingml/2006/main">
            <a:off x="8553450" y="2571750"/>
            <a:ext cx="1867967" cy="161925"/>
          </a:xfrm>
          <a:prstGeom xmlns:a="http://schemas.openxmlformats.org/drawingml/2006/main" prst="roundRect">
            <a:avLst>
              <a:gd name="adj" fmla="val 47059"/>
            </a:avLst>
          </a:prstGeom>
          <a:solidFill xmlns:a="http://schemas.openxmlformats.org/drawingml/2006/main">
            <a:srgbClr val="E34A4A"/>
          </a:solidFill>
          <a:ln xmlns:a="http://schemas.openxmlformats.org/drawingml/2006/main" w="11430">
            <a:solidFill>
              <a:srgbClr val="E34A4A"/>
            </a:solidFill>
            <a:prstDash val="solid"/>
          </a:ln>
        </p:spPr>
      </p:sp>
      <p:sp>
        <p:nvSpPr>
          <p:cNvPr id="36" name="">
            <a:extLst xmlns:a="http://schemas.openxmlformats.org/drawingml/2006/main">
              <a:ext uri="{FF2B5EF4-FFF2-40B4-BE49-F238E27FC236}">
                <a16:creationId xmlns:a16="http://schemas.microsoft.com/office/drawing/2014/main" id="{5D0CC377-86C2-4ADD-BAC8-D1E9EDFF69CE}"/>
              </a:ext>
            </a:extLst>
          </p:cNvPr>
          <p:cNvSpPr>
            <a:spLocks xmlns:a="http://schemas.openxmlformats.org/drawingml/2006/main" noGrp="1"/>
          </p:cNvSpPr>
          <p:nvPr/>
        </p:nvSpPr>
        <p:spPr>
          <a:xfrm xmlns:a="http://schemas.openxmlformats.org/drawingml/2006/main">
            <a:off x="10591800" y="253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95.2%</a:t>
            </a:r>
          </a:p>
        </p:txBody>
      </p:sp>
      <p:sp>
        <p:nvSpPr>
          <p:cNvPr id="37" name="">
            <a:extLst xmlns:a="http://schemas.openxmlformats.org/drawingml/2006/main">
              <a:ext uri="{FF2B5EF4-FFF2-40B4-BE49-F238E27FC236}">
                <a16:creationId xmlns:a16="http://schemas.microsoft.com/office/drawing/2014/main" id="{E6C77EE0-1568-4659-A492-91DBCB2CEA00}"/>
              </a:ext>
            </a:extLst>
          </p:cNvPr>
          <p:cNvSpPr>
            <a:spLocks xmlns:a="http://schemas.openxmlformats.org/drawingml/2006/main" noGrp="1"/>
          </p:cNvSpPr>
          <p:nvPr/>
        </p:nvSpPr>
        <p:spPr>
          <a:xfrm xmlns:a="http://schemas.openxmlformats.org/drawingml/2006/main">
            <a:off x="6477000" y="29718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必需环境变量缺失</a:t>
            </a:r>
          </a:p>
        </p:txBody>
      </p:sp>
      <p:sp>
        <p:nvSpPr>
          <p:cNvPr id="38" name="">
            <a:extLst xmlns:a="http://schemas.openxmlformats.org/drawingml/2006/main">
              <a:ext uri="{FF2B5EF4-FFF2-40B4-BE49-F238E27FC236}">
                <a16:creationId xmlns:a16="http://schemas.microsoft.com/office/drawing/2014/main" id="{F909FDAE-96D8-457B-B8B8-5918BC9C3ADC}"/>
              </a:ext>
            </a:extLst>
          </p:cNvPr>
          <p:cNvSpPr>
            <a:spLocks xmlns:a="http://schemas.openxmlformats.org/drawingml/2006/main" noGrp="1"/>
          </p:cNvSpPr>
          <p:nvPr/>
        </p:nvSpPr>
        <p:spPr>
          <a:xfrm xmlns:a="http://schemas.openxmlformats.org/drawingml/2006/main">
            <a:off x="8553450" y="3000375"/>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39" name="">
            <a:extLst xmlns:a="http://schemas.openxmlformats.org/drawingml/2006/main">
              <a:ext uri="{FF2B5EF4-FFF2-40B4-BE49-F238E27FC236}">
                <a16:creationId xmlns:a16="http://schemas.microsoft.com/office/drawing/2014/main" id="{21072CA1-3FC3-4609-BFC3-5FEC8158E41E}"/>
              </a:ext>
            </a:extLst>
          </p:cNvPr>
          <p:cNvSpPr>
            <a:spLocks xmlns:a="http://schemas.openxmlformats.org/drawingml/2006/main" noGrp="1"/>
          </p:cNvSpPr>
          <p:nvPr/>
        </p:nvSpPr>
        <p:spPr>
          <a:xfrm xmlns:a="http://schemas.openxmlformats.org/drawingml/2006/main">
            <a:off x="8553450" y="3000375"/>
            <a:ext cx="76200" cy="161925"/>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40" name="">
            <a:extLst xmlns:a="http://schemas.openxmlformats.org/drawingml/2006/main">
              <a:ext uri="{FF2B5EF4-FFF2-40B4-BE49-F238E27FC236}">
                <a16:creationId xmlns:a16="http://schemas.microsoft.com/office/drawing/2014/main" id="{58191325-84EB-4CD2-B584-E2CDA2DE067C}"/>
              </a:ext>
            </a:extLst>
          </p:cNvPr>
          <p:cNvSpPr>
            <a:spLocks xmlns:a="http://schemas.openxmlformats.org/drawingml/2006/main" noGrp="1"/>
          </p:cNvSpPr>
          <p:nvPr/>
        </p:nvSpPr>
        <p:spPr>
          <a:xfrm xmlns:a="http://schemas.openxmlformats.org/drawingml/2006/main">
            <a:off x="10591800" y="29622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1.9%</a:t>
            </a:r>
          </a:p>
        </p:txBody>
      </p:sp>
      <p:sp>
        <p:nvSpPr>
          <p:cNvPr id="41" name="">
            <a:extLst xmlns:a="http://schemas.openxmlformats.org/drawingml/2006/main">
              <a:ext uri="{FF2B5EF4-FFF2-40B4-BE49-F238E27FC236}">
                <a16:creationId xmlns:a16="http://schemas.microsoft.com/office/drawing/2014/main" id="{467BB0EB-C21E-42A0-923E-FF34DEE79827}"/>
              </a:ext>
            </a:extLst>
          </p:cNvPr>
          <p:cNvSpPr>
            <a:spLocks xmlns:a="http://schemas.openxmlformats.org/drawingml/2006/main" noGrp="1"/>
          </p:cNvSpPr>
          <p:nvPr/>
        </p:nvSpPr>
        <p:spPr>
          <a:xfrm xmlns:a="http://schemas.openxmlformats.org/drawingml/2006/main">
            <a:off x="6477000" y="340042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端口被其他进程占用</a:t>
            </a:r>
          </a:p>
        </p:txBody>
      </p:sp>
      <p:sp>
        <p:nvSpPr>
          <p:cNvPr id="42" name="">
            <a:extLst xmlns:a="http://schemas.openxmlformats.org/drawingml/2006/main">
              <a:ext uri="{FF2B5EF4-FFF2-40B4-BE49-F238E27FC236}">
                <a16:creationId xmlns:a16="http://schemas.microsoft.com/office/drawing/2014/main" id="{B10DABC1-8C64-49A9-A5D5-725A13D64596}"/>
              </a:ext>
            </a:extLst>
          </p:cNvPr>
          <p:cNvSpPr>
            <a:spLocks xmlns:a="http://schemas.openxmlformats.org/drawingml/2006/main" noGrp="1"/>
          </p:cNvSpPr>
          <p:nvPr/>
        </p:nvSpPr>
        <p:spPr>
          <a:xfrm xmlns:a="http://schemas.openxmlformats.org/drawingml/2006/main">
            <a:off x="8553450" y="342900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43" name="">
            <a:extLst xmlns:a="http://schemas.openxmlformats.org/drawingml/2006/main">
              <a:ext uri="{FF2B5EF4-FFF2-40B4-BE49-F238E27FC236}">
                <a16:creationId xmlns:a16="http://schemas.microsoft.com/office/drawing/2014/main" id="{0F791237-5A69-4C81-B0C9-E1A581F5EA05}"/>
              </a:ext>
            </a:extLst>
          </p:cNvPr>
          <p:cNvSpPr>
            <a:spLocks xmlns:a="http://schemas.openxmlformats.org/drawingml/2006/main" noGrp="1"/>
          </p:cNvSpPr>
          <p:nvPr/>
        </p:nvSpPr>
        <p:spPr>
          <a:xfrm xmlns:a="http://schemas.openxmlformats.org/drawingml/2006/main">
            <a:off x="8553450" y="3429000"/>
            <a:ext cx="76200" cy="161925"/>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44" name="">
            <a:extLst xmlns:a="http://schemas.openxmlformats.org/drawingml/2006/main">
              <a:ext uri="{FF2B5EF4-FFF2-40B4-BE49-F238E27FC236}">
                <a16:creationId xmlns:a16="http://schemas.microsoft.com/office/drawing/2014/main" id="{ED3A5C91-A1D5-44D2-AB24-B3DAECF2D710}"/>
              </a:ext>
            </a:extLst>
          </p:cNvPr>
          <p:cNvSpPr>
            <a:spLocks xmlns:a="http://schemas.openxmlformats.org/drawingml/2006/main" noGrp="1"/>
          </p:cNvSpPr>
          <p:nvPr/>
        </p:nvSpPr>
        <p:spPr>
          <a:xfrm xmlns:a="http://schemas.openxmlformats.org/drawingml/2006/main">
            <a:off x="10591800" y="33909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1.4%</a:t>
            </a:r>
          </a:p>
        </p:txBody>
      </p:sp>
      <p:sp>
        <p:nvSpPr>
          <p:cNvPr id="45" name="">
            <a:extLst xmlns:a="http://schemas.openxmlformats.org/drawingml/2006/main">
              <a:ext uri="{FF2B5EF4-FFF2-40B4-BE49-F238E27FC236}">
                <a16:creationId xmlns:a16="http://schemas.microsoft.com/office/drawing/2014/main" id="{C3D1C765-E8D2-4D8C-96A2-5D484B20B1BD}"/>
              </a:ext>
            </a:extLst>
          </p:cNvPr>
          <p:cNvSpPr>
            <a:spLocks xmlns:a="http://schemas.openxmlformats.org/drawingml/2006/main" noGrp="1"/>
          </p:cNvSpPr>
          <p:nvPr/>
        </p:nvSpPr>
        <p:spPr>
          <a:xfrm xmlns:a="http://schemas.openxmlformats.org/drawingml/2006/main">
            <a:off x="6477000" y="38290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目标服务未启动</a:t>
            </a:r>
          </a:p>
        </p:txBody>
      </p:sp>
      <p:sp>
        <p:nvSpPr>
          <p:cNvPr id="46" name="">
            <a:extLst xmlns:a="http://schemas.openxmlformats.org/drawingml/2006/main">
              <a:ext uri="{FF2B5EF4-FFF2-40B4-BE49-F238E27FC236}">
                <a16:creationId xmlns:a16="http://schemas.microsoft.com/office/drawing/2014/main" id="{E5746549-FCF2-409F-A5F9-710F48B3CF32}"/>
              </a:ext>
            </a:extLst>
          </p:cNvPr>
          <p:cNvSpPr>
            <a:spLocks xmlns:a="http://schemas.openxmlformats.org/drawingml/2006/main" noGrp="1"/>
          </p:cNvSpPr>
          <p:nvPr/>
        </p:nvSpPr>
        <p:spPr>
          <a:xfrm xmlns:a="http://schemas.openxmlformats.org/drawingml/2006/main">
            <a:off x="8553450" y="3857625"/>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47" name="">
            <a:extLst xmlns:a="http://schemas.openxmlformats.org/drawingml/2006/main">
              <a:ext uri="{FF2B5EF4-FFF2-40B4-BE49-F238E27FC236}">
                <a16:creationId xmlns:a16="http://schemas.microsoft.com/office/drawing/2014/main" id="{23B55D6D-8223-430E-AD76-08CADBDC4F2A}"/>
              </a:ext>
            </a:extLst>
          </p:cNvPr>
          <p:cNvSpPr>
            <a:spLocks xmlns:a="http://schemas.openxmlformats.org/drawingml/2006/main" noGrp="1"/>
          </p:cNvSpPr>
          <p:nvPr/>
        </p:nvSpPr>
        <p:spPr>
          <a:xfrm xmlns:a="http://schemas.openxmlformats.org/drawingml/2006/main">
            <a:off x="8553450" y="3857625"/>
            <a:ext cx="76200" cy="161925"/>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48" name="">
            <a:extLst xmlns:a="http://schemas.openxmlformats.org/drawingml/2006/main">
              <a:ext uri="{FF2B5EF4-FFF2-40B4-BE49-F238E27FC236}">
                <a16:creationId xmlns:a16="http://schemas.microsoft.com/office/drawing/2014/main" id="{14DAD06E-9FE8-4E63-8B94-301ECF905255}"/>
              </a:ext>
            </a:extLst>
          </p:cNvPr>
          <p:cNvSpPr>
            <a:spLocks xmlns:a="http://schemas.openxmlformats.org/drawingml/2006/main" noGrp="1"/>
          </p:cNvSpPr>
          <p:nvPr/>
        </p:nvSpPr>
        <p:spPr>
          <a:xfrm xmlns:a="http://schemas.openxmlformats.org/drawingml/2006/main">
            <a:off x="10591800" y="381952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1.0%</a:t>
            </a:r>
          </a:p>
        </p:txBody>
      </p:sp>
      <p:sp>
        <p:nvSpPr>
          <p:cNvPr id="49" name="">
            <a:extLst xmlns:a="http://schemas.openxmlformats.org/drawingml/2006/main">
              <a:ext uri="{FF2B5EF4-FFF2-40B4-BE49-F238E27FC236}">
                <a16:creationId xmlns:a16="http://schemas.microsoft.com/office/drawing/2014/main" id="{AD36C804-D6D7-46B6-9F3E-214111E37AC9}"/>
              </a:ext>
            </a:extLst>
          </p:cNvPr>
          <p:cNvSpPr>
            <a:spLocks xmlns:a="http://schemas.openxmlformats.org/drawingml/2006/main" noGrp="1"/>
          </p:cNvSpPr>
          <p:nvPr/>
        </p:nvSpPr>
        <p:spPr>
          <a:xfrm xmlns:a="http://schemas.openxmlformats.org/drawingml/2006/main">
            <a:off x="6477000" y="42576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142735"/>
                </a:solidFill>
                <a:latin typeface="Hiragino Sans GB"/>
                <a:ea typeface="Hiragino Sans GB"/>
                <a:cs typeface="Hiragino Sans GB"/>
              </a:defRPr>
            </a:pPr>
            <a:r>
              <a:rPr sz="1050" b="0">
                <a:solidFill>
                  <a:srgbClr val="142735"/>
                </a:solidFill>
                <a:latin typeface="Hiragino Sans GB"/>
                <a:ea typeface="Hiragino Sans GB"/>
                <a:cs typeface="Hiragino Sans GB"/>
              </a:rPr>
              <a:t>认证信息无效</a:t>
            </a:r>
          </a:p>
        </p:txBody>
      </p:sp>
      <p:sp>
        <p:nvSpPr>
          <p:cNvPr id="50" name="">
            <a:extLst xmlns:a="http://schemas.openxmlformats.org/drawingml/2006/main">
              <a:ext uri="{FF2B5EF4-FFF2-40B4-BE49-F238E27FC236}">
                <a16:creationId xmlns:a16="http://schemas.microsoft.com/office/drawing/2014/main" id="{6AC7F671-E906-4470-B175-9452D4637BDD}"/>
              </a:ext>
            </a:extLst>
          </p:cNvPr>
          <p:cNvSpPr>
            <a:spLocks xmlns:a="http://schemas.openxmlformats.org/drawingml/2006/main" noGrp="1"/>
          </p:cNvSpPr>
          <p:nvPr/>
        </p:nvSpPr>
        <p:spPr>
          <a:xfrm xmlns:a="http://schemas.openxmlformats.org/drawingml/2006/main">
            <a:off x="8553450" y="4286250"/>
            <a:ext cx="1962150" cy="161925"/>
          </a:xfrm>
          <a:prstGeom xmlns:a="http://schemas.openxmlformats.org/drawingml/2006/main" prst="roundRect">
            <a:avLst>
              <a:gd name="adj" fmla="val 47059"/>
            </a:avLst>
          </a:prstGeom>
          <a:solidFill xmlns:a="http://schemas.openxmlformats.org/drawingml/2006/main">
            <a:srgbClr val="F4F7FA"/>
          </a:solidFill>
          <a:ln xmlns:a="http://schemas.openxmlformats.org/drawingml/2006/main" w="11430">
            <a:solidFill>
              <a:srgbClr val="F4F7FA"/>
            </a:solidFill>
            <a:prstDash val="solid"/>
          </a:ln>
        </p:spPr>
      </p:sp>
      <p:sp>
        <p:nvSpPr>
          <p:cNvPr id="51" name="">
            <a:extLst xmlns:a="http://schemas.openxmlformats.org/drawingml/2006/main">
              <a:ext uri="{FF2B5EF4-FFF2-40B4-BE49-F238E27FC236}">
                <a16:creationId xmlns:a16="http://schemas.microsoft.com/office/drawing/2014/main" id="{49E9BD58-B759-4574-B110-0F2CF0134BF5}"/>
              </a:ext>
            </a:extLst>
          </p:cNvPr>
          <p:cNvSpPr>
            <a:spLocks xmlns:a="http://schemas.openxmlformats.org/drawingml/2006/main" noGrp="1"/>
          </p:cNvSpPr>
          <p:nvPr/>
        </p:nvSpPr>
        <p:spPr>
          <a:xfrm xmlns:a="http://schemas.openxmlformats.org/drawingml/2006/main">
            <a:off x="8553450" y="4286250"/>
            <a:ext cx="76200" cy="161925"/>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52" name="">
            <a:extLst xmlns:a="http://schemas.openxmlformats.org/drawingml/2006/main">
              <a:ext uri="{FF2B5EF4-FFF2-40B4-BE49-F238E27FC236}">
                <a16:creationId xmlns:a16="http://schemas.microsoft.com/office/drawing/2014/main" id="{C2C1E239-48BD-4953-8705-943462E0E766}"/>
              </a:ext>
            </a:extLst>
          </p:cNvPr>
          <p:cNvSpPr>
            <a:spLocks xmlns:a="http://schemas.openxmlformats.org/drawingml/2006/main" noGrp="1"/>
          </p:cNvSpPr>
          <p:nvPr/>
        </p:nvSpPr>
        <p:spPr>
          <a:xfrm xmlns:a="http://schemas.openxmlformats.org/drawingml/2006/main">
            <a:off x="10591800" y="42481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0.4%</a:t>
            </a:r>
          </a:p>
        </p:txBody>
      </p:sp>
      <p:sp>
        <p:nvSpPr>
          <p:cNvPr id="53" name="">
            <a:extLst xmlns:a="http://schemas.openxmlformats.org/drawingml/2006/main">
              <a:ext uri="{FF2B5EF4-FFF2-40B4-BE49-F238E27FC236}">
                <a16:creationId xmlns:a16="http://schemas.microsoft.com/office/drawing/2014/main" id="{EBD9A40B-AF21-4B6F-9C15-DC79C14A71D9}"/>
              </a:ext>
            </a:extLst>
          </p:cNvPr>
          <p:cNvSpPr>
            <a:spLocks xmlns:a="http://schemas.openxmlformats.org/drawingml/2006/main" noGrp="1"/>
          </p:cNvSpPr>
          <p:nvPr/>
        </p:nvSpPr>
        <p:spPr>
          <a:xfrm xmlns:a="http://schemas.openxmlformats.org/drawingml/2006/main">
            <a:off x="895350" y="4772025"/>
            <a:ext cx="685800" cy="285750"/>
          </a:xfrm>
          <a:prstGeom xmlns:a="http://schemas.openxmlformats.org/drawingml/2006/main" prst="roundRect">
            <a:avLst>
              <a:gd name="adj" fmla="val 50000"/>
            </a:avLst>
          </a:prstGeom>
          <a:solidFill xmlns:a="http://schemas.openxmlformats.org/drawingml/2006/main">
            <a:srgbClr val="FFF7E8"/>
          </a:solidFill>
          <a:ln xmlns:a="http://schemas.openxmlformats.org/drawingml/2006/main" w="11430">
            <a:solidFill>
              <a:srgbClr val="FFF7E8"/>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9A5A00"/>
                </a:solidFill>
                <a:latin typeface="Hiragino Sans GB"/>
                <a:ea typeface="Hiragino Sans GB"/>
                <a:cs typeface="Hiragino Sans GB"/>
              </a:defRPr>
            </a:pPr>
            <a:r>
              <a:rPr sz="1050" b="1">
                <a:solidFill>
                  <a:srgbClr val="9A5A00"/>
                </a:solidFill>
                <a:latin typeface="Hiragino Sans GB"/>
                <a:ea typeface="Hiragino Sans GB"/>
                <a:cs typeface="Hiragino Sans GB"/>
              </a:rPr>
              <a:t>下一问</a:t>
            </a:r>
          </a:p>
        </p:txBody>
      </p:sp>
      <p:sp>
        <p:nvSpPr>
          <p:cNvPr id="54" name="">
            <a:extLst xmlns:a="http://schemas.openxmlformats.org/drawingml/2006/main">
              <a:ext uri="{FF2B5EF4-FFF2-40B4-BE49-F238E27FC236}">
                <a16:creationId xmlns:a16="http://schemas.microsoft.com/office/drawing/2014/main" id="{28A8BCDD-BC76-44E1-B460-DEF2CD044E52}"/>
              </a:ext>
            </a:extLst>
          </p:cNvPr>
          <p:cNvSpPr>
            <a:spLocks xmlns:a="http://schemas.openxmlformats.org/drawingml/2006/main" noGrp="1"/>
          </p:cNvSpPr>
          <p:nvPr/>
        </p:nvSpPr>
        <p:spPr>
          <a:xfrm xmlns:a="http://schemas.openxmlformats.org/drawingml/2006/main">
            <a:off x="1695450" y="4791075"/>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Hiragino Sans GB"/>
                <a:ea typeface="Hiragino Sans GB"/>
                <a:cs typeface="Hiragino Sans GB"/>
              </a:defRPr>
            </a:pPr>
            <a:r>
              <a:rPr sz="1125" b="1">
                <a:solidFill>
                  <a:srgbClr val="142735"/>
                </a:solidFill>
                <a:latin typeface="Hiragino Sans GB"/>
                <a:ea typeface="Hiragino Sans GB"/>
                <a:cs typeface="Hiragino Sans GB"/>
              </a:rPr>
              <a:t>宿主机正常、容器失败吗？</a:t>
            </a:r>
          </a:p>
        </p:txBody>
      </p:sp>
      <p:sp>
        <p:nvSpPr>
          <p:cNvPr id="55" name="">
            <a:extLst xmlns:a="http://schemas.openxmlformats.org/drawingml/2006/main">
              <a:ext uri="{FF2B5EF4-FFF2-40B4-BE49-F238E27FC236}">
                <a16:creationId xmlns:a16="http://schemas.microsoft.com/office/drawing/2014/main" id="{C09F14F6-840A-4957-84BD-F530FF5303C1}"/>
              </a:ext>
            </a:extLst>
          </p:cNvPr>
          <p:cNvSpPr>
            <a:spLocks xmlns:a="http://schemas.openxmlformats.org/drawingml/2006/main" noGrp="1"/>
          </p:cNvSpPr>
          <p:nvPr/>
        </p:nvSpPr>
        <p:spPr>
          <a:xfrm xmlns:a="http://schemas.openxmlformats.org/drawingml/2006/main">
            <a:off x="6477000" y="4772025"/>
            <a:ext cx="685800" cy="285750"/>
          </a:xfrm>
          <a:prstGeom xmlns:a="http://schemas.openxmlformats.org/drawingml/2006/main" prst="roundRect">
            <a:avLst>
              <a:gd name="adj" fmla="val 50000"/>
            </a:avLst>
          </a:prstGeom>
          <a:solidFill xmlns:a="http://schemas.openxmlformats.org/drawingml/2006/main">
            <a:srgbClr val="FFF7E8"/>
          </a:solidFill>
          <a:ln xmlns:a="http://schemas.openxmlformats.org/drawingml/2006/main" w="11430">
            <a:solidFill>
              <a:srgbClr val="FFF7E8"/>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9A5A00"/>
                </a:solidFill>
                <a:latin typeface="Hiragino Sans GB"/>
                <a:ea typeface="Hiragino Sans GB"/>
                <a:cs typeface="Hiragino Sans GB"/>
              </a:defRPr>
            </a:pPr>
            <a:r>
              <a:rPr sz="1050" b="1">
                <a:solidFill>
                  <a:srgbClr val="9A5A00"/>
                </a:solidFill>
                <a:latin typeface="Hiragino Sans GB"/>
                <a:ea typeface="Hiragino Sans GB"/>
                <a:cs typeface="Hiragino Sans GB"/>
              </a:rPr>
              <a:t>下一问</a:t>
            </a:r>
          </a:p>
        </p:txBody>
      </p:sp>
      <p:sp>
        <p:nvSpPr>
          <p:cNvPr id="56" name="">
            <a:extLst xmlns:a="http://schemas.openxmlformats.org/drawingml/2006/main">
              <a:ext uri="{FF2B5EF4-FFF2-40B4-BE49-F238E27FC236}">
                <a16:creationId xmlns:a16="http://schemas.microsoft.com/office/drawing/2014/main" id="{B7AD256F-C0CE-4330-9E24-3A0A7477DC95}"/>
              </a:ext>
            </a:extLst>
          </p:cNvPr>
          <p:cNvSpPr>
            <a:spLocks xmlns:a="http://schemas.openxmlformats.org/drawingml/2006/main" noGrp="1"/>
          </p:cNvSpPr>
          <p:nvPr/>
        </p:nvSpPr>
        <p:spPr>
          <a:xfrm xmlns:a="http://schemas.openxmlformats.org/drawingml/2006/main">
            <a:off x="7277100" y="47910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Hiragino Sans GB"/>
                <a:ea typeface="Hiragino Sans GB"/>
                <a:cs typeface="Hiragino Sans GB"/>
              </a:defRPr>
            </a:pPr>
            <a:r>
              <a:rPr sz="1125" b="1">
                <a:solidFill>
                  <a:srgbClr val="142735"/>
                </a:solidFill>
                <a:latin typeface="Hiragino Sans GB"/>
                <a:ea typeface="Hiragino Sans GB"/>
                <a:cs typeface="Hiragino Sans GB"/>
              </a:rPr>
              <a:t>必需环境变量缺失吗？</a:t>
            </a:r>
          </a:p>
        </p:txBody>
      </p:sp>
      <p:sp>
        <p:nvSpPr>
          <p:cNvPr id="57" name="">
            <a:extLst xmlns:a="http://schemas.openxmlformats.org/drawingml/2006/main">
              <a:ext uri="{FF2B5EF4-FFF2-40B4-BE49-F238E27FC236}">
                <a16:creationId xmlns:a16="http://schemas.microsoft.com/office/drawing/2014/main" id="{F726C09D-419A-4E53-8BBA-8B14EFE56334}"/>
              </a:ext>
            </a:extLst>
          </p:cNvPr>
          <p:cNvSpPr>
            <a:spLocks xmlns:a="http://schemas.openxmlformats.org/drawingml/2006/main" noGrp="1"/>
          </p:cNvSpPr>
          <p:nvPr/>
        </p:nvSpPr>
        <p:spPr>
          <a:xfrm xmlns:a="http://schemas.openxmlformats.org/drawingml/2006/main">
            <a:off x="9810750" y="4772025"/>
            <a:ext cx="762000" cy="285750"/>
          </a:xfrm>
          <a:prstGeom xmlns:a="http://schemas.openxmlformats.org/drawingml/2006/main" prst="roundRect">
            <a:avLst>
              <a:gd name="adj" fmla="val 50000"/>
            </a:avLst>
          </a:prstGeom>
          <a:solidFill xmlns:a="http://schemas.openxmlformats.org/drawingml/2006/main">
            <a:srgbClr val="EAF8F3"/>
          </a:solidFill>
          <a:ln xmlns:a="http://schemas.openxmlformats.org/drawingml/2006/main" w="11430">
            <a:solidFill>
              <a:srgbClr val="EAF8F3"/>
            </a:solidFill>
            <a:prstDash val="solid"/>
          </a:ln>
        </p:spPr>
        <p:txBody>
          <a:bodyPr xmlns:a="http://schemas.openxmlformats.org/drawingml/2006/main" lIns="76200" tIns="0" rIns="76200" bIns="0" anchor="ctr">
            <a:normAutofit fontScale="92475"/>
          </a:bodyPr>
          <a:lstStyle xmlns:a="http://schemas.openxmlformats.org/drawingml/2006/main"/>
          <a:p xmlns:a="http://schemas.openxmlformats.org/drawingml/2006/main">
            <a:pPr algn="ctr">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Context</a:t>
            </a:r>
          </a:p>
        </p:txBody>
      </p:sp>
      <p:sp>
        <p:nvSpPr>
          <p:cNvPr id="58" name="">
            <a:extLst xmlns:a="http://schemas.openxmlformats.org/drawingml/2006/main">
              <a:ext uri="{FF2B5EF4-FFF2-40B4-BE49-F238E27FC236}">
                <a16:creationId xmlns:a16="http://schemas.microsoft.com/office/drawing/2014/main" id="{42A1D4AB-75CA-4E84-895D-6DD4053B48F4}"/>
              </a:ext>
            </a:extLst>
          </p:cNvPr>
          <p:cNvSpPr>
            <a:spLocks xmlns:a="http://schemas.openxmlformats.org/drawingml/2006/main" noGrp="1"/>
          </p:cNvSpPr>
          <p:nvPr/>
        </p:nvSpPr>
        <p:spPr>
          <a:xfrm xmlns:a="http://schemas.openxmlformats.org/drawingml/2006/main">
            <a:off x="10648950" y="4791075"/>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Ollama</a:t>
            </a:r>
          </a:p>
        </p:txBody>
      </p:sp>
      <p:sp>
        <p:nvSpPr>
          <p:cNvPr id="59" name="">
            <a:extLst xmlns:a="http://schemas.openxmlformats.org/drawingml/2006/main">
              <a:ext uri="{FF2B5EF4-FFF2-40B4-BE49-F238E27FC236}">
                <a16:creationId xmlns:a16="http://schemas.microsoft.com/office/drawing/2014/main" id="{1189A4DE-7937-459B-984B-82687853368A}"/>
              </a:ext>
            </a:extLst>
          </p:cNvPr>
          <p:cNvSpPr>
            <a:spLocks xmlns:a="http://schemas.openxmlformats.org/drawingml/2006/main" noGrp="1"/>
          </p:cNvSpPr>
          <p:nvPr/>
        </p:nvSpPr>
        <p:spPr>
          <a:xfrm xmlns:a="http://schemas.openxmlformats.org/drawingml/2006/main">
            <a:off x="895350" y="51625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熵 1.850 bit</a:t>
            </a:r>
          </a:p>
        </p:txBody>
      </p:sp>
      <p:sp>
        <p:nvSpPr>
          <p:cNvPr id="60" name="">
            <a:extLst xmlns:a="http://schemas.openxmlformats.org/drawingml/2006/main">
              <a:ext uri="{FF2B5EF4-FFF2-40B4-BE49-F238E27FC236}">
                <a16:creationId xmlns:a16="http://schemas.microsoft.com/office/drawing/2014/main" id="{017BDBED-E13D-4C95-A711-3BD83683AEB3}"/>
              </a:ext>
            </a:extLst>
          </p:cNvPr>
          <p:cNvSpPr>
            <a:spLocks xmlns:a="http://schemas.openxmlformats.org/drawingml/2006/main" noGrp="1"/>
          </p:cNvSpPr>
          <p:nvPr/>
        </p:nvSpPr>
        <p:spPr>
          <a:xfrm xmlns:a="http://schemas.openxmlformats.org/drawingml/2006/main">
            <a:off x="6477000" y="51625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熵 0.364 bit</a:t>
            </a:r>
          </a:p>
        </p:txBody>
      </p:sp>
      <p:sp>
        <p:nvSpPr>
          <p:cNvPr id="61" name="">
            <a:extLst xmlns:a="http://schemas.openxmlformats.org/drawingml/2006/main">
              <a:ext uri="{FF2B5EF4-FFF2-40B4-BE49-F238E27FC236}">
                <a16:creationId xmlns:a16="http://schemas.microsoft.com/office/drawing/2014/main" id="{A6561A57-B358-4763-8C78-F57F5ED0348C}"/>
              </a:ext>
            </a:extLst>
          </p:cNvPr>
          <p:cNvSpPr>
            <a:spLocks xmlns:a="http://schemas.openxmlformats.org/drawingml/2006/main" noGrp="1"/>
          </p:cNvSpPr>
          <p:nvPr/>
        </p:nvSpPr>
        <p:spPr>
          <a:xfrm xmlns:a="http://schemas.openxmlformats.org/drawingml/2006/main">
            <a:off x="4476750" y="5619750"/>
            <a:ext cx="3238500" cy="533400"/>
          </a:xfrm>
          <a:prstGeom xmlns:a="http://schemas.openxmlformats.org/drawingml/2006/main" prst="roundRect">
            <a:avLst>
              <a:gd name="adj" fmla="val 25000"/>
            </a:avLst>
          </a:prstGeom>
          <a:solidFill xmlns:a="http://schemas.openxmlformats.org/drawingml/2006/main">
            <a:srgbClr val="142735"/>
          </a:solidFill>
          <a:ln xmlns:a="http://schemas.openxmlformats.org/drawingml/2006/main" w="11430">
            <a:solidFill>
              <a:srgbClr val="14273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Hiragino Sans GB"/>
                <a:ea typeface="Hiragino Sans GB"/>
                <a:cs typeface="Hiragino Sans GB"/>
              </a:defRPr>
            </a:pPr>
            <a:r>
              <a:rPr sz="1575" b="1">
                <a:solidFill>
                  <a:srgbClr val="FFFFFF"/>
                </a:solidFill>
                <a:latin typeface="Hiragino Sans GB"/>
                <a:ea typeface="Hiragino Sans GB"/>
                <a:cs typeface="Hiragino Sans GB"/>
              </a:rPr>
              <a:t>一次回答：56.0%  →  95.2%</a:t>
            </a:r>
          </a:p>
        </p:txBody>
      </p:sp>
      <p:sp>
        <p:nvSpPr>
          <p:cNvPr id="62" name="">
            <a:extLst xmlns:a="http://schemas.openxmlformats.org/drawingml/2006/main">
              <a:ext uri="{FF2B5EF4-FFF2-40B4-BE49-F238E27FC236}">
                <a16:creationId xmlns:a16="http://schemas.microsoft.com/office/drawing/2014/main" id="{0E943501-343F-4E53-8F7E-9D50C186D5C6}"/>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红色概率边进入推理后，候选概率、可见节点与下一问同时改变</a:t>
            </a:r>
          </a:p>
        </p:txBody>
      </p:sp>
      <p:sp>
        <p:nvSpPr>
          <p:cNvPr id="63" name="">
            <a:extLst xmlns:a="http://schemas.openxmlformats.org/drawingml/2006/main">
              <a:ext uri="{FF2B5EF4-FFF2-40B4-BE49-F238E27FC236}">
                <a16:creationId xmlns:a16="http://schemas.microsoft.com/office/drawing/2014/main" id="{AE936A4C-1A4F-4184-B639-E8CE5914D6C2}"/>
              </a:ext>
            </a:extLst>
          </p:cNvPr>
          <p:cNvSpPr>
            <a:spLocks xmlns:a="http://schemas.openxmlformats.org/drawingml/2006/main" noGrp="1"/>
          </p:cNvSpPr>
          <p:nvPr/>
        </p:nvSpPr>
        <p:spPr>
          <a:xfrm xmlns:a="http://schemas.openxmlformats.org/drawingml/2006/main">
            <a:off x="552450" y="1381125"/>
            <a:ext cx="11087100" cy="50482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11430">
            <a:solidFill>
              <a:srgbClr val="FFFFFF"/>
            </a:solidFill>
            <a:prstDash val="solid"/>
          </a:ln>
        </p:spPr>
      </p:sp>
      <p:sp>
        <p:nvSpPr>
          <p:cNvPr id="64" name="">
            <a:extLst xmlns:a="http://schemas.openxmlformats.org/drawingml/2006/main">
              <a:ext uri="{FF2B5EF4-FFF2-40B4-BE49-F238E27FC236}">
                <a16:creationId xmlns:a16="http://schemas.microsoft.com/office/drawing/2014/main" id="{4245757D-5623-4F0A-B792-BD731C77AD45}"/>
              </a:ext>
            </a:extLst>
          </p:cNvPr>
          <p:cNvSpPr>
            <a:spLocks xmlns:a="http://schemas.openxmlformats.org/drawingml/2006/main" noGrp="1"/>
          </p:cNvSpPr>
          <p:nvPr/>
        </p:nvSpPr>
        <p:spPr>
          <a:xfrm xmlns:a="http://schemas.openxmlformats.org/drawingml/2006/main">
            <a:off x="685800" y="1457325"/>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F5FBF"/>
                </a:solidFill>
                <a:latin typeface="Hiragino Sans GB"/>
                <a:ea typeface="Hiragino Sans GB"/>
                <a:cs typeface="Hiragino Sans GB"/>
              </a:defRPr>
            </a:pPr>
            <a:r>
              <a:rPr sz="1500" b="1">
                <a:solidFill>
                  <a:srgbClr val="1F5FBF"/>
                </a:solidFill>
                <a:latin typeface="Hiragino Sans GB"/>
                <a:ea typeface="Hiragino Sans GB"/>
                <a:cs typeface="Hiragino Sans GB"/>
              </a:rPr>
              <a:t>第 0 轮：初始检索形成 5 个候选原因</a:t>
            </a:r>
          </a:p>
        </p:txBody>
      </p:sp>
      <p:pic>
        <p:nvPicPr>
          <p:cNvPr id="198" name=""/>
          <p:cNvPicPr>
            <a:picLocks xmlns:a="http://schemas.openxmlformats.org/drawingml/2006/main" noChangeAspect="1"/>
          </p:cNvPicPr>
          <p:nvPr/>
        </p:nvPicPr>
        <p:blipFill>
          <a:blip xmlns:r="http://schemas.openxmlformats.org/officeDocument/2006/relationships" xmlns:a="http://schemas.openxmlformats.org/drawingml/2006/main" r:embed="R05f224e7f199453f"/>
          <a:stretch xmlns:a="http://schemas.openxmlformats.org/drawingml/2006/main"/>
        </p:blipFill>
        <p:spPr>
          <a:xfrm xmlns:a="http://schemas.openxmlformats.org/drawingml/2006/main">
            <a:off x="742950" y="1925964"/>
            <a:ext cx="10706100" cy="2720323"/>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FF7F4545-FB6C-4DA5-BB11-567763F52FB2}"/>
              </a:ext>
            </a:extLst>
          </p:cNvPr>
          <p:cNvSpPr>
            <a:spLocks xmlns:a="http://schemas.openxmlformats.org/drawingml/2006/main" noGrp="1"/>
          </p:cNvSpPr>
          <p:nvPr/>
        </p:nvSpPr>
        <p:spPr>
          <a:xfrm xmlns:a="http://schemas.openxmlformats.org/drawingml/2006/main">
            <a:off x="685800" y="4953000"/>
            <a:ext cx="2495550" cy="1066800"/>
          </a:xfrm>
          <a:prstGeom xmlns:a="http://schemas.openxmlformats.org/drawingml/2006/main" prst="roundRect">
            <a:avLst>
              <a:gd name="adj" fmla="val 10714"/>
            </a:avLst>
          </a:prstGeom>
          <a:solidFill xmlns:a="http://schemas.openxmlformats.org/drawingml/2006/main">
            <a:srgbClr val="F4F7FA"/>
          </a:solidFill>
          <a:ln xmlns:a="http://schemas.openxmlformats.org/drawingml/2006/main" w="11430">
            <a:solidFill>
              <a:srgbClr val="D8E0E7"/>
            </a:solidFill>
            <a:prstDash val="solid"/>
          </a:ln>
        </p:spPr>
      </p:sp>
      <p:sp>
        <p:nvSpPr>
          <p:cNvPr id="67" name="">
            <a:extLst xmlns:a="http://schemas.openxmlformats.org/drawingml/2006/main">
              <a:ext uri="{FF2B5EF4-FFF2-40B4-BE49-F238E27FC236}">
                <a16:creationId xmlns:a16="http://schemas.microsoft.com/office/drawing/2014/main" id="{034E8A18-FE4D-49C2-97B1-8290F9D30A42}"/>
              </a:ext>
            </a:extLst>
          </p:cNvPr>
          <p:cNvSpPr>
            <a:spLocks xmlns:a="http://schemas.openxmlformats.org/drawingml/2006/main" noGrp="1"/>
          </p:cNvSpPr>
          <p:nvPr/>
        </p:nvSpPr>
        <p:spPr>
          <a:xfrm xmlns:a="http://schemas.openxmlformats.org/drawingml/2006/main">
            <a:off x="838200" y="50863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Top-1</a:t>
            </a:r>
          </a:p>
        </p:txBody>
      </p:sp>
      <p:sp>
        <p:nvSpPr>
          <p:cNvPr id="68" name="">
            <a:extLst xmlns:a="http://schemas.openxmlformats.org/drawingml/2006/main">
              <a:ext uri="{FF2B5EF4-FFF2-40B4-BE49-F238E27FC236}">
                <a16:creationId xmlns:a16="http://schemas.microsoft.com/office/drawing/2014/main" id="{3C4D0DA7-7B61-4E16-9AF5-9CCFCC85DFD1}"/>
              </a:ext>
            </a:extLst>
          </p:cNvPr>
          <p:cNvSpPr>
            <a:spLocks xmlns:a="http://schemas.openxmlformats.org/drawingml/2006/main" noGrp="1"/>
          </p:cNvSpPr>
          <p:nvPr/>
        </p:nvSpPr>
        <p:spPr>
          <a:xfrm xmlns:a="http://schemas.openxmlformats.org/drawingml/2006/main">
            <a:off x="838200" y="5314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F5FBF"/>
                </a:solidFill>
                <a:latin typeface="Hiragino Sans GB"/>
                <a:ea typeface="Hiragino Sans GB"/>
                <a:cs typeface="Hiragino Sans GB"/>
              </a:defRPr>
            </a:pPr>
            <a:r>
              <a:rPr sz="1875" b="1">
                <a:solidFill>
                  <a:srgbClr val="1F5FBF"/>
                </a:solidFill>
                <a:latin typeface="Hiragino Sans GB"/>
                <a:ea typeface="Hiragino Sans GB"/>
                <a:cs typeface="Hiragino Sans GB"/>
              </a:rPr>
              <a:t>56.0%</a:t>
            </a:r>
          </a:p>
        </p:txBody>
      </p:sp>
      <p:sp>
        <p:nvSpPr>
          <p:cNvPr id="69" name="">
            <a:extLst xmlns:a="http://schemas.openxmlformats.org/drawingml/2006/main">
              <a:ext uri="{FF2B5EF4-FFF2-40B4-BE49-F238E27FC236}">
                <a16:creationId xmlns:a16="http://schemas.microsoft.com/office/drawing/2014/main" id="{718AA123-21FA-4A70-B734-96D63B98E8A8}"/>
              </a:ext>
            </a:extLst>
          </p:cNvPr>
          <p:cNvSpPr>
            <a:spLocks xmlns:a="http://schemas.openxmlformats.org/drawingml/2006/main" noGrp="1"/>
          </p:cNvSpPr>
          <p:nvPr/>
        </p:nvSpPr>
        <p:spPr>
          <a:xfrm xmlns:a="http://schemas.openxmlformats.org/drawingml/2006/main">
            <a:off x="838200" y="56673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服务地址配置错误</a:t>
            </a:r>
          </a:p>
        </p:txBody>
      </p:sp>
      <p:sp>
        <p:nvSpPr>
          <p:cNvPr id="70" name="">
            <a:extLst xmlns:a="http://schemas.openxmlformats.org/drawingml/2006/main">
              <a:ext uri="{FF2B5EF4-FFF2-40B4-BE49-F238E27FC236}">
                <a16:creationId xmlns:a16="http://schemas.microsoft.com/office/drawing/2014/main" id="{466045EC-C844-4367-A0A9-F5C5435AF1A2}"/>
              </a:ext>
            </a:extLst>
          </p:cNvPr>
          <p:cNvSpPr>
            <a:spLocks xmlns:a="http://schemas.openxmlformats.org/drawingml/2006/main" noGrp="1"/>
          </p:cNvSpPr>
          <p:nvPr/>
        </p:nvSpPr>
        <p:spPr>
          <a:xfrm xmlns:a="http://schemas.openxmlformats.org/drawingml/2006/main">
            <a:off x="3409950" y="4953000"/>
            <a:ext cx="2495550" cy="1066800"/>
          </a:xfrm>
          <a:prstGeom xmlns:a="http://schemas.openxmlformats.org/drawingml/2006/main" prst="roundRect">
            <a:avLst>
              <a:gd name="adj" fmla="val 10714"/>
            </a:avLst>
          </a:prstGeom>
          <a:solidFill xmlns:a="http://schemas.openxmlformats.org/drawingml/2006/main">
            <a:srgbClr val="F4F7FA"/>
          </a:solidFill>
          <a:ln xmlns:a="http://schemas.openxmlformats.org/drawingml/2006/main" w="11430">
            <a:solidFill>
              <a:srgbClr val="D8E0E7"/>
            </a:solidFill>
            <a:prstDash val="solid"/>
          </a:ln>
        </p:spPr>
      </p:sp>
      <p:sp>
        <p:nvSpPr>
          <p:cNvPr id="71" name="">
            <a:extLst xmlns:a="http://schemas.openxmlformats.org/drawingml/2006/main">
              <a:ext uri="{FF2B5EF4-FFF2-40B4-BE49-F238E27FC236}">
                <a16:creationId xmlns:a16="http://schemas.microsoft.com/office/drawing/2014/main" id="{287995F2-6DB3-468C-AD75-308D12C94193}"/>
              </a:ext>
            </a:extLst>
          </p:cNvPr>
          <p:cNvSpPr>
            <a:spLocks xmlns:a="http://schemas.openxmlformats.org/drawingml/2006/main" noGrp="1"/>
          </p:cNvSpPr>
          <p:nvPr/>
        </p:nvSpPr>
        <p:spPr>
          <a:xfrm xmlns:a="http://schemas.openxmlformats.org/drawingml/2006/main">
            <a:off x="3562350" y="50863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候选原因</a:t>
            </a:r>
          </a:p>
        </p:txBody>
      </p:sp>
      <p:sp>
        <p:nvSpPr>
          <p:cNvPr id="72" name="">
            <a:extLst xmlns:a="http://schemas.openxmlformats.org/drawingml/2006/main">
              <a:ext uri="{FF2B5EF4-FFF2-40B4-BE49-F238E27FC236}">
                <a16:creationId xmlns:a16="http://schemas.microsoft.com/office/drawing/2014/main" id="{B3E1F06E-9C6C-48FE-8FB3-F15BC36FDC40}"/>
              </a:ext>
            </a:extLst>
          </p:cNvPr>
          <p:cNvSpPr>
            <a:spLocks xmlns:a="http://schemas.openxmlformats.org/drawingml/2006/main" noGrp="1"/>
          </p:cNvSpPr>
          <p:nvPr/>
        </p:nvSpPr>
        <p:spPr>
          <a:xfrm xmlns:a="http://schemas.openxmlformats.org/drawingml/2006/main">
            <a:off x="3562350" y="5314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F59E0B"/>
                </a:solidFill>
                <a:latin typeface="Hiragino Sans GB"/>
                <a:ea typeface="Hiragino Sans GB"/>
                <a:cs typeface="Hiragino Sans GB"/>
              </a:defRPr>
            </a:pPr>
            <a:r>
              <a:rPr sz="1875" b="1">
                <a:solidFill>
                  <a:srgbClr val="F59E0B"/>
                </a:solidFill>
                <a:latin typeface="Hiragino Sans GB"/>
                <a:ea typeface="Hiragino Sans GB"/>
                <a:cs typeface="Hiragino Sans GB"/>
              </a:rPr>
              <a:t>5</a:t>
            </a:r>
          </a:p>
        </p:txBody>
      </p:sp>
      <p:sp>
        <p:nvSpPr>
          <p:cNvPr id="73" name="">
            <a:extLst xmlns:a="http://schemas.openxmlformats.org/drawingml/2006/main">
              <a:ext uri="{FF2B5EF4-FFF2-40B4-BE49-F238E27FC236}">
                <a16:creationId xmlns:a16="http://schemas.microsoft.com/office/drawing/2014/main" id="{F4C5320D-AFE6-471E-9F5A-5DB8CC5DBB3D}"/>
              </a:ext>
            </a:extLst>
          </p:cNvPr>
          <p:cNvSpPr>
            <a:spLocks xmlns:a="http://schemas.openxmlformats.org/drawingml/2006/main" noGrp="1"/>
          </p:cNvSpPr>
          <p:nvPr/>
        </p:nvSpPr>
        <p:spPr>
          <a:xfrm xmlns:a="http://schemas.openxmlformats.org/drawingml/2006/main">
            <a:off x="3562350" y="56673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仍需主动询问</a:t>
            </a:r>
          </a:p>
        </p:txBody>
      </p:sp>
      <p:sp>
        <p:nvSpPr>
          <p:cNvPr id="74" name="">
            <a:extLst xmlns:a="http://schemas.openxmlformats.org/drawingml/2006/main">
              <a:ext uri="{FF2B5EF4-FFF2-40B4-BE49-F238E27FC236}">
                <a16:creationId xmlns:a16="http://schemas.microsoft.com/office/drawing/2014/main" id="{1C4468E0-486D-4263-B1A8-C348026F8C6D}"/>
              </a:ext>
            </a:extLst>
          </p:cNvPr>
          <p:cNvSpPr>
            <a:spLocks xmlns:a="http://schemas.openxmlformats.org/drawingml/2006/main" noGrp="1"/>
          </p:cNvSpPr>
          <p:nvPr/>
        </p:nvSpPr>
        <p:spPr>
          <a:xfrm xmlns:a="http://schemas.openxmlformats.org/drawingml/2006/main">
            <a:off x="6134100" y="4953000"/>
            <a:ext cx="2495550" cy="1066800"/>
          </a:xfrm>
          <a:prstGeom xmlns:a="http://schemas.openxmlformats.org/drawingml/2006/main" prst="roundRect">
            <a:avLst>
              <a:gd name="adj" fmla="val 10714"/>
            </a:avLst>
          </a:prstGeom>
          <a:solidFill xmlns:a="http://schemas.openxmlformats.org/drawingml/2006/main">
            <a:srgbClr val="F4F7FA"/>
          </a:solidFill>
          <a:ln xmlns:a="http://schemas.openxmlformats.org/drawingml/2006/main" w="11430">
            <a:solidFill>
              <a:srgbClr val="D8E0E7"/>
            </a:solidFill>
            <a:prstDash val="solid"/>
          </a:ln>
        </p:spPr>
      </p:sp>
      <p:sp>
        <p:nvSpPr>
          <p:cNvPr id="75" name="">
            <a:extLst xmlns:a="http://schemas.openxmlformats.org/drawingml/2006/main">
              <a:ext uri="{FF2B5EF4-FFF2-40B4-BE49-F238E27FC236}">
                <a16:creationId xmlns:a16="http://schemas.microsoft.com/office/drawing/2014/main" id="{15D34E0B-5B8D-487A-854E-4368C755EBED}"/>
              </a:ext>
            </a:extLst>
          </p:cNvPr>
          <p:cNvSpPr>
            <a:spLocks xmlns:a="http://schemas.openxmlformats.org/drawingml/2006/main" noGrp="1"/>
          </p:cNvSpPr>
          <p:nvPr/>
        </p:nvSpPr>
        <p:spPr>
          <a:xfrm xmlns:a="http://schemas.openxmlformats.org/drawingml/2006/main">
            <a:off x="6286500" y="50863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当前熵</a:t>
            </a:r>
          </a:p>
        </p:txBody>
      </p:sp>
      <p:sp>
        <p:nvSpPr>
          <p:cNvPr id="76" name="">
            <a:extLst xmlns:a="http://schemas.openxmlformats.org/drawingml/2006/main">
              <a:ext uri="{FF2B5EF4-FFF2-40B4-BE49-F238E27FC236}">
                <a16:creationId xmlns:a16="http://schemas.microsoft.com/office/drawing/2014/main" id="{A3A5C494-6F0A-4391-A0A0-A63D8E35067B}"/>
              </a:ext>
            </a:extLst>
          </p:cNvPr>
          <p:cNvSpPr>
            <a:spLocks xmlns:a="http://schemas.openxmlformats.org/drawingml/2006/main" noGrp="1"/>
          </p:cNvSpPr>
          <p:nvPr/>
        </p:nvSpPr>
        <p:spPr>
          <a:xfrm xmlns:a="http://schemas.openxmlformats.org/drawingml/2006/main">
            <a:off x="6286500" y="5314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E34A4A"/>
                </a:solidFill>
                <a:latin typeface="Hiragino Sans GB"/>
                <a:ea typeface="Hiragino Sans GB"/>
                <a:cs typeface="Hiragino Sans GB"/>
              </a:defRPr>
            </a:pPr>
            <a:r>
              <a:rPr sz="1875" b="1">
                <a:solidFill>
                  <a:srgbClr val="E34A4A"/>
                </a:solidFill>
                <a:latin typeface="Hiragino Sans GB"/>
                <a:ea typeface="Hiragino Sans GB"/>
                <a:cs typeface="Hiragino Sans GB"/>
              </a:rPr>
              <a:t>1.850 bit</a:t>
            </a:r>
          </a:p>
        </p:txBody>
      </p:sp>
      <p:sp>
        <p:nvSpPr>
          <p:cNvPr id="77" name="">
            <a:extLst xmlns:a="http://schemas.openxmlformats.org/drawingml/2006/main">
              <a:ext uri="{FF2B5EF4-FFF2-40B4-BE49-F238E27FC236}">
                <a16:creationId xmlns:a16="http://schemas.microsoft.com/office/drawing/2014/main" id="{1B990A29-758E-439C-A333-51EDDD19C1E8}"/>
              </a:ext>
            </a:extLst>
          </p:cNvPr>
          <p:cNvSpPr>
            <a:spLocks xmlns:a="http://schemas.openxmlformats.org/drawingml/2006/main" noGrp="1"/>
          </p:cNvSpPr>
          <p:nvPr/>
        </p:nvSpPr>
        <p:spPr>
          <a:xfrm xmlns:a="http://schemas.openxmlformats.org/drawingml/2006/main">
            <a:off x="6286500" y="56673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原因分布仍然分散</a:t>
            </a:r>
          </a:p>
        </p:txBody>
      </p:sp>
      <p:sp>
        <p:nvSpPr>
          <p:cNvPr id="78" name="">
            <a:extLst xmlns:a="http://schemas.openxmlformats.org/drawingml/2006/main">
              <a:ext uri="{FF2B5EF4-FFF2-40B4-BE49-F238E27FC236}">
                <a16:creationId xmlns:a16="http://schemas.microsoft.com/office/drawing/2014/main" id="{E8B770BC-2B60-4993-A74C-337424441152}"/>
              </a:ext>
            </a:extLst>
          </p:cNvPr>
          <p:cNvSpPr>
            <a:spLocks xmlns:a="http://schemas.openxmlformats.org/drawingml/2006/main" noGrp="1"/>
          </p:cNvSpPr>
          <p:nvPr/>
        </p:nvSpPr>
        <p:spPr>
          <a:xfrm xmlns:a="http://schemas.openxmlformats.org/drawingml/2006/main">
            <a:off x="8858250" y="4953000"/>
            <a:ext cx="2495550" cy="1066800"/>
          </a:xfrm>
          <a:prstGeom xmlns:a="http://schemas.openxmlformats.org/drawingml/2006/main" prst="roundRect">
            <a:avLst>
              <a:gd name="adj" fmla="val 10714"/>
            </a:avLst>
          </a:prstGeom>
          <a:solidFill xmlns:a="http://schemas.openxmlformats.org/drawingml/2006/main">
            <a:srgbClr val="F4F7FA"/>
          </a:solidFill>
          <a:ln xmlns:a="http://schemas.openxmlformats.org/drawingml/2006/main" w="11430">
            <a:solidFill>
              <a:srgbClr val="D8E0E7"/>
            </a:solidFill>
            <a:prstDash val="solid"/>
          </a:ln>
        </p:spPr>
      </p:sp>
      <p:sp>
        <p:nvSpPr>
          <p:cNvPr id="79" name="">
            <a:extLst xmlns:a="http://schemas.openxmlformats.org/drawingml/2006/main">
              <a:ext uri="{FF2B5EF4-FFF2-40B4-BE49-F238E27FC236}">
                <a16:creationId xmlns:a16="http://schemas.microsoft.com/office/drawing/2014/main" id="{71048723-5AC1-4479-933E-8711B9018F1E}"/>
              </a:ext>
            </a:extLst>
          </p:cNvPr>
          <p:cNvSpPr>
            <a:spLocks xmlns:a="http://schemas.openxmlformats.org/drawingml/2006/main" noGrp="1"/>
          </p:cNvSpPr>
          <p:nvPr/>
        </p:nvSpPr>
        <p:spPr>
          <a:xfrm xmlns:a="http://schemas.openxmlformats.org/drawingml/2006/main">
            <a:off x="9010650" y="50863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第一问信息增益</a:t>
            </a:r>
          </a:p>
        </p:txBody>
      </p:sp>
      <p:sp>
        <p:nvSpPr>
          <p:cNvPr id="80" name="">
            <a:extLst xmlns:a="http://schemas.openxmlformats.org/drawingml/2006/main">
              <a:ext uri="{FF2B5EF4-FFF2-40B4-BE49-F238E27FC236}">
                <a16:creationId xmlns:a16="http://schemas.microsoft.com/office/drawing/2014/main" id="{F569D2D3-D16A-4D71-8DEB-C9BE5187E411}"/>
              </a:ext>
            </a:extLst>
          </p:cNvPr>
          <p:cNvSpPr>
            <a:spLocks xmlns:a="http://schemas.openxmlformats.org/drawingml/2006/main" noGrp="1"/>
          </p:cNvSpPr>
          <p:nvPr/>
        </p:nvSpPr>
        <p:spPr>
          <a:xfrm xmlns:a="http://schemas.openxmlformats.org/drawingml/2006/main">
            <a:off x="9010650" y="5314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68B6B"/>
                </a:solidFill>
                <a:latin typeface="Hiragino Sans GB"/>
                <a:ea typeface="Hiragino Sans GB"/>
                <a:cs typeface="Hiragino Sans GB"/>
              </a:defRPr>
            </a:pPr>
            <a:r>
              <a:rPr sz="1875" b="1">
                <a:solidFill>
                  <a:srgbClr val="168B6B"/>
                </a:solidFill>
                <a:latin typeface="Hiragino Sans GB"/>
                <a:ea typeface="Hiragino Sans GB"/>
                <a:cs typeface="Hiragino Sans GB"/>
              </a:rPr>
              <a:t>0.733 bit</a:t>
            </a:r>
          </a:p>
        </p:txBody>
      </p:sp>
      <p:sp>
        <p:nvSpPr>
          <p:cNvPr id="81" name="">
            <a:extLst xmlns:a="http://schemas.openxmlformats.org/drawingml/2006/main">
              <a:ext uri="{FF2B5EF4-FFF2-40B4-BE49-F238E27FC236}">
                <a16:creationId xmlns:a16="http://schemas.microsoft.com/office/drawing/2014/main" id="{D193FB2B-AFBE-4EB3-8A43-B8CB0BA5DDEC}"/>
              </a:ext>
            </a:extLst>
          </p:cNvPr>
          <p:cNvSpPr>
            <a:spLocks xmlns:a="http://schemas.openxmlformats.org/drawingml/2006/main" noGrp="1"/>
          </p:cNvSpPr>
          <p:nvPr/>
        </p:nvSpPr>
        <p:spPr>
          <a:xfrm xmlns:a="http://schemas.openxmlformats.org/drawingml/2006/main">
            <a:off x="9010650" y="56673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宿主机正常、容器失败吗？</a:t>
            </a:r>
          </a:p>
        </p:txBody>
      </p:sp>
      <p:sp>
        <p:nvSpPr>
          <p:cNvPr id="82" name="">
            <a:extLst xmlns:a="http://schemas.openxmlformats.org/drawingml/2006/main">
              <a:ext uri="{FF2B5EF4-FFF2-40B4-BE49-F238E27FC236}">
                <a16:creationId xmlns:a16="http://schemas.microsoft.com/office/drawing/2014/main" id="{415A9AD1-353C-4759-AE10-95FFFAC42A28}"/>
              </a:ext>
            </a:extLst>
          </p:cNvPr>
          <p:cNvSpPr>
            <a:spLocks xmlns:a="http://schemas.openxmlformats.org/drawingml/2006/main" noGrp="1"/>
          </p:cNvSpPr>
          <p:nvPr/>
        </p:nvSpPr>
        <p:spPr>
          <a:xfrm xmlns:a="http://schemas.openxmlformats.org/drawingml/2006/main">
            <a:off x="552450" y="6381750"/>
            <a:ext cx="11087100" cy="3429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11430">
            <a:solidFill>
              <a:srgbClr val="FFFFFF"/>
            </a:solidFill>
            <a:prstDash val="solid"/>
          </a:ln>
        </p:spPr>
      </p:sp>
      <p:sp>
        <p:nvSpPr>
          <p:cNvPr id="83" name="">
            <a:extLst xmlns:a="http://schemas.openxmlformats.org/drawingml/2006/main">
              <a:ext uri="{FF2B5EF4-FFF2-40B4-BE49-F238E27FC236}">
                <a16:creationId xmlns:a16="http://schemas.microsoft.com/office/drawing/2014/main" id="{AAF8847E-E190-4EA3-8064-848AB4D80965}"/>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初始检索只形成候选集合；系统还没有足够证据停止诊断</a:t>
            </a:r>
          </a:p>
        </p:txBody>
      </p:sp>
      <p:sp>
        <p:nvSpPr>
          <p:cNvPr id="84" name="">
            <a:extLst xmlns:a="http://schemas.openxmlformats.org/drawingml/2006/main">
              <a:ext uri="{FF2B5EF4-FFF2-40B4-BE49-F238E27FC236}">
                <a16:creationId xmlns:a16="http://schemas.microsoft.com/office/drawing/2014/main" id="{6F0DBB38-9028-4AAC-8A6A-3D94C10E083B}"/>
              </a:ext>
            </a:extLst>
          </p:cNvPr>
          <p:cNvSpPr>
            <a:spLocks xmlns:a="http://schemas.openxmlformats.org/drawingml/2006/main" noGrp="1"/>
          </p:cNvSpPr>
          <p:nvPr/>
        </p:nvSpPr>
        <p:spPr>
          <a:xfrm xmlns:a="http://schemas.openxmlformats.org/drawingml/2006/main">
            <a:off x="552450" y="1381125"/>
            <a:ext cx="11087100" cy="5381625"/>
          </a:xfrm>
          <a:prstGeom xmlns:a="http://schemas.openxmlformats.org/drawingml/2006/main" prst="roundRect">
            <a:avLst>
              <a:gd name="adj" fmla="val 0"/>
            </a:avLst>
          </a:prstGeom>
          <a:solidFill xmlns:a="http://schemas.openxmlformats.org/drawingml/2006/main">
            <a:srgbClr val="FFFFFF"/>
          </a:solidFill>
          <a:ln xmlns:a="http://schemas.openxmlformats.org/drawingml/2006/main" w="11430">
            <a:solidFill>
              <a:srgbClr val="FFFFFF"/>
            </a:solidFill>
            <a:prstDash val="solid"/>
          </a:ln>
        </p:spPr>
      </p:sp>
      <p:sp>
        <p:nvSpPr>
          <p:cNvPr id="85" name="">
            <a:extLst xmlns:a="http://schemas.openxmlformats.org/drawingml/2006/main">
              <a:ext uri="{FF2B5EF4-FFF2-40B4-BE49-F238E27FC236}">
                <a16:creationId xmlns:a16="http://schemas.microsoft.com/office/drawing/2014/main" id="{7C789B8A-1933-482C-AEDB-223D79C9BE07}"/>
              </a:ext>
            </a:extLst>
          </p:cNvPr>
          <p:cNvSpPr>
            <a:spLocks xmlns:a="http://schemas.openxmlformats.org/drawingml/2006/main" noGrp="1"/>
          </p:cNvSpPr>
          <p:nvPr/>
        </p:nvSpPr>
        <p:spPr>
          <a:xfrm xmlns:a="http://schemas.openxmlformats.org/drawingml/2006/main">
            <a:off x="685800" y="14668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F5FBF"/>
                </a:solidFill>
                <a:latin typeface="Hiragino Sans GB"/>
                <a:ea typeface="Hiragino Sans GB"/>
                <a:cs typeface="Hiragino Sans GB"/>
              </a:defRPr>
            </a:pPr>
            <a:r>
              <a:rPr sz="1500" b="1">
                <a:solidFill>
                  <a:srgbClr val="1F5FBF"/>
                </a:solidFill>
                <a:latin typeface="Hiragino Sans GB"/>
                <a:ea typeface="Hiragino Sans GB"/>
                <a:cs typeface="Hiragino Sans GB"/>
              </a:rPr>
              <a:t>第 0 轮：初始检索</a:t>
            </a:r>
          </a:p>
        </p:txBody>
      </p:sp>
      <p:sp>
        <p:nvSpPr>
          <p:cNvPr id="86" name="">
            <a:extLst xmlns:a="http://schemas.openxmlformats.org/drawingml/2006/main">
              <a:ext uri="{FF2B5EF4-FFF2-40B4-BE49-F238E27FC236}">
                <a16:creationId xmlns:a16="http://schemas.microsoft.com/office/drawing/2014/main" id="{42540D24-8032-4D9F-9523-F2AABF77C1C6}"/>
              </a:ext>
            </a:extLst>
          </p:cNvPr>
          <p:cNvSpPr>
            <a:spLocks xmlns:a="http://schemas.openxmlformats.org/drawingml/2006/main" noGrp="1"/>
          </p:cNvSpPr>
          <p:nvPr/>
        </p:nvSpPr>
        <p:spPr>
          <a:xfrm xmlns:a="http://schemas.openxmlformats.org/drawingml/2006/main">
            <a:off x="4000500" y="1504950"/>
            <a:ext cx="733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BM25检索证据  →  映射候选原因  →  融合图谱先验  →  归一化为初始概率</a:t>
            </a:r>
          </a:p>
        </p:txBody>
      </p:sp>
      <p:sp>
        <p:nvSpPr>
          <p:cNvPr id="87" name="">
            <a:extLst xmlns:a="http://schemas.openxmlformats.org/drawingml/2006/main">
              <a:ext uri="{FF2B5EF4-FFF2-40B4-BE49-F238E27FC236}">
                <a16:creationId xmlns:a16="http://schemas.microsoft.com/office/drawing/2014/main" id="{DC415C4E-78B4-4C0F-8349-4CC92DC83745}"/>
              </a:ext>
            </a:extLst>
          </p:cNvPr>
          <p:cNvSpPr>
            <a:spLocks xmlns:a="http://schemas.openxmlformats.org/drawingml/2006/main" noGrp="1"/>
          </p:cNvSpPr>
          <p:nvPr/>
        </p:nvSpPr>
        <p:spPr>
          <a:xfrm xmlns:a="http://schemas.openxmlformats.org/drawingml/2006/main">
            <a:off x="685800" y="1962150"/>
            <a:ext cx="3867150" cy="3943350"/>
          </a:xfrm>
          <a:prstGeom xmlns:a="http://schemas.openxmlformats.org/drawingml/2006/main" prst="roundRect">
            <a:avLst>
              <a:gd name="adj" fmla="val 3448"/>
            </a:avLst>
          </a:prstGeom>
          <a:solidFill xmlns:a="http://schemas.openxmlformats.org/drawingml/2006/main">
            <a:srgbClr val="F4F7FA"/>
          </a:solidFill>
          <a:ln xmlns:a="http://schemas.openxmlformats.org/drawingml/2006/main" w="11430">
            <a:solidFill>
              <a:srgbClr val="D8E0E7"/>
            </a:solidFill>
            <a:prstDash val="solid"/>
          </a:ln>
        </p:spPr>
      </p:sp>
      <p:sp>
        <p:nvSpPr>
          <p:cNvPr id="88" name="">
            <a:extLst xmlns:a="http://schemas.openxmlformats.org/drawingml/2006/main">
              <a:ext uri="{FF2B5EF4-FFF2-40B4-BE49-F238E27FC236}">
                <a16:creationId xmlns:a16="http://schemas.microsoft.com/office/drawing/2014/main" id="{80F3A7E3-DBC8-4C8F-87F7-C69175144B92}"/>
              </a:ext>
            </a:extLst>
          </p:cNvPr>
          <p:cNvSpPr>
            <a:spLocks xmlns:a="http://schemas.openxmlformats.org/drawingml/2006/main" noGrp="1"/>
          </p:cNvSpPr>
          <p:nvPr/>
        </p:nvSpPr>
        <p:spPr>
          <a:xfrm xmlns:a="http://schemas.openxmlformats.org/drawingml/2006/main">
            <a:off x="895350" y="21336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候选原因概率</a:t>
            </a:r>
          </a:p>
        </p:txBody>
      </p:sp>
      <p:sp>
        <p:nvSpPr>
          <p:cNvPr id="89" name="">
            <a:extLst xmlns:a="http://schemas.openxmlformats.org/drawingml/2006/main">
              <a:ext uri="{FF2B5EF4-FFF2-40B4-BE49-F238E27FC236}">
                <a16:creationId xmlns:a16="http://schemas.microsoft.com/office/drawing/2014/main" id="{08BEDD8A-EB60-4339-A345-8E784B6E0D4B}"/>
              </a:ext>
            </a:extLst>
          </p:cNvPr>
          <p:cNvSpPr>
            <a:spLocks xmlns:a="http://schemas.openxmlformats.org/drawingml/2006/main" noGrp="1"/>
          </p:cNvSpPr>
          <p:nvPr/>
        </p:nvSpPr>
        <p:spPr>
          <a:xfrm xmlns:a="http://schemas.openxmlformats.org/drawingml/2006/main">
            <a:off x="3276600" y="2114550"/>
            <a:ext cx="10287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初始检索</a:t>
            </a:r>
          </a:p>
        </p:txBody>
      </p:sp>
      <p:sp>
        <p:nvSpPr>
          <p:cNvPr id="90" name="">
            <a:extLst xmlns:a="http://schemas.openxmlformats.org/drawingml/2006/main">
              <a:ext uri="{FF2B5EF4-FFF2-40B4-BE49-F238E27FC236}">
                <a16:creationId xmlns:a16="http://schemas.microsoft.com/office/drawing/2014/main" id="{3FC59AB0-8A67-425E-8EC3-F780D1310113}"/>
              </a:ext>
            </a:extLst>
          </p:cNvPr>
          <p:cNvSpPr>
            <a:spLocks xmlns:a="http://schemas.openxmlformats.org/drawingml/2006/main" noGrp="1"/>
          </p:cNvSpPr>
          <p:nvPr/>
        </p:nvSpPr>
        <p:spPr>
          <a:xfrm xmlns:a="http://schemas.openxmlformats.org/drawingml/2006/main">
            <a:off x="895350" y="26479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a:t>
            </a:r>
          </a:p>
        </p:txBody>
      </p:sp>
      <p:sp>
        <p:nvSpPr>
          <p:cNvPr id="91" name="">
            <a:extLst xmlns:a="http://schemas.openxmlformats.org/drawingml/2006/main">
              <a:ext uri="{FF2B5EF4-FFF2-40B4-BE49-F238E27FC236}">
                <a16:creationId xmlns:a16="http://schemas.microsoft.com/office/drawing/2014/main" id="{F8F3E159-FD5B-4507-8E97-81A7EDDF4EE4}"/>
              </a:ext>
            </a:extLst>
          </p:cNvPr>
          <p:cNvSpPr>
            <a:spLocks xmlns:a="http://schemas.openxmlformats.org/drawingml/2006/main" noGrp="1"/>
          </p:cNvSpPr>
          <p:nvPr/>
        </p:nvSpPr>
        <p:spPr>
          <a:xfrm xmlns:a="http://schemas.openxmlformats.org/drawingml/2006/main">
            <a:off x="895350" y="28956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92" name="">
            <a:extLst xmlns:a="http://schemas.openxmlformats.org/drawingml/2006/main">
              <a:ext uri="{FF2B5EF4-FFF2-40B4-BE49-F238E27FC236}">
                <a16:creationId xmlns:a16="http://schemas.microsoft.com/office/drawing/2014/main" id="{40CC1882-C2E1-4C3D-805F-5ED523D9CC24}"/>
              </a:ext>
            </a:extLst>
          </p:cNvPr>
          <p:cNvSpPr>
            <a:spLocks xmlns:a="http://schemas.openxmlformats.org/drawingml/2006/main" noGrp="1"/>
          </p:cNvSpPr>
          <p:nvPr/>
        </p:nvSpPr>
        <p:spPr>
          <a:xfrm xmlns:a="http://schemas.openxmlformats.org/drawingml/2006/main">
            <a:off x="895350" y="2895600"/>
            <a:ext cx="1482852" cy="114300"/>
          </a:xfrm>
          <a:prstGeom xmlns:a="http://schemas.openxmlformats.org/drawingml/2006/main" prst="roundRect">
            <a:avLst>
              <a:gd name="adj" fmla="val 50000"/>
            </a:avLst>
          </a:prstGeom>
          <a:solidFill xmlns:a="http://schemas.openxmlformats.org/drawingml/2006/main">
            <a:srgbClr val="1F5FBF"/>
          </a:solidFill>
          <a:ln xmlns:a="http://schemas.openxmlformats.org/drawingml/2006/main" w="11430">
            <a:solidFill>
              <a:srgbClr val="1F5FBF"/>
            </a:solidFill>
            <a:prstDash val="solid"/>
          </a:ln>
        </p:spPr>
      </p:sp>
      <p:sp>
        <p:nvSpPr>
          <p:cNvPr id="93" name="">
            <a:extLst xmlns:a="http://schemas.openxmlformats.org/drawingml/2006/main">
              <a:ext uri="{FF2B5EF4-FFF2-40B4-BE49-F238E27FC236}">
                <a16:creationId xmlns:a16="http://schemas.microsoft.com/office/drawing/2014/main" id="{F1054997-DE51-4E57-AF57-448EF15342D4}"/>
              </a:ext>
            </a:extLst>
          </p:cNvPr>
          <p:cNvSpPr>
            <a:spLocks xmlns:a="http://schemas.openxmlformats.org/drawingml/2006/main" noGrp="1"/>
          </p:cNvSpPr>
          <p:nvPr/>
        </p:nvSpPr>
        <p:spPr>
          <a:xfrm xmlns:a="http://schemas.openxmlformats.org/drawingml/2006/main">
            <a:off x="3600450" y="28098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1F5FBF"/>
                </a:solidFill>
                <a:latin typeface="Hiragino Sans GB"/>
                <a:ea typeface="Hiragino Sans GB"/>
                <a:cs typeface="Hiragino Sans GB"/>
              </a:defRPr>
            </a:pPr>
            <a:r>
              <a:rPr sz="1125" b="1">
                <a:solidFill>
                  <a:srgbClr val="1F5FBF"/>
                </a:solidFill>
                <a:latin typeface="Hiragino Sans GB"/>
                <a:ea typeface="Hiragino Sans GB"/>
                <a:cs typeface="Hiragino Sans GB"/>
              </a:rPr>
              <a:t>56.0%</a:t>
            </a:r>
          </a:p>
        </p:txBody>
      </p:sp>
      <p:sp>
        <p:nvSpPr>
          <p:cNvPr id="94" name="">
            <a:extLst xmlns:a="http://schemas.openxmlformats.org/drawingml/2006/main">
              <a:ext uri="{FF2B5EF4-FFF2-40B4-BE49-F238E27FC236}">
                <a16:creationId xmlns:a16="http://schemas.microsoft.com/office/drawing/2014/main" id="{BEBEFBB2-8E4F-4679-9B37-87C6C2345B78}"/>
              </a:ext>
            </a:extLst>
          </p:cNvPr>
          <p:cNvSpPr>
            <a:spLocks xmlns:a="http://schemas.openxmlformats.org/drawingml/2006/main" noGrp="1"/>
          </p:cNvSpPr>
          <p:nvPr/>
        </p:nvSpPr>
        <p:spPr>
          <a:xfrm xmlns:a="http://schemas.openxmlformats.org/drawingml/2006/main">
            <a:off x="895350" y="31432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必需环境变量缺失</a:t>
            </a:r>
          </a:p>
        </p:txBody>
      </p:sp>
      <p:sp>
        <p:nvSpPr>
          <p:cNvPr id="95" name="">
            <a:extLst xmlns:a="http://schemas.openxmlformats.org/drawingml/2006/main">
              <a:ext uri="{FF2B5EF4-FFF2-40B4-BE49-F238E27FC236}">
                <a16:creationId xmlns:a16="http://schemas.microsoft.com/office/drawing/2014/main" id="{D32E929A-71CF-4457-B95E-7E783452F206}"/>
              </a:ext>
            </a:extLst>
          </p:cNvPr>
          <p:cNvSpPr>
            <a:spLocks xmlns:a="http://schemas.openxmlformats.org/drawingml/2006/main" noGrp="1"/>
          </p:cNvSpPr>
          <p:nvPr/>
        </p:nvSpPr>
        <p:spPr>
          <a:xfrm xmlns:a="http://schemas.openxmlformats.org/drawingml/2006/main">
            <a:off x="895350" y="33909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96" name="">
            <a:extLst xmlns:a="http://schemas.openxmlformats.org/drawingml/2006/main">
              <a:ext uri="{FF2B5EF4-FFF2-40B4-BE49-F238E27FC236}">
                <a16:creationId xmlns:a16="http://schemas.microsoft.com/office/drawing/2014/main" id="{5C1C35E6-118D-4146-AFE1-C18973C31311}"/>
              </a:ext>
            </a:extLst>
          </p:cNvPr>
          <p:cNvSpPr>
            <a:spLocks xmlns:a="http://schemas.openxmlformats.org/drawingml/2006/main" noGrp="1"/>
          </p:cNvSpPr>
          <p:nvPr/>
        </p:nvSpPr>
        <p:spPr>
          <a:xfrm xmlns:a="http://schemas.openxmlformats.org/drawingml/2006/main">
            <a:off x="895350" y="3390900"/>
            <a:ext cx="365417"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1430">
            <a:solidFill>
              <a:srgbClr val="F59E0B"/>
            </a:solidFill>
            <a:prstDash val="solid"/>
          </a:ln>
        </p:spPr>
      </p:sp>
      <p:sp>
        <p:nvSpPr>
          <p:cNvPr id="97" name="">
            <a:extLst xmlns:a="http://schemas.openxmlformats.org/drawingml/2006/main">
              <a:ext uri="{FF2B5EF4-FFF2-40B4-BE49-F238E27FC236}">
                <a16:creationId xmlns:a16="http://schemas.microsoft.com/office/drawing/2014/main" id="{75BFCB58-5796-44FF-9BF2-401193AD7BD3}"/>
              </a:ext>
            </a:extLst>
          </p:cNvPr>
          <p:cNvSpPr>
            <a:spLocks xmlns:a="http://schemas.openxmlformats.org/drawingml/2006/main" noGrp="1"/>
          </p:cNvSpPr>
          <p:nvPr/>
        </p:nvSpPr>
        <p:spPr>
          <a:xfrm xmlns:a="http://schemas.openxmlformats.org/drawingml/2006/main">
            <a:off x="3600450" y="33051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F59E0B"/>
                </a:solidFill>
                <a:latin typeface="Hiragino Sans GB"/>
                <a:ea typeface="Hiragino Sans GB"/>
                <a:cs typeface="Hiragino Sans GB"/>
              </a:defRPr>
            </a:pPr>
            <a:r>
              <a:rPr sz="1125" b="1">
                <a:solidFill>
                  <a:srgbClr val="F59E0B"/>
                </a:solidFill>
                <a:latin typeface="Hiragino Sans GB"/>
                <a:ea typeface="Hiragino Sans GB"/>
                <a:cs typeface="Hiragino Sans GB"/>
              </a:rPr>
              <a:t>13.8%</a:t>
            </a:r>
          </a:p>
        </p:txBody>
      </p:sp>
      <p:sp>
        <p:nvSpPr>
          <p:cNvPr id="98" name="">
            <a:extLst xmlns:a="http://schemas.openxmlformats.org/drawingml/2006/main">
              <a:ext uri="{FF2B5EF4-FFF2-40B4-BE49-F238E27FC236}">
                <a16:creationId xmlns:a16="http://schemas.microsoft.com/office/drawing/2014/main" id="{A10F5CF2-B6FD-4318-90CB-FE30CEB84B78}"/>
              </a:ext>
            </a:extLst>
          </p:cNvPr>
          <p:cNvSpPr>
            <a:spLocks xmlns:a="http://schemas.openxmlformats.org/drawingml/2006/main" noGrp="1"/>
          </p:cNvSpPr>
          <p:nvPr/>
        </p:nvSpPr>
        <p:spPr>
          <a:xfrm xmlns:a="http://schemas.openxmlformats.org/drawingml/2006/main">
            <a:off x="895350" y="36385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目标服务未启动</a:t>
            </a:r>
          </a:p>
        </p:txBody>
      </p:sp>
      <p:sp>
        <p:nvSpPr>
          <p:cNvPr id="99" name="">
            <a:extLst xmlns:a="http://schemas.openxmlformats.org/drawingml/2006/main">
              <a:ext uri="{FF2B5EF4-FFF2-40B4-BE49-F238E27FC236}">
                <a16:creationId xmlns:a16="http://schemas.microsoft.com/office/drawing/2014/main" id="{D7B044E6-A193-44CB-84D4-578AB9970548}"/>
              </a:ext>
            </a:extLst>
          </p:cNvPr>
          <p:cNvSpPr>
            <a:spLocks xmlns:a="http://schemas.openxmlformats.org/drawingml/2006/main" noGrp="1"/>
          </p:cNvSpPr>
          <p:nvPr/>
        </p:nvSpPr>
        <p:spPr>
          <a:xfrm xmlns:a="http://schemas.openxmlformats.org/drawingml/2006/main">
            <a:off x="895350" y="38862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100" name="">
            <a:extLst xmlns:a="http://schemas.openxmlformats.org/drawingml/2006/main">
              <a:ext uri="{FF2B5EF4-FFF2-40B4-BE49-F238E27FC236}">
                <a16:creationId xmlns:a16="http://schemas.microsoft.com/office/drawing/2014/main" id="{8A0CCCAE-AA2F-4D77-810C-3024DA71C444}"/>
              </a:ext>
            </a:extLst>
          </p:cNvPr>
          <p:cNvSpPr>
            <a:spLocks xmlns:a="http://schemas.openxmlformats.org/drawingml/2006/main" noGrp="1"/>
          </p:cNvSpPr>
          <p:nvPr/>
        </p:nvSpPr>
        <p:spPr>
          <a:xfrm xmlns:a="http://schemas.openxmlformats.org/drawingml/2006/main">
            <a:off x="895350" y="3886200"/>
            <a:ext cx="365417" cy="114300"/>
          </a:xfrm>
          <a:prstGeom xmlns:a="http://schemas.openxmlformats.org/drawingml/2006/main" prst="roundRect">
            <a:avLst>
              <a:gd name="adj" fmla="val 50000"/>
            </a:avLst>
          </a:prstGeom>
          <a:solidFill xmlns:a="http://schemas.openxmlformats.org/drawingml/2006/main">
            <a:srgbClr val="8EA1B7"/>
          </a:solidFill>
          <a:ln xmlns:a="http://schemas.openxmlformats.org/drawingml/2006/main" w="11430">
            <a:solidFill>
              <a:srgbClr val="8EA1B7"/>
            </a:solidFill>
            <a:prstDash val="solid"/>
          </a:ln>
        </p:spPr>
      </p:sp>
      <p:sp>
        <p:nvSpPr>
          <p:cNvPr id="101" name="">
            <a:extLst xmlns:a="http://schemas.openxmlformats.org/drawingml/2006/main">
              <a:ext uri="{FF2B5EF4-FFF2-40B4-BE49-F238E27FC236}">
                <a16:creationId xmlns:a16="http://schemas.microsoft.com/office/drawing/2014/main" id="{E8FA33E4-88E1-4733-B8FB-53B7538F83B5}"/>
              </a:ext>
            </a:extLst>
          </p:cNvPr>
          <p:cNvSpPr>
            <a:spLocks xmlns:a="http://schemas.openxmlformats.org/drawingml/2006/main" noGrp="1"/>
          </p:cNvSpPr>
          <p:nvPr/>
        </p:nvSpPr>
        <p:spPr>
          <a:xfrm xmlns:a="http://schemas.openxmlformats.org/drawingml/2006/main">
            <a:off x="3600450" y="38004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8EA1B7"/>
                </a:solidFill>
                <a:latin typeface="Hiragino Sans GB"/>
                <a:ea typeface="Hiragino Sans GB"/>
                <a:cs typeface="Hiragino Sans GB"/>
              </a:defRPr>
            </a:pPr>
            <a:r>
              <a:rPr sz="1125" b="1">
                <a:solidFill>
                  <a:srgbClr val="8EA1B7"/>
                </a:solidFill>
                <a:latin typeface="Hiragino Sans GB"/>
                <a:ea typeface="Hiragino Sans GB"/>
                <a:cs typeface="Hiragino Sans GB"/>
              </a:rPr>
              <a:t>13.8%</a:t>
            </a:r>
          </a:p>
        </p:txBody>
      </p:sp>
      <p:sp>
        <p:nvSpPr>
          <p:cNvPr id="102" name="">
            <a:extLst xmlns:a="http://schemas.openxmlformats.org/drawingml/2006/main">
              <a:ext uri="{FF2B5EF4-FFF2-40B4-BE49-F238E27FC236}">
                <a16:creationId xmlns:a16="http://schemas.microsoft.com/office/drawing/2014/main" id="{7FD51F05-2DF9-420E-89D6-84B0480721F2}"/>
              </a:ext>
            </a:extLst>
          </p:cNvPr>
          <p:cNvSpPr>
            <a:spLocks xmlns:a="http://schemas.openxmlformats.org/drawingml/2006/main" noGrp="1"/>
          </p:cNvSpPr>
          <p:nvPr/>
        </p:nvSpPr>
        <p:spPr>
          <a:xfrm xmlns:a="http://schemas.openxmlformats.org/drawingml/2006/main">
            <a:off x="895350" y="41338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端口被其他进程占用</a:t>
            </a:r>
          </a:p>
        </p:txBody>
      </p:sp>
      <p:sp>
        <p:nvSpPr>
          <p:cNvPr id="103" name="">
            <a:extLst xmlns:a="http://schemas.openxmlformats.org/drawingml/2006/main">
              <a:ext uri="{FF2B5EF4-FFF2-40B4-BE49-F238E27FC236}">
                <a16:creationId xmlns:a16="http://schemas.microsoft.com/office/drawing/2014/main" id="{F70DA476-99DC-443B-A4CE-3455F89CB833}"/>
              </a:ext>
            </a:extLst>
          </p:cNvPr>
          <p:cNvSpPr>
            <a:spLocks xmlns:a="http://schemas.openxmlformats.org/drawingml/2006/main" noGrp="1"/>
          </p:cNvSpPr>
          <p:nvPr/>
        </p:nvSpPr>
        <p:spPr>
          <a:xfrm xmlns:a="http://schemas.openxmlformats.org/drawingml/2006/main">
            <a:off x="895350" y="43815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104" name="">
            <a:extLst xmlns:a="http://schemas.openxmlformats.org/drawingml/2006/main">
              <a:ext uri="{FF2B5EF4-FFF2-40B4-BE49-F238E27FC236}">
                <a16:creationId xmlns:a16="http://schemas.microsoft.com/office/drawing/2014/main" id="{771CC476-E0EB-4DD1-B522-4CF7339DDD77}"/>
              </a:ext>
            </a:extLst>
          </p:cNvPr>
          <p:cNvSpPr>
            <a:spLocks xmlns:a="http://schemas.openxmlformats.org/drawingml/2006/main" noGrp="1"/>
          </p:cNvSpPr>
          <p:nvPr/>
        </p:nvSpPr>
        <p:spPr>
          <a:xfrm xmlns:a="http://schemas.openxmlformats.org/drawingml/2006/main">
            <a:off x="895350" y="4381500"/>
            <a:ext cx="219780"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105" name="">
            <a:extLst xmlns:a="http://schemas.openxmlformats.org/drawingml/2006/main">
              <a:ext uri="{FF2B5EF4-FFF2-40B4-BE49-F238E27FC236}">
                <a16:creationId xmlns:a16="http://schemas.microsoft.com/office/drawing/2014/main" id="{FD2599FB-D4EA-4863-8C82-850786869E85}"/>
              </a:ext>
            </a:extLst>
          </p:cNvPr>
          <p:cNvSpPr>
            <a:spLocks xmlns:a="http://schemas.openxmlformats.org/drawingml/2006/main" noGrp="1"/>
          </p:cNvSpPr>
          <p:nvPr/>
        </p:nvSpPr>
        <p:spPr>
          <a:xfrm xmlns:a="http://schemas.openxmlformats.org/drawingml/2006/main">
            <a:off x="3600450" y="429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8.3%</a:t>
            </a:r>
          </a:p>
        </p:txBody>
      </p:sp>
      <p:sp>
        <p:nvSpPr>
          <p:cNvPr id="106" name="">
            <a:extLst xmlns:a="http://schemas.openxmlformats.org/drawingml/2006/main">
              <a:ext uri="{FF2B5EF4-FFF2-40B4-BE49-F238E27FC236}">
                <a16:creationId xmlns:a16="http://schemas.microsoft.com/office/drawing/2014/main" id="{420004BC-9DF0-494A-9E0E-36E96171635F}"/>
              </a:ext>
            </a:extLst>
          </p:cNvPr>
          <p:cNvSpPr>
            <a:spLocks xmlns:a="http://schemas.openxmlformats.org/drawingml/2006/main" noGrp="1"/>
          </p:cNvSpPr>
          <p:nvPr/>
        </p:nvSpPr>
        <p:spPr>
          <a:xfrm xmlns:a="http://schemas.openxmlformats.org/drawingml/2006/main">
            <a:off x="895350" y="46291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认证信息无效</a:t>
            </a:r>
          </a:p>
        </p:txBody>
      </p:sp>
      <p:sp>
        <p:nvSpPr>
          <p:cNvPr id="107" name="">
            <a:extLst xmlns:a="http://schemas.openxmlformats.org/drawingml/2006/main">
              <a:ext uri="{FF2B5EF4-FFF2-40B4-BE49-F238E27FC236}">
                <a16:creationId xmlns:a16="http://schemas.microsoft.com/office/drawing/2014/main" id="{3F62B23D-3D90-4AED-9CD9-21E9DF640D54}"/>
              </a:ext>
            </a:extLst>
          </p:cNvPr>
          <p:cNvSpPr>
            <a:spLocks xmlns:a="http://schemas.openxmlformats.org/drawingml/2006/main" noGrp="1"/>
          </p:cNvSpPr>
          <p:nvPr/>
        </p:nvSpPr>
        <p:spPr>
          <a:xfrm xmlns:a="http://schemas.openxmlformats.org/drawingml/2006/main">
            <a:off x="895350" y="48768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108" name="">
            <a:extLst xmlns:a="http://schemas.openxmlformats.org/drawingml/2006/main">
              <a:ext uri="{FF2B5EF4-FFF2-40B4-BE49-F238E27FC236}">
                <a16:creationId xmlns:a16="http://schemas.microsoft.com/office/drawing/2014/main" id="{289D56CC-CAF3-4A5B-8150-BDDA567E09E7}"/>
              </a:ext>
            </a:extLst>
          </p:cNvPr>
          <p:cNvSpPr>
            <a:spLocks xmlns:a="http://schemas.openxmlformats.org/drawingml/2006/main" noGrp="1"/>
          </p:cNvSpPr>
          <p:nvPr/>
        </p:nvSpPr>
        <p:spPr>
          <a:xfrm xmlns:a="http://schemas.openxmlformats.org/drawingml/2006/main">
            <a:off x="895350" y="4876800"/>
            <a:ext cx="219780"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109" name="">
            <a:extLst xmlns:a="http://schemas.openxmlformats.org/drawingml/2006/main">
              <a:ext uri="{FF2B5EF4-FFF2-40B4-BE49-F238E27FC236}">
                <a16:creationId xmlns:a16="http://schemas.microsoft.com/office/drawing/2014/main" id="{B547EBAD-DF66-471E-A881-71E6EC5547AC}"/>
              </a:ext>
            </a:extLst>
          </p:cNvPr>
          <p:cNvSpPr>
            <a:spLocks xmlns:a="http://schemas.openxmlformats.org/drawingml/2006/main" noGrp="1"/>
          </p:cNvSpPr>
          <p:nvPr/>
        </p:nvSpPr>
        <p:spPr>
          <a:xfrm xmlns:a="http://schemas.openxmlformats.org/drawingml/2006/main">
            <a:off x="3600450" y="47910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8.3%</a:t>
            </a:r>
          </a:p>
        </p:txBody>
      </p:sp>
      <p:sp>
        <p:nvSpPr>
          <p:cNvPr id="110" name="">
            <a:extLst xmlns:a="http://schemas.openxmlformats.org/drawingml/2006/main">
              <a:ext uri="{FF2B5EF4-FFF2-40B4-BE49-F238E27FC236}">
                <a16:creationId xmlns:a16="http://schemas.microsoft.com/office/drawing/2014/main" id="{CCA7107D-91C3-47D0-853E-FE4C7086DC04}"/>
              </a:ext>
            </a:extLst>
          </p:cNvPr>
          <p:cNvSpPr>
            <a:spLocks xmlns:a="http://schemas.openxmlformats.org/drawingml/2006/main" noGrp="1"/>
          </p:cNvSpPr>
          <p:nvPr/>
        </p:nvSpPr>
        <p:spPr>
          <a:xfrm xmlns:a="http://schemas.openxmlformats.org/drawingml/2006/main">
            <a:off x="895350" y="54673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当前熵</a:t>
            </a:r>
          </a:p>
        </p:txBody>
      </p:sp>
      <p:sp>
        <p:nvSpPr>
          <p:cNvPr id="111" name="">
            <a:extLst xmlns:a="http://schemas.openxmlformats.org/drawingml/2006/main">
              <a:ext uri="{FF2B5EF4-FFF2-40B4-BE49-F238E27FC236}">
                <a16:creationId xmlns:a16="http://schemas.microsoft.com/office/drawing/2014/main" id="{21F2DE32-7B03-4477-8BA7-9486652165E4}"/>
              </a:ext>
            </a:extLst>
          </p:cNvPr>
          <p:cNvSpPr>
            <a:spLocks xmlns:a="http://schemas.openxmlformats.org/drawingml/2006/main" noGrp="1"/>
          </p:cNvSpPr>
          <p:nvPr/>
        </p:nvSpPr>
        <p:spPr>
          <a:xfrm xmlns:a="http://schemas.openxmlformats.org/drawingml/2006/main">
            <a:off x="1752600" y="54102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F5FBF"/>
                </a:solidFill>
                <a:latin typeface="Hiragino Sans GB"/>
                <a:ea typeface="Hiragino Sans GB"/>
                <a:cs typeface="Hiragino Sans GB"/>
              </a:defRPr>
            </a:pPr>
            <a:r>
              <a:rPr sz="1575" b="1">
                <a:solidFill>
                  <a:srgbClr val="1F5FBF"/>
                </a:solidFill>
                <a:latin typeface="Hiragino Sans GB"/>
                <a:ea typeface="Hiragino Sans GB"/>
                <a:cs typeface="Hiragino Sans GB"/>
              </a:rPr>
              <a:t>1.850 bit</a:t>
            </a:r>
          </a:p>
        </p:txBody>
      </p:sp>
      <p:sp>
        <p:nvSpPr>
          <p:cNvPr id="112" name="">
            <a:extLst xmlns:a="http://schemas.openxmlformats.org/drawingml/2006/main">
              <a:ext uri="{FF2B5EF4-FFF2-40B4-BE49-F238E27FC236}">
                <a16:creationId xmlns:a16="http://schemas.microsoft.com/office/drawing/2014/main" id="{4D48BBF3-C752-44C3-9FC3-46AD92AA8B7F}"/>
              </a:ext>
            </a:extLst>
          </p:cNvPr>
          <p:cNvSpPr>
            <a:spLocks xmlns:a="http://schemas.openxmlformats.org/drawingml/2006/main" noGrp="1"/>
          </p:cNvSpPr>
          <p:nvPr/>
        </p:nvSpPr>
        <p:spPr>
          <a:xfrm xmlns:a="http://schemas.openxmlformats.org/drawingml/2006/main">
            <a:off x="4876800" y="1962150"/>
            <a:ext cx="6629400" cy="3943350"/>
          </a:xfrm>
          <a:prstGeom xmlns:a="http://schemas.openxmlformats.org/drawingml/2006/main" prst="roundRect">
            <a:avLst>
              <a:gd name="adj" fmla="val 3382"/>
            </a:avLst>
          </a:prstGeom>
          <a:solidFill xmlns:a="http://schemas.openxmlformats.org/drawingml/2006/main">
            <a:srgbClr val="FFFFFF"/>
          </a:solidFill>
          <a:ln xmlns:a="http://schemas.openxmlformats.org/drawingml/2006/main" w="11430">
            <a:solidFill>
              <a:srgbClr val="D8E0E7"/>
            </a:solidFill>
            <a:prstDash val="solid"/>
          </a:ln>
        </p:spPr>
      </p:sp>
      <p:sp>
        <p:nvSpPr>
          <p:cNvPr id="113" name="">
            <a:extLst xmlns:a="http://schemas.openxmlformats.org/drawingml/2006/main">
              <a:ext uri="{FF2B5EF4-FFF2-40B4-BE49-F238E27FC236}">
                <a16:creationId xmlns:a16="http://schemas.microsoft.com/office/drawing/2014/main" id="{684ED5DF-3631-49B3-B627-3E324D2C5741}"/>
              </a:ext>
            </a:extLst>
          </p:cNvPr>
          <p:cNvSpPr>
            <a:spLocks xmlns:a="http://schemas.openxmlformats.org/drawingml/2006/main" noGrp="1"/>
          </p:cNvSpPr>
          <p:nvPr/>
        </p:nvSpPr>
        <p:spPr>
          <a:xfrm xmlns:a="http://schemas.openxmlformats.org/drawingml/2006/main">
            <a:off x="5086350" y="21336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当前候选子图</a:t>
            </a:r>
          </a:p>
        </p:txBody>
      </p:sp>
      <p:sp>
        <p:nvSpPr>
          <p:cNvPr id="114" name="">
            <a:extLst xmlns:a="http://schemas.openxmlformats.org/drawingml/2006/main">
              <a:ext uri="{FF2B5EF4-FFF2-40B4-BE49-F238E27FC236}">
                <a16:creationId xmlns:a16="http://schemas.microsoft.com/office/drawing/2014/main" id="{5465E3E8-2B56-4466-B350-EF500C72C6ED}"/>
              </a:ext>
            </a:extLst>
          </p:cNvPr>
          <p:cNvSpPr>
            <a:spLocks xmlns:a="http://schemas.openxmlformats.org/drawingml/2006/main" noGrp="1"/>
          </p:cNvSpPr>
          <p:nvPr/>
        </p:nvSpPr>
        <p:spPr>
          <a:xfrm xmlns:a="http://schemas.openxmlformats.org/drawingml/2006/main">
            <a:off x="7239000" y="2181225"/>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900" b="0">
                <a:solidFill>
                  <a:srgbClr val="5B6B78"/>
                </a:solidFill>
                <a:latin typeface="Hiragino Sans GB"/>
                <a:ea typeface="Hiragino Sans GB"/>
                <a:cs typeface="Hiragino Sans GB"/>
              </a:defRPr>
            </a:pPr>
            <a:r>
              <a:rPr sz="900" b="0">
                <a:solidFill>
                  <a:srgbClr val="5B6B78"/>
                </a:solidFill>
                <a:latin typeface="Hiragino Sans GB"/>
                <a:ea typeface="Hiragino Sans GB"/>
                <a:cs typeface="Hiragino Sans GB"/>
              </a:rPr>
              <a:t>蓝：故障　灰：证据　黄：原因　紫：问题</a:t>
            </a:r>
          </a:p>
        </p:txBody>
      </p:sp>
      <p:sp>
        <p:nvSpPr>
          <p:cNvPr id="115" name="">
            <a:extLst xmlns:a="http://schemas.openxmlformats.org/drawingml/2006/main">
              <a:ext uri="{FF2B5EF4-FFF2-40B4-BE49-F238E27FC236}">
                <a16:creationId xmlns:a16="http://schemas.microsoft.com/office/drawing/2014/main" id="{40058881-0FA4-4B84-A50B-501BF56D2D5A}"/>
              </a:ext>
            </a:extLst>
          </p:cNvPr>
          <p:cNvSpPr>
            <a:spLocks xmlns:a="http://schemas.openxmlformats.org/drawingml/2006/main" noGrp="1"/>
          </p:cNvSpPr>
          <p:nvPr/>
        </p:nvSpPr>
        <p:spPr>
          <a:xfrm xmlns:a="http://schemas.openxmlformats.org/drawingml/2006/main">
            <a:off x="8191500" y="2933700"/>
            <a:ext cx="0" cy="285750"/>
          </a:xfrm>
          <a:prstGeom xmlns:a="http://schemas.openxmlformats.org/drawingml/2006/main" prst="line">
            <a:avLst/>
          </a:prstGeom>
          <a:noFill xmlns:a="http://schemas.openxmlformats.org/drawingml/2006/main"/>
          <a:ln xmlns:a="http://schemas.openxmlformats.org/drawingml/2006/main" w="17145">
            <a:solidFill>
              <a:srgbClr val="91A1B4"/>
            </a:solidFill>
            <a:prstDash val="solid"/>
          </a:ln>
        </p:spPr>
      </p:sp>
      <p:sp>
        <p:nvSpPr>
          <p:cNvPr id="116" name="">
            <a:extLst xmlns:a="http://schemas.openxmlformats.org/drawingml/2006/main">
              <a:ext uri="{FF2B5EF4-FFF2-40B4-BE49-F238E27FC236}">
                <a16:creationId xmlns:a16="http://schemas.microsoft.com/office/drawing/2014/main" id="{C3054720-B2E0-478B-BB44-3A056F68684E}"/>
              </a:ext>
            </a:extLst>
          </p:cNvPr>
          <p:cNvSpPr>
            <a:spLocks xmlns:a="http://schemas.openxmlformats.org/drawingml/2006/main" noGrp="1"/>
          </p:cNvSpPr>
          <p:nvPr/>
        </p:nvSpPr>
        <p:spPr>
          <a:xfrm xmlns:a="http://schemas.openxmlformats.org/drawingml/2006/main">
            <a:off x="8191500" y="3714750"/>
            <a:ext cx="0" cy="285750"/>
          </a:xfrm>
          <a:prstGeom xmlns:a="http://schemas.openxmlformats.org/drawingml/2006/main" prst="line">
            <a:avLst/>
          </a:prstGeom>
          <a:noFill xmlns:a="http://schemas.openxmlformats.org/drawingml/2006/main"/>
          <a:ln xmlns:a="http://schemas.openxmlformats.org/drawingml/2006/main" w="17145">
            <a:solidFill>
              <a:srgbClr val="91A1B4"/>
            </a:solidFill>
            <a:prstDash val="solid"/>
          </a:ln>
        </p:spPr>
      </p:sp>
      <p:sp>
        <p:nvSpPr>
          <p:cNvPr id="117" name="">
            <a:extLst xmlns:a="http://schemas.openxmlformats.org/drawingml/2006/main">
              <a:ext uri="{FF2B5EF4-FFF2-40B4-BE49-F238E27FC236}">
                <a16:creationId xmlns:a16="http://schemas.microsoft.com/office/drawing/2014/main" id="{90EB7DC2-3C50-4A65-8210-1682A3DFA26C}"/>
              </a:ext>
            </a:extLst>
          </p:cNvPr>
          <p:cNvSpPr>
            <a:spLocks xmlns:a="http://schemas.openxmlformats.org/drawingml/2006/main" noGrp="1"/>
          </p:cNvSpPr>
          <p:nvPr/>
        </p:nvSpPr>
        <p:spPr>
          <a:xfrm xmlns:a="http://schemas.openxmlformats.org/drawingml/2006/main">
            <a:off x="8191500" y="4495800"/>
            <a:ext cx="0" cy="285750"/>
          </a:xfrm>
          <a:prstGeom xmlns:a="http://schemas.openxmlformats.org/drawingml/2006/main" prst="line">
            <a:avLst/>
          </a:prstGeom>
          <a:noFill xmlns:a="http://schemas.openxmlformats.org/drawingml/2006/main"/>
          <a:ln xmlns:a="http://schemas.openxmlformats.org/drawingml/2006/main" w="17145">
            <a:solidFill>
              <a:srgbClr val="1F5FBF"/>
            </a:solidFill>
            <a:prstDash val="solid"/>
          </a:ln>
        </p:spPr>
      </p:sp>
      <p:sp>
        <p:nvSpPr>
          <p:cNvPr id="118" name="">
            <a:extLst xmlns:a="http://schemas.openxmlformats.org/drawingml/2006/main">
              <a:ext uri="{FF2B5EF4-FFF2-40B4-BE49-F238E27FC236}">
                <a16:creationId xmlns:a16="http://schemas.microsoft.com/office/drawing/2014/main" id="{3AC8AEF5-2CD9-4439-A43C-D38345ADEA1F}"/>
              </a:ext>
            </a:extLst>
          </p:cNvPr>
          <p:cNvSpPr>
            <a:spLocks xmlns:a="http://schemas.openxmlformats.org/drawingml/2006/main" noGrp="1"/>
          </p:cNvSpPr>
          <p:nvPr/>
        </p:nvSpPr>
        <p:spPr>
          <a:xfrm xmlns:a="http://schemas.openxmlformats.org/drawingml/2006/main">
            <a:off x="6743700" y="2476500"/>
            <a:ext cx="2895600" cy="457200"/>
          </a:xfrm>
          <a:prstGeom xmlns:a="http://schemas.openxmlformats.org/drawingml/2006/main" prst="roundRect">
            <a:avLst>
              <a:gd name="adj" fmla="val 20833"/>
            </a:avLst>
          </a:prstGeom>
          <a:solidFill xmlns:a="http://schemas.openxmlformats.org/drawingml/2006/main">
            <a:srgbClr val="EEF5FF"/>
          </a:solidFill>
          <a:ln xmlns:a="http://schemas.openxmlformats.org/drawingml/2006/main" w="11430">
            <a:solidFill>
              <a:srgbClr val="1F5FBF"/>
            </a:solidFill>
            <a:prstDash val="solid"/>
          </a:ln>
        </p:spPr>
      </p:sp>
      <p:sp>
        <p:nvSpPr>
          <p:cNvPr id="119" name="">
            <a:extLst xmlns:a="http://schemas.openxmlformats.org/drawingml/2006/main">
              <a:ext uri="{FF2B5EF4-FFF2-40B4-BE49-F238E27FC236}">
                <a16:creationId xmlns:a16="http://schemas.microsoft.com/office/drawing/2014/main" id="{60DD9622-D225-4E8A-BB88-2B243B856991}"/>
              </a:ext>
            </a:extLst>
          </p:cNvPr>
          <p:cNvSpPr>
            <a:spLocks xmlns:a="http://schemas.openxmlformats.org/drawingml/2006/main" noGrp="1"/>
          </p:cNvSpPr>
          <p:nvPr/>
        </p:nvSpPr>
        <p:spPr>
          <a:xfrm xmlns:a="http://schemas.openxmlformats.org/drawingml/2006/main">
            <a:off x="6848475" y="2543175"/>
            <a:ext cx="2686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F5FBF"/>
                </a:solidFill>
                <a:latin typeface="Hiragino Sans GB"/>
                <a:ea typeface="Hiragino Sans GB"/>
                <a:cs typeface="Hiragino Sans GB"/>
              </a:defRPr>
            </a:pPr>
            <a:r>
              <a:rPr sz="750" b="1">
                <a:solidFill>
                  <a:srgbClr val="1F5FBF"/>
                </a:solidFill>
                <a:latin typeface="Hiragino Sans GB"/>
                <a:ea typeface="Hiragino Sans GB"/>
                <a:cs typeface="Hiragino Sans GB"/>
              </a:rPr>
              <a:t>Issue</a:t>
            </a:r>
          </a:p>
        </p:txBody>
      </p:sp>
      <p:sp>
        <p:nvSpPr>
          <p:cNvPr id="120" name="">
            <a:extLst xmlns:a="http://schemas.openxmlformats.org/drawingml/2006/main">
              <a:ext uri="{FF2B5EF4-FFF2-40B4-BE49-F238E27FC236}">
                <a16:creationId xmlns:a16="http://schemas.microsoft.com/office/drawing/2014/main" id="{BC0D1E6B-4091-44B6-8DB7-1E1BB3F0EB89}"/>
              </a:ext>
            </a:extLst>
          </p:cNvPr>
          <p:cNvSpPr>
            <a:spLocks xmlns:a="http://schemas.openxmlformats.org/drawingml/2006/main" noGrp="1"/>
          </p:cNvSpPr>
          <p:nvPr/>
        </p:nvSpPr>
        <p:spPr>
          <a:xfrm xmlns:a="http://schemas.openxmlformats.org/drawingml/2006/main">
            <a:off x="6848475" y="2714625"/>
            <a:ext cx="2686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服务或配置连接失败</a:t>
            </a:r>
          </a:p>
        </p:txBody>
      </p:sp>
      <p:sp>
        <p:nvSpPr>
          <p:cNvPr id="121" name="">
            <a:extLst xmlns:a="http://schemas.openxmlformats.org/drawingml/2006/main">
              <a:ext uri="{FF2B5EF4-FFF2-40B4-BE49-F238E27FC236}">
                <a16:creationId xmlns:a16="http://schemas.microsoft.com/office/drawing/2014/main" id="{0AFAA9CC-C704-485B-841D-3E58AE90D924}"/>
              </a:ext>
            </a:extLst>
          </p:cNvPr>
          <p:cNvSpPr>
            <a:spLocks xmlns:a="http://schemas.openxmlformats.org/drawingml/2006/main" noGrp="1"/>
          </p:cNvSpPr>
          <p:nvPr/>
        </p:nvSpPr>
        <p:spPr>
          <a:xfrm xmlns:a="http://schemas.openxmlformats.org/drawingml/2006/main">
            <a:off x="6057900" y="3219450"/>
            <a:ext cx="4267200" cy="495300"/>
          </a:xfrm>
          <a:prstGeom xmlns:a="http://schemas.openxmlformats.org/drawingml/2006/main" prst="roundRect">
            <a:avLst>
              <a:gd name="adj" fmla="val 19231"/>
            </a:avLst>
          </a:prstGeom>
          <a:solidFill xmlns:a="http://schemas.openxmlformats.org/drawingml/2006/main">
            <a:srgbClr val="F4F7FA"/>
          </a:solidFill>
          <a:ln xmlns:a="http://schemas.openxmlformats.org/drawingml/2006/main" w="11430">
            <a:solidFill>
              <a:srgbClr val="91A1B4"/>
            </a:solidFill>
            <a:prstDash val="solid"/>
          </a:ln>
        </p:spPr>
      </p:sp>
      <p:sp>
        <p:nvSpPr>
          <p:cNvPr id="122" name="">
            <a:extLst xmlns:a="http://schemas.openxmlformats.org/drawingml/2006/main">
              <a:ext uri="{FF2B5EF4-FFF2-40B4-BE49-F238E27FC236}">
                <a16:creationId xmlns:a16="http://schemas.microsoft.com/office/drawing/2014/main" id="{602CBF01-59E6-4985-9DAC-E068B7B341BC}"/>
              </a:ext>
            </a:extLst>
          </p:cNvPr>
          <p:cNvSpPr>
            <a:spLocks xmlns:a="http://schemas.openxmlformats.org/drawingml/2006/main" noGrp="1"/>
          </p:cNvSpPr>
          <p:nvPr/>
        </p:nvSpPr>
        <p:spPr>
          <a:xfrm xmlns:a="http://schemas.openxmlformats.org/drawingml/2006/main">
            <a:off x="6162675" y="3286125"/>
            <a:ext cx="4057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EvidenceChunk × 3</a:t>
            </a:r>
          </a:p>
        </p:txBody>
      </p:sp>
      <p:sp>
        <p:nvSpPr>
          <p:cNvPr id="123" name="">
            <a:extLst xmlns:a="http://schemas.openxmlformats.org/drawingml/2006/main">
              <a:ext uri="{FF2B5EF4-FFF2-40B4-BE49-F238E27FC236}">
                <a16:creationId xmlns:a16="http://schemas.microsoft.com/office/drawing/2014/main" id="{A195F639-377D-494A-8D10-F9A42F2765A0}"/>
              </a:ext>
            </a:extLst>
          </p:cNvPr>
          <p:cNvSpPr>
            <a:spLocks xmlns:a="http://schemas.openxmlformats.org/drawingml/2006/main" noGrp="1"/>
          </p:cNvSpPr>
          <p:nvPr/>
        </p:nvSpPr>
        <p:spPr>
          <a:xfrm xmlns:a="http://schemas.openxmlformats.org/drawingml/2006/main">
            <a:off x="6162675" y="3457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142735"/>
                </a:solidFill>
                <a:latin typeface="Hiragino Sans GB"/>
                <a:ea typeface="Hiragino Sans GB"/>
                <a:cs typeface="Hiragino Sans GB"/>
              </a:defRPr>
            </a:pPr>
            <a:r>
              <a:rPr sz="975" b="1">
                <a:solidFill>
                  <a:srgbClr val="142735"/>
                </a:solidFill>
                <a:latin typeface="Hiragino Sans GB"/>
                <a:ea typeface="Hiragino Sans GB"/>
                <a:cs typeface="Hiragino Sans GB"/>
              </a:rPr>
              <a:t>Docker容器、Open WebUI、Ollama端点</a:t>
            </a:r>
          </a:p>
        </p:txBody>
      </p:sp>
      <p:sp>
        <p:nvSpPr>
          <p:cNvPr id="124" name="">
            <a:extLst xmlns:a="http://schemas.openxmlformats.org/drawingml/2006/main">
              <a:ext uri="{FF2B5EF4-FFF2-40B4-BE49-F238E27FC236}">
                <a16:creationId xmlns:a16="http://schemas.microsoft.com/office/drawing/2014/main" id="{B3D910C6-6593-43CB-8EF1-23798F10260D}"/>
              </a:ext>
            </a:extLst>
          </p:cNvPr>
          <p:cNvSpPr>
            <a:spLocks xmlns:a="http://schemas.openxmlformats.org/drawingml/2006/main" noGrp="1"/>
          </p:cNvSpPr>
          <p:nvPr/>
        </p:nvSpPr>
        <p:spPr>
          <a:xfrm xmlns:a="http://schemas.openxmlformats.org/drawingml/2006/main">
            <a:off x="6610350" y="4000500"/>
            <a:ext cx="3162300" cy="495300"/>
          </a:xfrm>
          <a:prstGeom xmlns:a="http://schemas.openxmlformats.org/drawingml/2006/main" prst="roundRect">
            <a:avLst>
              <a:gd name="adj" fmla="val 19231"/>
            </a:avLst>
          </a:prstGeom>
          <a:solidFill xmlns:a="http://schemas.openxmlformats.org/drawingml/2006/main">
            <a:srgbClr val="FFF7E8"/>
          </a:solidFill>
          <a:ln xmlns:a="http://schemas.openxmlformats.org/drawingml/2006/main" w="11430">
            <a:solidFill>
              <a:srgbClr val="F59E0B"/>
            </a:solidFill>
            <a:prstDash val="solid"/>
          </a:ln>
        </p:spPr>
      </p:sp>
      <p:sp>
        <p:nvSpPr>
          <p:cNvPr id="125" name="">
            <a:extLst xmlns:a="http://schemas.openxmlformats.org/drawingml/2006/main">
              <a:ext uri="{FF2B5EF4-FFF2-40B4-BE49-F238E27FC236}">
                <a16:creationId xmlns:a16="http://schemas.microsoft.com/office/drawing/2014/main" id="{B35D29D5-B342-4CDE-AA15-8B92AB2FE54F}"/>
              </a:ext>
            </a:extLst>
          </p:cNvPr>
          <p:cNvSpPr>
            <a:spLocks xmlns:a="http://schemas.openxmlformats.org/drawingml/2006/main" noGrp="1"/>
          </p:cNvSpPr>
          <p:nvPr/>
        </p:nvSpPr>
        <p:spPr>
          <a:xfrm xmlns:a="http://schemas.openxmlformats.org/drawingml/2006/main">
            <a:off x="6715125" y="4067175"/>
            <a:ext cx="2952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F59E0B"/>
                </a:solidFill>
                <a:latin typeface="Hiragino Sans GB"/>
                <a:ea typeface="Hiragino Sans GB"/>
                <a:cs typeface="Hiragino Sans GB"/>
              </a:defRPr>
            </a:pPr>
            <a:r>
              <a:rPr sz="750" b="1">
                <a:solidFill>
                  <a:srgbClr val="F59E0B"/>
                </a:solidFill>
                <a:latin typeface="Hiragino Sans GB"/>
                <a:ea typeface="Hiragino Sans GB"/>
                <a:cs typeface="Hiragino Sans GB"/>
              </a:rPr>
              <a:t>Cause</a:t>
            </a:r>
          </a:p>
        </p:txBody>
      </p:sp>
      <p:sp>
        <p:nvSpPr>
          <p:cNvPr id="126" name="">
            <a:extLst xmlns:a="http://schemas.openxmlformats.org/drawingml/2006/main">
              <a:ext uri="{FF2B5EF4-FFF2-40B4-BE49-F238E27FC236}">
                <a16:creationId xmlns:a16="http://schemas.microsoft.com/office/drawing/2014/main" id="{B6AD64B5-ED76-46A6-B4C2-23D5BA1877C8}"/>
              </a:ext>
            </a:extLst>
          </p:cNvPr>
          <p:cNvSpPr>
            <a:spLocks xmlns:a="http://schemas.openxmlformats.org/drawingml/2006/main" noGrp="1"/>
          </p:cNvSpPr>
          <p:nvPr/>
        </p:nvSpPr>
        <p:spPr>
          <a:xfrm xmlns:a="http://schemas.openxmlformats.org/drawingml/2006/main">
            <a:off x="6715125" y="4238625"/>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  56.0%</a:t>
            </a:r>
          </a:p>
        </p:txBody>
      </p:sp>
      <p:sp>
        <p:nvSpPr>
          <p:cNvPr id="127" name="">
            <a:extLst xmlns:a="http://schemas.openxmlformats.org/drawingml/2006/main">
              <a:ext uri="{FF2B5EF4-FFF2-40B4-BE49-F238E27FC236}">
                <a16:creationId xmlns:a16="http://schemas.microsoft.com/office/drawing/2014/main" id="{3D50D42E-F77A-44B4-B264-B517DBD50610}"/>
              </a:ext>
            </a:extLst>
          </p:cNvPr>
          <p:cNvSpPr>
            <a:spLocks xmlns:a="http://schemas.openxmlformats.org/drawingml/2006/main" noGrp="1"/>
          </p:cNvSpPr>
          <p:nvPr/>
        </p:nvSpPr>
        <p:spPr>
          <a:xfrm xmlns:a="http://schemas.openxmlformats.org/drawingml/2006/main">
            <a:off x="9886950" y="4000500"/>
            <a:ext cx="1390650" cy="495300"/>
          </a:xfrm>
          <a:prstGeom xmlns:a="http://schemas.openxmlformats.org/drawingml/2006/main" prst="roundRect">
            <a:avLst>
              <a:gd name="adj" fmla="val 19231"/>
            </a:avLst>
          </a:prstGeom>
          <a:solidFill xmlns:a="http://schemas.openxmlformats.org/drawingml/2006/main">
            <a:srgbClr val="F4F7FA"/>
          </a:solidFill>
          <a:ln xmlns:a="http://schemas.openxmlformats.org/drawingml/2006/main" w="11430">
            <a:solidFill>
              <a:srgbClr val="91A1B4"/>
            </a:solidFill>
            <a:prstDash val="solid"/>
          </a:ln>
        </p:spPr>
      </p:sp>
      <p:sp>
        <p:nvSpPr>
          <p:cNvPr id="128" name="">
            <a:extLst xmlns:a="http://schemas.openxmlformats.org/drawingml/2006/main">
              <a:ext uri="{FF2B5EF4-FFF2-40B4-BE49-F238E27FC236}">
                <a16:creationId xmlns:a16="http://schemas.microsoft.com/office/drawing/2014/main" id="{EDE196D6-F5D9-4792-BDA8-B5AA19B1D908}"/>
              </a:ext>
            </a:extLst>
          </p:cNvPr>
          <p:cNvSpPr>
            <a:spLocks xmlns:a="http://schemas.openxmlformats.org/drawingml/2006/main" noGrp="1"/>
          </p:cNvSpPr>
          <p:nvPr/>
        </p:nvSpPr>
        <p:spPr>
          <a:xfrm xmlns:a="http://schemas.openxmlformats.org/drawingml/2006/main">
            <a:off x="9991725" y="4067175"/>
            <a:ext cx="1181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其他 Cause × 4</a:t>
            </a:r>
          </a:p>
        </p:txBody>
      </p:sp>
      <p:sp>
        <p:nvSpPr>
          <p:cNvPr id="129" name="">
            <a:extLst xmlns:a="http://schemas.openxmlformats.org/drawingml/2006/main">
              <a:ext uri="{FF2B5EF4-FFF2-40B4-BE49-F238E27FC236}">
                <a16:creationId xmlns:a16="http://schemas.microsoft.com/office/drawing/2014/main" id="{1F1B3177-5C8F-4D0A-BC49-24AD74E977D3}"/>
              </a:ext>
            </a:extLst>
          </p:cNvPr>
          <p:cNvSpPr>
            <a:spLocks xmlns:a="http://schemas.openxmlformats.org/drawingml/2006/main" noGrp="1"/>
          </p:cNvSpPr>
          <p:nvPr/>
        </p:nvSpPr>
        <p:spPr>
          <a:xfrm xmlns:a="http://schemas.openxmlformats.org/drawingml/2006/main">
            <a:off x="9991725" y="4238625"/>
            <a:ext cx="1181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114"/>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环境变量、服务、端口、认证</a:t>
            </a:r>
          </a:p>
        </p:txBody>
      </p:sp>
      <p:sp>
        <p:nvSpPr>
          <p:cNvPr id="130" name="">
            <a:extLst xmlns:a="http://schemas.openxmlformats.org/drawingml/2006/main">
              <a:ext uri="{FF2B5EF4-FFF2-40B4-BE49-F238E27FC236}">
                <a16:creationId xmlns:a16="http://schemas.microsoft.com/office/drawing/2014/main" id="{FF443F7B-A8BB-48C2-825D-6519ED6BA12D}"/>
              </a:ext>
            </a:extLst>
          </p:cNvPr>
          <p:cNvSpPr>
            <a:spLocks xmlns:a="http://schemas.openxmlformats.org/drawingml/2006/main" noGrp="1"/>
          </p:cNvSpPr>
          <p:nvPr/>
        </p:nvSpPr>
        <p:spPr>
          <a:xfrm xmlns:a="http://schemas.openxmlformats.org/drawingml/2006/main">
            <a:off x="6305550" y="4781550"/>
            <a:ext cx="3771900" cy="552450"/>
          </a:xfrm>
          <a:prstGeom xmlns:a="http://schemas.openxmlformats.org/drawingml/2006/main" prst="roundRect">
            <a:avLst>
              <a:gd name="adj" fmla="val 17241"/>
            </a:avLst>
          </a:prstGeom>
          <a:solidFill xmlns:a="http://schemas.openxmlformats.org/drawingml/2006/main">
            <a:srgbClr val="F3EEFF"/>
          </a:solidFill>
          <a:ln xmlns:a="http://schemas.openxmlformats.org/drawingml/2006/main" w="11430">
            <a:solidFill>
              <a:srgbClr val="7B61C9"/>
            </a:solidFill>
            <a:prstDash val="solid"/>
          </a:ln>
        </p:spPr>
      </p:sp>
      <p:sp>
        <p:nvSpPr>
          <p:cNvPr id="131" name="">
            <a:extLst xmlns:a="http://schemas.openxmlformats.org/drawingml/2006/main">
              <a:ext uri="{FF2B5EF4-FFF2-40B4-BE49-F238E27FC236}">
                <a16:creationId xmlns:a16="http://schemas.microsoft.com/office/drawing/2014/main" id="{6240EA09-2811-4636-B400-788928E5BB79}"/>
              </a:ext>
            </a:extLst>
          </p:cNvPr>
          <p:cNvSpPr>
            <a:spLocks xmlns:a="http://schemas.openxmlformats.org/drawingml/2006/main" noGrp="1"/>
          </p:cNvSpPr>
          <p:nvPr/>
        </p:nvSpPr>
        <p:spPr>
          <a:xfrm xmlns:a="http://schemas.openxmlformats.org/drawingml/2006/main">
            <a:off x="6410325" y="4848225"/>
            <a:ext cx="3562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7B61C9"/>
                </a:solidFill>
                <a:latin typeface="Hiragino Sans GB"/>
                <a:ea typeface="Hiragino Sans GB"/>
                <a:cs typeface="Hiragino Sans GB"/>
              </a:defRPr>
            </a:pPr>
            <a:r>
              <a:rPr sz="750" b="1">
                <a:solidFill>
                  <a:srgbClr val="7B61C9"/>
                </a:solidFill>
                <a:latin typeface="Hiragino Sans GB"/>
                <a:ea typeface="Hiragino Sans GB"/>
                <a:cs typeface="Hiragino Sans GB"/>
              </a:rPr>
              <a:t>DiagnosticQuestion · IG 0.733 bit</a:t>
            </a:r>
          </a:p>
        </p:txBody>
      </p:sp>
      <p:sp>
        <p:nvSpPr>
          <p:cNvPr id="132" name="">
            <a:extLst xmlns:a="http://schemas.openxmlformats.org/drawingml/2006/main">
              <a:ext uri="{FF2B5EF4-FFF2-40B4-BE49-F238E27FC236}">
                <a16:creationId xmlns:a16="http://schemas.microsoft.com/office/drawing/2014/main" id="{56151966-1C3A-4DDC-A52B-07FD365F19DC}"/>
              </a:ext>
            </a:extLst>
          </p:cNvPr>
          <p:cNvSpPr>
            <a:spLocks xmlns:a="http://schemas.openxmlformats.org/drawingml/2006/main" noGrp="1"/>
          </p:cNvSpPr>
          <p:nvPr/>
        </p:nvSpPr>
        <p:spPr>
          <a:xfrm xmlns:a="http://schemas.openxmlformats.org/drawingml/2006/main">
            <a:off x="6410325" y="5019675"/>
            <a:ext cx="3562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宿主机正常，但容器访问失败吗？</a:t>
            </a:r>
          </a:p>
        </p:txBody>
      </p:sp>
      <p:sp>
        <p:nvSpPr>
          <p:cNvPr id="133" name="">
            <a:extLst xmlns:a="http://schemas.openxmlformats.org/drawingml/2006/main">
              <a:ext uri="{FF2B5EF4-FFF2-40B4-BE49-F238E27FC236}">
                <a16:creationId xmlns:a16="http://schemas.microsoft.com/office/drawing/2014/main" id="{1940DEA3-2455-48A5-A85A-A1BD3140E89B}"/>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左侧看概率分布，右侧看本轮实际参与推理的节点；两部分在每轮同步变化</a:t>
            </a:r>
          </a:p>
        </p:txBody>
      </p:sp>
    </p:spTree>
    <p:extLst>
      <p:ext uri="{BB962C8B-B14F-4D97-AF65-F5344CB8AC3E}">
        <p14:creationId xmlns:p14="http://schemas.microsoft.com/office/powerpoint/2010/main" val="695336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A40CA5F0-5B32-4001-B7A4-92FDB7F1A168}"/>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79DDBD0F-70F6-4B51-BEC3-2004AE07FFE6}"/>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第 1 轮：用户回答后，候选子图重新聚焦</a:t>
            </a:r>
          </a:p>
        </p:txBody>
      </p:sp>
      <p:sp>
        <p:nvSpPr>
          <p:cNvPr id="3" name="">
            <a:extLst xmlns:a="http://schemas.openxmlformats.org/drawingml/2006/main">
              <a:ext uri="{FF2B5EF4-FFF2-40B4-BE49-F238E27FC236}">
                <a16:creationId xmlns:a16="http://schemas.microsoft.com/office/drawing/2014/main" id="{EF975ED2-D26A-454A-902D-6BEA7A5583D0}"/>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07</a:t>
            </a:r>
          </a:p>
        </p:txBody>
      </p:sp>
      <p:sp>
        <p:nvSpPr>
          <p:cNvPr id="4" name="">
            <a:extLst xmlns:a="http://schemas.openxmlformats.org/drawingml/2006/main">
              <a:ext uri="{FF2B5EF4-FFF2-40B4-BE49-F238E27FC236}">
                <a16:creationId xmlns:a16="http://schemas.microsoft.com/office/drawing/2014/main" id="{C6CD6FCC-751F-434D-86DD-BA804B0C0C0E}"/>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9EC6512A-04F9-46FA-943B-7F1D40E4DA2C}"/>
              </a:ext>
            </a:extLst>
          </p:cNvPr>
          <p:cNvSpPr>
            <a:spLocks xmlns:a="http://schemas.openxmlformats.org/drawingml/2006/main" noGrp="1"/>
          </p:cNvSpPr>
          <p:nvPr/>
        </p:nvSpPr>
        <p:spPr>
          <a:xfrm xmlns:a="http://schemas.openxmlformats.org/drawingml/2006/main">
            <a:off x="685800" y="1466850"/>
            <a:ext cx="1257300" cy="285750"/>
          </a:xfrm>
          <a:prstGeom xmlns:a="http://schemas.openxmlformats.org/drawingml/2006/main" prst="roundRect">
            <a:avLst>
              <a:gd name="adj" fmla="val 50000"/>
            </a:avLst>
          </a:prstGeom>
          <a:solidFill xmlns:a="http://schemas.openxmlformats.org/drawingml/2006/main">
            <a:srgbClr val="FFF0F0"/>
          </a:solidFill>
          <a:ln xmlns:a="http://schemas.openxmlformats.org/drawingml/2006/main" w="11430">
            <a:solidFill>
              <a:srgbClr val="FFF0F0"/>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用户回答：是</a:t>
            </a:r>
          </a:p>
        </p:txBody>
      </p:sp>
      <p:sp>
        <p:nvSpPr>
          <p:cNvPr id="6" name="">
            <a:extLst xmlns:a="http://schemas.openxmlformats.org/drawingml/2006/main">
              <a:ext uri="{FF2B5EF4-FFF2-40B4-BE49-F238E27FC236}">
                <a16:creationId xmlns:a16="http://schemas.microsoft.com/office/drawing/2014/main" id="{23E0AE4C-4C81-43DF-A6CA-9B6BE46AB00A}"/>
              </a:ext>
            </a:extLst>
          </p:cNvPr>
          <p:cNvSpPr>
            <a:spLocks xmlns:a="http://schemas.openxmlformats.org/drawingml/2006/main" noGrp="1"/>
          </p:cNvSpPr>
          <p:nvPr/>
        </p:nvSpPr>
        <p:spPr>
          <a:xfrm xmlns:a="http://schemas.openxmlformats.org/drawingml/2006/main">
            <a:off x="2114550" y="150495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观察：宿主机访问成功，但容器访问失败</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1282c4b76b8b4f98"/>
          <a:stretch xmlns:a="http://schemas.openxmlformats.org/drawingml/2006/main"/>
        </p:blipFill>
        <p:spPr>
          <a:xfrm xmlns:a="http://schemas.openxmlformats.org/drawingml/2006/main">
            <a:off x="2505579" y="1924050"/>
            <a:ext cx="7180841" cy="3143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0EF3FFE-7EF0-4D1A-ADB4-F3FE499AD3D2}"/>
              </a:ext>
            </a:extLst>
          </p:cNvPr>
          <p:cNvSpPr>
            <a:spLocks xmlns:a="http://schemas.openxmlformats.org/drawingml/2006/main" noGrp="1"/>
          </p:cNvSpPr>
          <p:nvPr/>
        </p:nvSpPr>
        <p:spPr>
          <a:xfrm xmlns:a="http://schemas.openxmlformats.org/drawingml/2006/main">
            <a:off x="685800" y="5286375"/>
            <a:ext cx="2857500" cy="704850"/>
          </a:xfrm>
          <a:prstGeom xmlns:a="http://schemas.openxmlformats.org/drawingml/2006/main" prst="roundRect">
            <a:avLst>
              <a:gd name="adj" fmla="val 16216"/>
            </a:avLst>
          </a:prstGeom>
          <a:solidFill xmlns:a="http://schemas.openxmlformats.org/drawingml/2006/main">
            <a:srgbClr val="F4F7FA"/>
          </a:solidFill>
          <a:ln xmlns:a="http://schemas.openxmlformats.org/drawingml/2006/main" w="11430">
            <a:solidFill>
              <a:srgbClr val="D8E0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5B6B78"/>
                </a:solidFill>
                <a:latin typeface="Hiragino Sans GB"/>
                <a:ea typeface="Hiragino Sans GB"/>
                <a:cs typeface="Hiragino Sans GB"/>
              </a:defRPr>
            </a:pPr>
            <a:r>
              <a:rPr sz="1350" b="1">
                <a:solidFill>
                  <a:srgbClr val="5B6B78"/>
                </a:solidFill>
                <a:latin typeface="Hiragino Sans GB"/>
                <a:ea typeface="Hiragino Sans GB"/>
                <a:cs typeface="Hiragino Sans GB"/>
              </a:rPr>
              <a:t>Top-1  56.0%</a:t>
            </a:r>
          </a:p>
          <a:p xmlns:a="http://schemas.openxmlformats.org/drawingml/2006/main">
            <a:pPr algn="ctr">
              <a:defRPr sz="1350" b="1">
                <a:solidFill>
                  <a:srgbClr val="5B6B78"/>
                </a:solidFill>
                <a:latin typeface="Hiragino Sans GB"/>
                <a:ea typeface="Hiragino Sans GB"/>
                <a:cs typeface="Hiragino Sans GB"/>
              </a:defRPr>
            </a:pPr>
            <a:r>
              <a:rPr sz="1350" b="1">
                <a:solidFill>
                  <a:srgbClr val="5B6B78"/>
                </a:solidFill>
                <a:latin typeface="Hiragino Sans GB"/>
                <a:ea typeface="Hiragino Sans GB"/>
                <a:cs typeface="Hiragino Sans GB"/>
              </a:rPr>
              <a:t>熵  1.850 bit</a:t>
            </a:r>
          </a:p>
        </p:txBody>
      </p:sp>
      <p:sp>
        <p:nvSpPr>
          <p:cNvPr id="9" name="">
            <a:extLst xmlns:a="http://schemas.openxmlformats.org/drawingml/2006/main">
              <a:ext uri="{FF2B5EF4-FFF2-40B4-BE49-F238E27FC236}">
                <a16:creationId xmlns:a16="http://schemas.microsoft.com/office/drawing/2014/main" id="{7529681F-D4BA-4265-90FF-15B8B739C37C}"/>
              </a:ext>
            </a:extLst>
          </p:cNvPr>
          <p:cNvSpPr>
            <a:spLocks xmlns:a="http://schemas.openxmlformats.org/drawingml/2006/main" noGrp="1"/>
          </p:cNvSpPr>
          <p:nvPr/>
        </p:nvSpPr>
        <p:spPr>
          <a:xfrm xmlns:a="http://schemas.openxmlformats.org/drawingml/2006/main">
            <a:off x="3810000" y="5410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1">
                <a:solidFill>
                  <a:srgbClr val="E34A4A"/>
                </a:solidFill>
                <a:latin typeface="Hiragino Sans GB"/>
                <a:ea typeface="Hiragino Sans GB"/>
                <a:cs typeface="Hiragino Sans GB"/>
              </a:defRPr>
            </a:pPr>
            <a:r>
              <a:rPr sz="1425" b="1">
                <a:solidFill>
                  <a:srgbClr val="E34A4A"/>
                </a:solidFill>
                <a:latin typeface="Hiragino Sans GB"/>
                <a:ea typeface="Hiragino Sans GB"/>
                <a:cs typeface="Hiragino Sans GB"/>
              </a:rPr>
              <a:t>条件概率边参与贝叶斯更新</a:t>
            </a:r>
          </a:p>
        </p:txBody>
      </p:sp>
      <p:sp>
        <p:nvSpPr>
          <p:cNvPr id="10" name="">
            <a:extLst xmlns:a="http://schemas.openxmlformats.org/drawingml/2006/main">
              <a:ext uri="{FF2B5EF4-FFF2-40B4-BE49-F238E27FC236}">
                <a16:creationId xmlns:a16="http://schemas.microsoft.com/office/drawing/2014/main" id="{4925D8A0-0B8E-4389-B303-A75431A7D634}"/>
              </a:ext>
            </a:extLst>
          </p:cNvPr>
          <p:cNvSpPr>
            <a:spLocks xmlns:a="http://schemas.openxmlformats.org/drawingml/2006/main" noGrp="1"/>
          </p:cNvSpPr>
          <p:nvPr/>
        </p:nvSpPr>
        <p:spPr>
          <a:xfrm xmlns:a="http://schemas.openxmlformats.org/drawingml/2006/main">
            <a:off x="7410450" y="5286375"/>
            <a:ext cx="4095750" cy="704850"/>
          </a:xfrm>
          <a:prstGeom xmlns:a="http://schemas.openxmlformats.org/drawingml/2006/main" prst="roundRect">
            <a:avLst>
              <a:gd name="adj" fmla="val 16216"/>
            </a:avLst>
          </a:prstGeom>
          <a:solidFill xmlns:a="http://schemas.openxmlformats.org/drawingml/2006/main">
            <a:srgbClr val="EEF5FF"/>
          </a:solidFill>
          <a:ln xmlns:a="http://schemas.openxmlformats.org/drawingml/2006/main" w="11430">
            <a:solidFill>
              <a:srgbClr val="1F5F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Top-1  95.2%    熵  0.364 bit</a:t>
            </a:r>
          </a:p>
          <a:p xmlns:a="http://schemas.openxmlformats.org/drawingml/2006/main">
            <a:pPr algn="ctr">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下一问：必需环境变量是否缺失</a:t>
            </a:r>
          </a:p>
        </p:txBody>
      </p:sp>
      <p:cxnSp>
        <p:nvCxnSpPr>
          <p:cNvPr id="89" name=""/>
          <p:cNvCxnSpPr>
            <a:stCxn xmlns:a="http://schemas.openxmlformats.org/drawingml/2006/main" id="8" idx="3"/>
            <a:endCxn xmlns:a="http://schemas.openxmlformats.org/drawingml/2006/main" id="10" idx="1"/>
          </p:cNvCxnSpPr>
          <p:nvPr/>
        </p:nvCxnSpPr>
        <p:spPr>
          <a:xfrm xmlns:a="http://schemas.openxmlformats.org/drawingml/2006/main">
            <a:off x="3543300" y="5638800"/>
            <a:ext cx="3867150" cy="0"/>
          </a:xfrm>
          <a:prstGeom xmlns:a="http://schemas.openxmlformats.org/drawingml/2006/main" prst="straightConnector1">
            <a:avLst/>
          </a:prstGeom>
          <a:ln xmlns:a="http://schemas.openxmlformats.org/drawingml/2006/main" w="19050">
            <a:solidFill>
              <a:srgbClr val="E34A4A"/>
            </a:solidFill>
            <a:prstDash val="solid"/>
            <a:tailEnd type="triangle" w="sm" len="sm"/>
          </a:ln>
        </p:spPr>
      </p:cxnSp>
      <p:sp>
        <p:nvSpPr>
          <p:cNvPr id="12" name="">
            <a:extLst xmlns:a="http://schemas.openxmlformats.org/drawingml/2006/main">
              <a:ext uri="{FF2B5EF4-FFF2-40B4-BE49-F238E27FC236}">
                <a16:creationId xmlns:a16="http://schemas.microsoft.com/office/drawing/2014/main" id="{55287436-875E-448E-AA49-F3211F330C7E}"/>
              </a:ext>
            </a:extLst>
          </p:cNvPr>
          <p:cNvSpPr>
            <a:spLocks xmlns:a="http://schemas.openxmlformats.org/drawingml/2006/main" noGrp="1"/>
          </p:cNvSpPr>
          <p:nvPr/>
        </p:nvSpPr>
        <p:spPr>
          <a:xfrm xmlns:a="http://schemas.openxmlformats.org/drawingml/2006/main">
            <a:off x="3810000" y="5391150"/>
            <a:ext cx="333375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425" b="1">
                <a:solidFill>
                  <a:srgbClr val="E34A4A"/>
                </a:solidFill>
                <a:latin typeface="Hiragino Sans GB"/>
                <a:ea typeface="Hiragino Sans GB"/>
                <a:cs typeface="Hiragino Sans GB"/>
              </a:defRPr>
            </a:pPr>
            <a:r>
              <a:rPr sz="1425" b="1">
                <a:solidFill>
                  <a:srgbClr val="E34A4A"/>
                </a:solidFill>
                <a:latin typeface="Hiragino Sans GB"/>
                <a:ea typeface="Hiragino Sans GB"/>
                <a:cs typeface="Hiragino Sans GB"/>
              </a:rPr>
              <a:t>条件概率边参与贝叶斯更新</a:t>
            </a:r>
          </a:p>
        </p:txBody>
      </p:sp>
      <p:sp>
        <p:nvSpPr>
          <p:cNvPr id="13" name="">
            <a:extLst xmlns:a="http://schemas.openxmlformats.org/drawingml/2006/main">
              <a:ext uri="{FF2B5EF4-FFF2-40B4-BE49-F238E27FC236}">
                <a16:creationId xmlns:a16="http://schemas.microsoft.com/office/drawing/2014/main" id="{6A6CE18E-19DE-4AEF-A173-02AF63F4467E}"/>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新增 Observation 节点后，原因概率、候选范围和下一问同时改变</a:t>
            </a:r>
          </a:p>
        </p:txBody>
      </p:sp>
      <p:sp>
        <p:nvSpPr>
          <p:cNvPr id="14" name="">
            <a:extLst xmlns:a="http://schemas.openxmlformats.org/drawingml/2006/main">
              <a:ext uri="{FF2B5EF4-FFF2-40B4-BE49-F238E27FC236}">
                <a16:creationId xmlns:a16="http://schemas.microsoft.com/office/drawing/2014/main" id="{86016BEA-70D8-49C6-A8F6-1E319C9F7CD1}"/>
              </a:ext>
            </a:extLst>
          </p:cNvPr>
          <p:cNvSpPr>
            <a:spLocks xmlns:a="http://schemas.openxmlformats.org/drawingml/2006/main" noGrp="1"/>
          </p:cNvSpPr>
          <p:nvPr/>
        </p:nvSpPr>
        <p:spPr>
          <a:xfrm xmlns:a="http://schemas.openxmlformats.org/drawingml/2006/main">
            <a:off x="552450" y="1381125"/>
            <a:ext cx="11087100" cy="5381625"/>
          </a:xfrm>
          <a:prstGeom xmlns:a="http://schemas.openxmlformats.org/drawingml/2006/main" prst="roundRect">
            <a:avLst>
              <a:gd name="adj" fmla="val 0"/>
            </a:avLst>
          </a:prstGeom>
          <a:solidFill xmlns:a="http://schemas.openxmlformats.org/drawingml/2006/main">
            <a:srgbClr val="FFFFFF"/>
          </a:solidFill>
          <a:ln xmlns:a="http://schemas.openxmlformats.org/drawingml/2006/main" w="11430">
            <a:solidFill>
              <a:srgbClr val="FFFFFF"/>
            </a:solidFill>
            <a:prstDash val="solid"/>
          </a:ln>
        </p:spPr>
      </p:sp>
      <p:sp>
        <p:nvSpPr>
          <p:cNvPr id="15" name="">
            <a:extLst xmlns:a="http://schemas.openxmlformats.org/drawingml/2006/main">
              <a:ext uri="{FF2B5EF4-FFF2-40B4-BE49-F238E27FC236}">
                <a16:creationId xmlns:a16="http://schemas.microsoft.com/office/drawing/2014/main" id="{ADB80714-1EE5-4E3A-BE3A-21EF92CE4EF4}"/>
              </a:ext>
            </a:extLst>
          </p:cNvPr>
          <p:cNvSpPr>
            <a:spLocks xmlns:a="http://schemas.openxmlformats.org/drawingml/2006/main" noGrp="1"/>
          </p:cNvSpPr>
          <p:nvPr/>
        </p:nvSpPr>
        <p:spPr>
          <a:xfrm xmlns:a="http://schemas.openxmlformats.org/drawingml/2006/main">
            <a:off x="685800" y="14668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E34A4A"/>
                </a:solidFill>
                <a:latin typeface="Hiragino Sans GB"/>
                <a:ea typeface="Hiragino Sans GB"/>
                <a:cs typeface="Hiragino Sans GB"/>
              </a:defRPr>
            </a:pPr>
            <a:r>
              <a:rPr sz="1500" b="1">
                <a:solidFill>
                  <a:srgbClr val="E34A4A"/>
                </a:solidFill>
                <a:latin typeface="Hiragino Sans GB"/>
                <a:ea typeface="Hiragino Sans GB"/>
                <a:cs typeface="Hiragino Sans GB"/>
              </a:rPr>
              <a:t>第 1 轮：新增观察，重新计算概率</a:t>
            </a:r>
          </a:p>
        </p:txBody>
      </p:sp>
      <p:sp>
        <p:nvSpPr>
          <p:cNvPr id="16" name="">
            <a:extLst xmlns:a="http://schemas.openxmlformats.org/drawingml/2006/main">
              <a:ext uri="{FF2B5EF4-FFF2-40B4-BE49-F238E27FC236}">
                <a16:creationId xmlns:a16="http://schemas.microsoft.com/office/drawing/2014/main" id="{DCD810ED-A172-4F8C-A3AB-2928F1E02F73}"/>
              </a:ext>
            </a:extLst>
          </p:cNvPr>
          <p:cNvSpPr>
            <a:spLocks xmlns:a="http://schemas.openxmlformats.org/drawingml/2006/main" noGrp="1"/>
          </p:cNvSpPr>
          <p:nvPr/>
        </p:nvSpPr>
        <p:spPr>
          <a:xfrm xmlns:a="http://schemas.openxmlformats.org/drawingml/2006/main">
            <a:off x="685800" y="1962150"/>
            <a:ext cx="3867150" cy="3943350"/>
          </a:xfrm>
          <a:prstGeom xmlns:a="http://schemas.openxmlformats.org/drawingml/2006/main" prst="roundRect">
            <a:avLst>
              <a:gd name="adj" fmla="val 3448"/>
            </a:avLst>
          </a:prstGeom>
          <a:solidFill xmlns:a="http://schemas.openxmlformats.org/drawingml/2006/main">
            <a:srgbClr val="F4F7FA"/>
          </a:solidFill>
          <a:ln xmlns:a="http://schemas.openxmlformats.org/drawingml/2006/main" w="11430">
            <a:solidFill>
              <a:srgbClr val="D8E0E7"/>
            </a:solidFill>
            <a:prstDash val="solid"/>
          </a:ln>
        </p:spPr>
      </p:sp>
      <p:sp>
        <p:nvSpPr>
          <p:cNvPr id="17" name="">
            <a:extLst xmlns:a="http://schemas.openxmlformats.org/drawingml/2006/main">
              <a:ext uri="{FF2B5EF4-FFF2-40B4-BE49-F238E27FC236}">
                <a16:creationId xmlns:a16="http://schemas.microsoft.com/office/drawing/2014/main" id="{7AB866F8-9971-41BE-BFB3-24650CADAA68}"/>
              </a:ext>
            </a:extLst>
          </p:cNvPr>
          <p:cNvSpPr>
            <a:spLocks xmlns:a="http://schemas.openxmlformats.org/drawingml/2006/main" noGrp="1"/>
          </p:cNvSpPr>
          <p:nvPr/>
        </p:nvSpPr>
        <p:spPr>
          <a:xfrm xmlns:a="http://schemas.openxmlformats.org/drawingml/2006/main">
            <a:off x="895350" y="21336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候选原因概率</a:t>
            </a:r>
          </a:p>
        </p:txBody>
      </p:sp>
      <p:sp>
        <p:nvSpPr>
          <p:cNvPr id="18" name="">
            <a:extLst xmlns:a="http://schemas.openxmlformats.org/drawingml/2006/main">
              <a:ext uri="{FF2B5EF4-FFF2-40B4-BE49-F238E27FC236}">
                <a16:creationId xmlns:a16="http://schemas.microsoft.com/office/drawing/2014/main" id="{881CEBF2-2879-47AC-84AB-F7F8A8B5185F}"/>
              </a:ext>
            </a:extLst>
          </p:cNvPr>
          <p:cNvSpPr>
            <a:spLocks xmlns:a="http://schemas.openxmlformats.org/drawingml/2006/main" noGrp="1"/>
          </p:cNvSpPr>
          <p:nvPr/>
        </p:nvSpPr>
        <p:spPr>
          <a:xfrm xmlns:a="http://schemas.openxmlformats.org/drawingml/2006/main">
            <a:off x="3276600" y="2114550"/>
            <a:ext cx="10287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回答后</a:t>
            </a:r>
          </a:p>
        </p:txBody>
      </p:sp>
      <p:sp>
        <p:nvSpPr>
          <p:cNvPr id="19" name="">
            <a:extLst xmlns:a="http://schemas.openxmlformats.org/drawingml/2006/main">
              <a:ext uri="{FF2B5EF4-FFF2-40B4-BE49-F238E27FC236}">
                <a16:creationId xmlns:a16="http://schemas.microsoft.com/office/drawing/2014/main" id="{C8FB6F95-481F-4001-908A-94270667AA26}"/>
              </a:ext>
            </a:extLst>
          </p:cNvPr>
          <p:cNvSpPr>
            <a:spLocks xmlns:a="http://schemas.openxmlformats.org/drawingml/2006/main" noGrp="1"/>
          </p:cNvSpPr>
          <p:nvPr/>
        </p:nvSpPr>
        <p:spPr>
          <a:xfrm xmlns:a="http://schemas.openxmlformats.org/drawingml/2006/main">
            <a:off x="895350" y="247650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本轮回答：是（宿主机成功、容器失败）</a:t>
            </a:r>
          </a:p>
        </p:txBody>
      </p:sp>
      <p:sp>
        <p:nvSpPr>
          <p:cNvPr id="20" name="">
            <a:extLst xmlns:a="http://schemas.openxmlformats.org/drawingml/2006/main">
              <a:ext uri="{FF2B5EF4-FFF2-40B4-BE49-F238E27FC236}">
                <a16:creationId xmlns:a16="http://schemas.microsoft.com/office/drawing/2014/main" id="{25654416-46BF-4351-94ED-2B41DF52F31C}"/>
              </a:ext>
            </a:extLst>
          </p:cNvPr>
          <p:cNvSpPr>
            <a:spLocks xmlns:a="http://schemas.openxmlformats.org/drawingml/2006/main" noGrp="1"/>
          </p:cNvSpPr>
          <p:nvPr/>
        </p:nvSpPr>
        <p:spPr>
          <a:xfrm xmlns:a="http://schemas.openxmlformats.org/drawingml/2006/main">
            <a:off x="895350" y="28765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a:t>
            </a:r>
          </a:p>
        </p:txBody>
      </p:sp>
      <p:sp>
        <p:nvSpPr>
          <p:cNvPr id="21" name="">
            <a:extLst xmlns:a="http://schemas.openxmlformats.org/drawingml/2006/main">
              <a:ext uri="{FF2B5EF4-FFF2-40B4-BE49-F238E27FC236}">
                <a16:creationId xmlns:a16="http://schemas.microsoft.com/office/drawing/2014/main" id="{1E0A155C-2075-4C02-B566-58EFCEB9D4FD}"/>
              </a:ext>
            </a:extLst>
          </p:cNvPr>
          <p:cNvSpPr>
            <a:spLocks xmlns:a="http://schemas.openxmlformats.org/drawingml/2006/main" noGrp="1"/>
          </p:cNvSpPr>
          <p:nvPr/>
        </p:nvSpPr>
        <p:spPr>
          <a:xfrm xmlns:a="http://schemas.openxmlformats.org/drawingml/2006/main">
            <a:off x="895350" y="31242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22" name="">
            <a:extLst xmlns:a="http://schemas.openxmlformats.org/drawingml/2006/main">
              <a:ext uri="{FF2B5EF4-FFF2-40B4-BE49-F238E27FC236}">
                <a16:creationId xmlns:a16="http://schemas.microsoft.com/office/drawing/2014/main" id="{0787D05D-8ECE-44C2-9ECA-1D80EFED1F2F}"/>
              </a:ext>
            </a:extLst>
          </p:cNvPr>
          <p:cNvSpPr>
            <a:spLocks xmlns:a="http://schemas.openxmlformats.org/drawingml/2006/main" noGrp="1"/>
          </p:cNvSpPr>
          <p:nvPr/>
        </p:nvSpPr>
        <p:spPr>
          <a:xfrm xmlns:a="http://schemas.openxmlformats.org/drawingml/2006/main">
            <a:off x="895350" y="3124200"/>
            <a:ext cx="2520848" cy="114300"/>
          </a:xfrm>
          <a:prstGeom xmlns:a="http://schemas.openxmlformats.org/drawingml/2006/main" prst="roundRect">
            <a:avLst>
              <a:gd name="adj" fmla="val 50000"/>
            </a:avLst>
          </a:prstGeom>
          <a:solidFill xmlns:a="http://schemas.openxmlformats.org/drawingml/2006/main">
            <a:srgbClr val="1F5FBF"/>
          </a:solidFill>
          <a:ln xmlns:a="http://schemas.openxmlformats.org/drawingml/2006/main" w="11430">
            <a:solidFill>
              <a:srgbClr val="1F5FBF"/>
            </a:solidFill>
            <a:prstDash val="solid"/>
          </a:ln>
        </p:spPr>
      </p:sp>
      <p:sp>
        <p:nvSpPr>
          <p:cNvPr id="23" name="">
            <a:extLst xmlns:a="http://schemas.openxmlformats.org/drawingml/2006/main">
              <a:ext uri="{FF2B5EF4-FFF2-40B4-BE49-F238E27FC236}">
                <a16:creationId xmlns:a16="http://schemas.microsoft.com/office/drawing/2014/main" id="{96F305EE-0501-4B26-AA1F-E280EDEE9AA0}"/>
              </a:ext>
            </a:extLst>
          </p:cNvPr>
          <p:cNvSpPr>
            <a:spLocks xmlns:a="http://schemas.openxmlformats.org/drawingml/2006/main" noGrp="1"/>
          </p:cNvSpPr>
          <p:nvPr/>
        </p:nvSpPr>
        <p:spPr>
          <a:xfrm xmlns:a="http://schemas.openxmlformats.org/drawingml/2006/main">
            <a:off x="3600450" y="30384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1F5FBF"/>
                </a:solidFill>
                <a:latin typeface="Hiragino Sans GB"/>
                <a:ea typeface="Hiragino Sans GB"/>
                <a:cs typeface="Hiragino Sans GB"/>
              </a:defRPr>
            </a:pPr>
            <a:r>
              <a:rPr sz="1125" b="1">
                <a:solidFill>
                  <a:srgbClr val="1F5FBF"/>
                </a:solidFill>
                <a:latin typeface="Hiragino Sans GB"/>
                <a:ea typeface="Hiragino Sans GB"/>
                <a:cs typeface="Hiragino Sans GB"/>
              </a:rPr>
              <a:t>95.2%</a:t>
            </a:r>
          </a:p>
        </p:txBody>
      </p:sp>
      <p:sp>
        <p:nvSpPr>
          <p:cNvPr id="24" name="">
            <a:extLst xmlns:a="http://schemas.openxmlformats.org/drawingml/2006/main">
              <a:ext uri="{FF2B5EF4-FFF2-40B4-BE49-F238E27FC236}">
                <a16:creationId xmlns:a16="http://schemas.microsoft.com/office/drawing/2014/main" id="{4C6A787D-7718-41DB-ADD7-DB49927FCB2F}"/>
              </a:ext>
            </a:extLst>
          </p:cNvPr>
          <p:cNvSpPr>
            <a:spLocks xmlns:a="http://schemas.openxmlformats.org/drawingml/2006/main" noGrp="1"/>
          </p:cNvSpPr>
          <p:nvPr/>
        </p:nvSpPr>
        <p:spPr>
          <a:xfrm xmlns:a="http://schemas.openxmlformats.org/drawingml/2006/main">
            <a:off x="895350" y="33718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必需环境变量缺失</a:t>
            </a:r>
          </a:p>
        </p:txBody>
      </p:sp>
      <p:sp>
        <p:nvSpPr>
          <p:cNvPr id="25" name="">
            <a:extLst xmlns:a="http://schemas.openxmlformats.org/drawingml/2006/main">
              <a:ext uri="{FF2B5EF4-FFF2-40B4-BE49-F238E27FC236}">
                <a16:creationId xmlns:a16="http://schemas.microsoft.com/office/drawing/2014/main" id="{4070B0FF-8BDA-49C1-A7FC-CE85DE1735B7}"/>
              </a:ext>
            </a:extLst>
          </p:cNvPr>
          <p:cNvSpPr>
            <a:spLocks xmlns:a="http://schemas.openxmlformats.org/drawingml/2006/main" noGrp="1"/>
          </p:cNvSpPr>
          <p:nvPr/>
        </p:nvSpPr>
        <p:spPr>
          <a:xfrm xmlns:a="http://schemas.openxmlformats.org/drawingml/2006/main">
            <a:off x="895350" y="36195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26" name="">
            <a:extLst xmlns:a="http://schemas.openxmlformats.org/drawingml/2006/main">
              <a:ext uri="{FF2B5EF4-FFF2-40B4-BE49-F238E27FC236}">
                <a16:creationId xmlns:a16="http://schemas.microsoft.com/office/drawing/2014/main" id="{4957117D-227F-435F-A705-F6CBE0037FAD}"/>
              </a:ext>
            </a:extLst>
          </p:cNvPr>
          <p:cNvSpPr>
            <a:spLocks xmlns:a="http://schemas.openxmlformats.org/drawingml/2006/main" noGrp="1"/>
          </p:cNvSpPr>
          <p:nvPr/>
        </p:nvSpPr>
        <p:spPr>
          <a:xfrm xmlns:a="http://schemas.openxmlformats.org/drawingml/2006/main">
            <a:off x="895350" y="3619500"/>
            <a:ext cx="50311"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1430">
            <a:solidFill>
              <a:srgbClr val="F59E0B"/>
            </a:solidFill>
            <a:prstDash val="solid"/>
          </a:ln>
        </p:spPr>
      </p:sp>
      <p:sp>
        <p:nvSpPr>
          <p:cNvPr id="27" name="">
            <a:extLst xmlns:a="http://schemas.openxmlformats.org/drawingml/2006/main">
              <a:ext uri="{FF2B5EF4-FFF2-40B4-BE49-F238E27FC236}">
                <a16:creationId xmlns:a16="http://schemas.microsoft.com/office/drawing/2014/main" id="{493DD9DE-5790-4830-B520-4A2B205F6538}"/>
              </a:ext>
            </a:extLst>
          </p:cNvPr>
          <p:cNvSpPr>
            <a:spLocks xmlns:a="http://schemas.openxmlformats.org/drawingml/2006/main" noGrp="1"/>
          </p:cNvSpPr>
          <p:nvPr/>
        </p:nvSpPr>
        <p:spPr>
          <a:xfrm xmlns:a="http://schemas.openxmlformats.org/drawingml/2006/main">
            <a:off x="3600450" y="3533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F59E0B"/>
                </a:solidFill>
                <a:latin typeface="Hiragino Sans GB"/>
                <a:ea typeface="Hiragino Sans GB"/>
                <a:cs typeface="Hiragino Sans GB"/>
              </a:defRPr>
            </a:pPr>
            <a:r>
              <a:rPr sz="1125" b="1">
                <a:solidFill>
                  <a:srgbClr val="F59E0B"/>
                </a:solidFill>
                <a:latin typeface="Hiragino Sans GB"/>
                <a:ea typeface="Hiragino Sans GB"/>
                <a:cs typeface="Hiragino Sans GB"/>
              </a:rPr>
              <a:t>1.9%</a:t>
            </a:r>
          </a:p>
        </p:txBody>
      </p:sp>
      <p:sp>
        <p:nvSpPr>
          <p:cNvPr id="28" name="">
            <a:extLst xmlns:a="http://schemas.openxmlformats.org/drawingml/2006/main">
              <a:ext uri="{FF2B5EF4-FFF2-40B4-BE49-F238E27FC236}">
                <a16:creationId xmlns:a16="http://schemas.microsoft.com/office/drawing/2014/main" id="{952AE997-33BA-4664-8A7E-5468197518C7}"/>
              </a:ext>
            </a:extLst>
          </p:cNvPr>
          <p:cNvSpPr>
            <a:spLocks xmlns:a="http://schemas.openxmlformats.org/drawingml/2006/main" noGrp="1"/>
          </p:cNvSpPr>
          <p:nvPr/>
        </p:nvSpPr>
        <p:spPr>
          <a:xfrm xmlns:a="http://schemas.openxmlformats.org/drawingml/2006/main">
            <a:off x="895350" y="38671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端口被其他进程占用</a:t>
            </a:r>
          </a:p>
        </p:txBody>
      </p:sp>
      <p:sp>
        <p:nvSpPr>
          <p:cNvPr id="29" name="">
            <a:extLst xmlns:a="http://schemas.openxmlformats.org/drawingml/2006/main">
              <a:ext uri="{FF2B5EF4-FFF2-40B4-BE49-F238E27FC236}">
                <a16:creationId xmlns:a16="http://schemas.microsoft.com/office/drawing/2014/main" id="{B51E1EBB-AD12-4A88-B856-D5F507B716AA}"/>
              </a:ext>
            </a:extLst>
          </p:cNvPr>
          <p:cNvSpPr>
            <a:spLocks xmlns:a="http://schemas.openxmlformats.org/drawingml/2006/main" noGrp="1"/>
          </p:cNvSpPr>
          <p:nvPr/>
        </p:nvSpPr>
        <p:spPr>
          <a:xfrm xmlns:a="http://schemas.openxmlformats.org/drawingml/2006/main">
            <a:off x="895350" y="41148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30" name="">
            <a:extLst xmlns:a="http://schemas.openxmlformats.org/drawingml/2006/main">
              <a:ext uri="{FF2B5EF4-FFF2-40B4-BE49-F238E27FC236}">
                <a16:creationId xmlns:a16="http://schemas.microsoft.com/office/drawing/2014/main" id="{C2B8BBB2-675D-4655-AB37-5EDC4AE4C1D6}"/>
              </a:ext>
            </a:extLst>
          </p:cNvPr>
          <p:cNvSpPr>
            <a:spLocks xmlns:a="http://schemas.openxmlformats.org/drawingml/2006/main" noGrp="1"/>
          </p:cNvSpPr>
          <p:nvPr/>
        </p:nvSpPr>
        <p:spPr>
          <a:xfrm xmlns:a="http://schemas.openxmlformats.org/drawingml/2006/main">
            <a:off x="895350" y="4114800"/>
            <a:ext cx="47625" cy="114300"/>
          </a:xfrm>
          <a:prstGeom xmlns:a="http://schemas.openxmlformats.org/drawingml/2006/main" prst="roundRect">
            <a:avLst>
              <a:gd name="adj" fmla="val 50000"/>
            </a:avLst>
          </a:prstGeom>
          <a:solidFill xmlns:a="http://schemas.openxmlformats.org/drawingml/2006/main">
            <a:srgbClr val="8EA1B7"/>
          </a:solidFill>
          <a:ln xmlns:a="http://schemas.openxmlformats.org/drawingml/2006/main" w="11430">
            <a:solidFill>
              <a:srgbClr val="8EA1B7"/>
            </a:solidFill>
            <a:prstDash val="solid"/>
          </a:ln>
        </p:spPr>
      </p:sp>
      <p:sp>
        <p:nvSpPr>
          <p:cNvPr id="31" name="">
            <a:extLst xmlns:a="http://schemas.openxmlformats.org/drawingml/2006/main">
              <a:ext uri="{FF2B5EF4-FFF2-40B4-BE49-F238E27FC236}">
                <a16:creationId xmlns:a16="http://schemas.microsoft.com/office/drawing/2014/main" id="{19C4392B-1798-4458-AE73-E946762E594E}"/>
              </a:ext>
            </a:extLst>
          </p:cNvPr>
          <p:cNvSpPr>
            <a:spLocks xmlns:a="http://schemas.openxmlformats.org/drawingml/2006/main" noGrp="1"/>
          </p:cNvSpPr>
          <p:nvPr/>
        </p:nvSpPr>
        <p:spPr>
          <a:xfrm xmlns:a="http://schemas.openxmlformats.org/drawingml/2006/main">
            <a:off x="3600450" y="40290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8EA1B7"/>
                </a:solidFill>
                <a:latin typeface="Hiragino Sans GB"/>
                <a:ea typeface="Hiragino Sans GB"/>
                <a:cs typeface="Hiragino Sans GB"/>
              </a:defRPr>
            </a:pPr>
            <a:r>
              <a:rPr sz="1125" b="1">
                <a:solidFill>
                  <a:srgbClr val="8EA1B7"/>
                </a:solidFill>
                <a:latin typeface="Hiragino Sans GB"/>
                <a:ea typeface="Hiragino Sans GB"/>
                <a:cs typeface="Hiragino Sans GB"/>
              </a:rPr>
              <a:t>1.4%</a:t>
            </a:r>
          </a:p>
        </p:txBody>
      </p:sp>
      <p:sp>
        <p:nvSpPr>
          <p:cNvPr id="32" name="">
            <a:extLst xmlns:a="http://schemas.openxmlformats.org/drawingml/2006/main">
              <a:ext uri="{FF2B5EF4-FFF2-40B4-BE49-F238E27FC236}">
                <a16:creationId xmlns:a16="http://schemas.microsoft.com/office/drawing/2014/main" id="{1C3FD7E4-EA68-45F4-AE45-C5325326A2A1}"/>
              </a:ext>
            </a:extLst>
          </p:cNvPr>
          <p:cNvSpPr>
            <a:spLocks xmlns:a="http://schemas.openxmlformats.org/drawingml/2006/main" noGrp="1"/>
          </p:cNvSpPr>
          <p:nvPr/>
        </p:nvSpPr>
        <p:spPr>
          <a:xfrm xmlns:a="http://schemas.openxmlformats.org/drawingml/2006/main">
            <a:off x="895350" y="43624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目标服务未启动</a:t>
            </a:r>
          </a:p>
        </p:txBody>
      </p:sp>
      <p:sp>
        <p:nvSpPr>
          <p:cNvPr id="33" name="">
            <a:extLst xmlns:a="http://schemas.openxmlformats.org/drawingml/2006/main">
              <a:ext uri="{FF2B5EF4-FFF2-40B4-BE49-F238E27FC236}">
                <a16:creationId xmlns:a16="http://schemas.microsoft.com/office/drawing/2014/main" id="{EB5C72B8-444D-4592-B0DD-B21C8482B85B}"/>
              </a:ext>
            </a:extLst>
          </p:cNvPr>
          <p:cNvSpPr>
            <a:spLocks xmlns:a="http://schemas.openxmlformats.org/drawingml/2006/main" noGrp="1"/>
          </p:cNvSpPr>
          <p:nvPr/>
        </p:nvSpPr>
        <p:spPr>
          <a:xfrm xmlns:a="http://schemas.openxmlformats.org/drawingml/2006/main">
            <a:off x="895350" y="46101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34" name="">
            <a:extLst xmlns:a="http://schemas.openxmlformats.org/drawingml/2006/main">
              <a:ext uri="{FF2B5EF4-FFF2-40B4-BE49-F238E27FC236}">
                <a16:creationId xmlns:a16="http://schemas.microsoft.com/office/drawing/2014/main" id="{8966FB0B-2797-49FF-9FF7-C79E9D533028}"/>
              </a:ext>
            </a:extLst>
          </p:cNvPr>
          <p:cNvSpPr>
            <a:spLocks xmlns:a="http://schemas.openxmlformats.org/drawingml/2006/main" noGrp="1"/>
          </p:cNvSpPr>
          <p:nvPr/>
        </p:nvSpPr>
        <p:spPr>
          <a:xfrm xmlns:a="http://schemas.openxmlformats.org/drawingml/2006/main">
            <a:off x="895350" y="4610100"/>
            <a:ext cx="47625"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35" name="">
            <a:extLst xmlns:a="http://schemas.openxmlformats.org/drawingml/2006/main">
              <a:ext uri="{FF2B5EF4-FFF2-40B4-BE49-F238E27FC236}">
                <a16:creationId xmlns:a16="http://schemas.microsoft.com/office/drawing/2014/main" id="{0528B21A-931C-4635-BAB4-20635209D595}"/>
              </a:ext>
            </a:extLst>
          </p:cNvPr>
          <p:cNvSpPr>
            <a:spLocks xmlns:a="http://schemas.openxmlformats.org/drawingml/2006/main" noGrp="1"/>
          </p:cNvSpPr>
          <p:nvPr/>
        </p:nvSpPr>
        <p:spPr>
          <a:xfrm xmlns:a="http://schemas.openxmlformats.org/drawingml/2006/main">
            <a:off x="3600450" y="45243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1.0%</a:t>
            </a:r>
          </a:p>
        </p:txBody>
      </p:sp>
      <p:sp>
        <p:nvSpPr>
          <p:cNvPr id="36" name="">
            <a:extLst xmlns:a="http://schemas.openxmlformats.org/drawingml/2006/main">
              <a:ext uri="{FF2B5EF4-FFF2-40B4-BE49-F238E27FC236}">
                <a16:creationId xmlns:a16="http://schemas.microsoft.com/office/drawing/2014/main" id="{441F13AC-034D-4D92-BA6F-B62FA7086CB7}"/>
              </a:ext>
            </a:extLst>
          </p:cNvPr>
          <p:cNvSpPr>
            <a:spLocks xmlns:a="http://schemas.openxmlformats.org/drawingml/2006/main" noGrp="1"/>
          </p:cNvSpPr>
          <p:nvPr/>
        </p:nvSpPr>
        <p:spPr>
          <a:xfrm xmlns:a="http://schemas.openxmlformats.org/drawingml/2006/main">
            <a:off x="895350" y="48577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认证信息无效</a:t>
            </a:r>
          </a:p>
        </p:txBody>
      </p:sp>
      <p:sp>
        <p:nvSpPr>
          <p:cNvPr id="37" name="">
            <a:extLst xmlns:a="http://schemas.openxmlformats.org/drawingml/2006/main">
              <a:ext uri="{FF2B5EF4-FFF2-40B4-BE49-F238E27FC236}">
                <a16:creationId xmlns:a16="http://schemas.microsoft.com/office/drawing/2014/main" id="{708A9ADA-98EC-4159-B55E-695BD1365973}"/>
              </a:ext>
            </a:extLst>
          </p:cNvPr>
          <p:cNvSpPr>
            <a:spLocks xmlns:a="http://schemas.openxmlformats.org/drawingml/2006/main" noGrp="1"/>
          </p:cNvSpPr>
          <p:nvPr/>
        </p:nvSpPr>
        <p:spPr>
          <a:xfrm xmlns:a="http://schemas.openxmlformats.org/drawingml/2006/main">
            <a:off x="895350" y="51054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38" name="">
            <a:extLst xmlns:a="http://schemas.openxmlformats.org/drawingml/2006/main">
              <a:ext uri="{FF2B5EF4-FFF2-40B4-BE49-F238E27FC236}">
                <a16:creationId xmlns:a16="http://schemas.microsoft.com/office/drawing/2014/main" id="{A0F8BF36-1FB2-41E4-8D42-3D942F84EC6B}"/>
              </a:ext>
            </a:extLst>
          </p:cNvPr>
          <p:cNvSpPr>
            <a:spLocks xmlns:a="http://schemas.openxmlformats.org/drawingml/2006/main" noGrp="1"/>
          </p:cNvSpPr>
          <p:nvPr/>
        </p:nvSpPr>
        <p:spPr>
          <a:xfrm xmlns:a="http://schemas.openxmlformats.org/drawingml/2006/main">
            <a:off x="895350" y="5105400"/>
            <a:ext cx="47625"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39" name="">
            <a:extLst xmlns:a="http://schemas.openxmlformats.org/drawingml/2006/main">
              <a:ext uri="{FF2B5EF4-FFF2-40B4-BE49-F238E27FC236}">
                <a16:creationId xmlns:a16="http://schemas.microsoft.com/office/drawing/2014/main" id="{F829297B-AB11-4B0B-8457-D0E4F116D39D}"/>
              </a:ext>
            </a:extLst>
          </p:cNvPr>
          <p:cNvSpPr>
            <a:spLocks xmlns:a="http://schemas.openxmlformats.org/drawingml/2006/main" noGrp="1"/>
          </p:cNvSpPr>
          <p:nvPr/>
        </p:nvSpPr>
        <p:spPr>
          <a:xfrm xmlns:a="http://schemas.openxmlformats.org/drawingml/2006/main">
            <a:off x="3600450" y="50196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0.4%</a:t>
            </a:r>
          </a:p>
        </p:txBody>
      </p:sp>
      <p:sp>
        <p:nvSpPr>
          <p:cNvPr id="40" name="">
            <a:extLst xmlns:a="http://schemas.openxmlformats.org/drawingml/2006/main">
              <a:ext uri="{FF2B5EF4-FFF2-40B4-BE49-F238E27FC236}">
                <a16:creationId xmlns:a16="http://schemas.microsoft.com/office/drawing/2014/main" id="{856F9ACD-36AF-459A-8C48-8C48D46576E8}"/>
              </a:ext>
            </a:extLst>
          </p:cNvPr>
          <p:cNvSpPr>
            <a:spLocks xmlns:a="http://schemas.openxmlformats.org/drawingml/2006/main" noGrp="1"/>
          </p:cNvSpPr>
          <p:nvPr/>
        </p:nvSpPr>
        <p:spPr>
          <a:xfrm xmlns:a="http://schemas.openxmlformats.org/drawingml/2006/main">
            <a:off x="895350" y="54673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当前熵</a:t>
            </a:r>
          </a:p>
        </p:txBody>
      </p:sp>
      <p:sp>
        <p:nvSpPr>
          <p:cNvPr id="41" name="">
            <a:extLst xmlns:a="http://schemas.openxmlformats.org/drawingml/2006/main">
              <a:ext uri="{FF2B5EF4-FFF2-40B4-BE49-F238E27FC236}">
                <a16:creationId xmlns:a16="http://schemas.microsoft.com/office/drawing/2014/main" id="{4D54E758-38F1-482E-A063-0DC3846D8EDC}"/>
              </a:ext>
            </a:extLst>
          </p:cNvPr>
          <p:cNvSpPr>
            <a:spLocks xmlns:a="http://schemas.openxmlformats.org/drawingml/2006/main" noGrp="1"/>
          </p:cNvSpPr>
          <p:nvPr/>
        </p:nvSpPr>
        <p:spPr>
          <a:xfrm xmlns:a="http://schemas.openxmlformats.org/drawingml/2006/main">
            <a:off x="1752600" y="54102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F5FBF"/>
                </a:solidFill>
                <a:latin typeface="Hiragino Sans GB"/>
                <a:ea typeface="Hiragino Sans GB"/>
                <a:cs typeface="Hiragino Sans GB"/>
              </a:defRPr>
            </a:pPr>
            <a:r>
              <a:rPr sz="1575" b="1">
                <a:solidFill>
                  <a:srgbClr val="1F5FBF"/>
                </a:solidFill>
                <a:latin typeface="Hiragino Sans GB"/>
                <a:ea typeface="Hiragino Sans GB"/>
                <a:cs typeface="Hiragino Sans GB"/>
              </a:rPr>
              <a:t>0.364 bit</a:t>
            </a:r>
          </a:p>
        </p:txBody>
      </p:sp>
      <p:sp>
        <p:nvSpPr>
          <p:cNvPr id="42" name="">
            <a:extLst xmlns:a="http://schemas.openxmlformats.org/drawingml/2006/main">
              <a:ext uri="{FF2B5EF4-FFF2-40B4-BE49-F238E27FC236}">
                <a16:creationId xmlns:a16="http://schemas.microsoft.com/office/drawing/2014/main" id="{AC3878A0-AFDA-49E3-B04B-8302CCEE6FE1}"/>
              </a:ext>
            </a:extLst>
          </p:cNvPr>
          <p:cNvSpPr>
            <a:spLocks xmlns:a="http://schemas.openxmlformats.org/drawingml/2006/main" noGrp="1"/>
          </p:cNvSpPr>
          <p:nvPr/>
        </p:nvSpPr>
        <p:spPr>
          <a:xfrm xmlns:a="http://schemas.openxmlformats.org/drawingml/2006/main">
            <a:off x="4876800" y="1962150"/>
            <a:ext cx="6629400" cy="3943350"/>
          </a:xfrm>
          <a:prstGeom xmlns:a="http://schemas.openxmlformats.org/drawingml/2006/main" prst="roundRect">
            <a:avLst>
              <a:gd name="adj" fmla="val 3382"/>
            </a:avLst>
          </a:prstGeom>
          <a:solidFill xmlns:a="http://schemas.openxmlformats.org/drawingml/2006/main">
            <a:srgbClr val="FFFFFF"/>
          </a:solidFill>
          <a:ln xmlns:a="http://schemas.openxmlformats.org/drawingml/2006/main" w="11430">
            <a:solidFill>
              <a:srgbClr val="D8E0E7"/>
            </a:solidFill>
            <a:prstDash val="solid"/>
          </a:ln>
        </p:spPr>
      </p:sp>
      <p:sp>
        <p:nvSpPr>
          <p:cNvPr id="43" name="">
            <a:extLst xmlns:a="http://schemas.openxmlformats.org/drawingml/2006/main">
              <a:ext uri="{FF2B5EF4-FFF2-40B4-BE49-F238E27FC236}">
                <a16:creationId xmlns:a16="http://schemas.microsoft.com/office/drawing/2014/main" id="{62379A4B-B72D-4824-8AB9-886097D965CD}"/>
              </a:ext>
            </a:extLst>
          </p:cNvPr>
          <p:cNvSpPr>
            <a:spLocks xmlns:a="http://schemas.openxmlformats.org/drawingml/2006/main" noGrp="1"/>
          </p:cNvSpPr>
          <p:nvPr/>
        </p:nvSpPr>
        <p:spPr>
          <a:xfrm xmlns:a="http://schemas.openxmlformats.org/drawingml/2006/main">
            <a:off x="5086350" y="21336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回答后的候选子图</a:t>
            </a:r>
          </a:p>
        </p:txBody>
      </p:sp>
      <p:sp>
        <p:nvSpPr>
          <p:cNvPr id="44" name="">
            <a:extLst xmlns:a="http://schemas.openxmlformats.org/drawingml/2006/main">
              <a:ext uri="{FF2B5EF4-FFF2-40B4-BE49-F238E27FC236}">
                <a16:creationId xmlns:a16="http://schemas.microsoft.com/office/drawing/2014/main" id="{FF9D1187-E227-49D0-AB24-3BDEDF43BD7F}"/>
              </a:ext>
            </a:extLst>
          </p:cNvPr>
          <p:cNvSpPr>
            <a:spLocks xmlns:a="http://schemas.openxmlformats.org/drawingml/2006/main" noGrp="1"/>
          </p:cNvSpPr>
          <p:nvPr/>
        </p:nvSpPr>
        <p:spPr>
          <a:xfrm xmlns:a="http://schemas.openxmlformats.org/drawingml/2006/main">
            <a:off x="7543800" y="2181225"/>
            <a:ext cx="3733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900" b="0">
                <a:solidFill>
                  <a:srgbClr val="5B6B78"/>
                </a:solidFill>
                <a:latin typeface="Hiragino Sans GB"/>
                <a:ea typeface="Hiragino Sans GB"/>
                <a:cs typeface="Hiragino Sans GB"/>
              </a:defRPr>
            </a:pPr>
            <a:r>
              <a:rPr sz="900" b="0">
                <a:solidFill>
                  <a:srgbClr val="5B6B78"/>
                </a:solidFill>
                <a:latin typeface="Hiragino Sans GB"/>
                <a:ea typeface="Hiragino Sans GB"/>
                <a:cs typeface="Hiragino Sans GB"/>
              </a:rPr>
              <a:t>红：本轮新增与更新　绿：环境上下文</a:t>
            </a:r>
          </a:p>
        </p:txBody>
      </p:sp>
      <p:sp>
        <p:nvSpPr>
          <p:cNvPr id="45" name="">
            <a:extLst xmlns:a="http://schemas.openxmlformats.org/drawingml/2006/main">
              <a:ext uri="{FF2B5EF4-FFF2-40B4-BE49-F238E27FC236}">
                <a16:creationId xmlns:a16="http://schemas.microsoft.com/office/drawing/2014/main" id="{18F773ED-E81C-4344-A45C-E71FD08139B0}"/>
              </a:ext>
            </a:extLst>
          </p:cNvPr>
          <p:cNvSpPr>
            <a:spLocks xmlns:a="http://schemas.openxmlformats.org/drawingml/2006/main" noGrp="1"/>
          </p:cNvSpPr>
          <p:nvPr/>
        </p:nvSpPr>
        <p:spPr>
          <a:xfrm xmlns:a="http://schemas.openxmlformats.org/drawingml/2006/main">
            <a:off x="8191500" y="2857500"/>
            <a:ext cx="0" cy="247650"/>
          </a:xfrm>
          <a:prstGeom xmlns:a="http://schemas.openxmlformats.org/drawingml/2006/main" prst="line">
            <a:avLst/>
          </a:prstGeom>
          <a:noFill xmlns:a="http://schemas.openxmlformats.org/drawingml/2006/main"/>
          <a:ln xmlns:a="http://schemas.openxmlformats.org/drawingml/2006/main" w="20955">
            <a:solidFill>
              <a:srgbClr val="E34A4A"/>
            </a:solidFill>
            <a:prstDash val="solid"/>
          </a:ln>
        </p:spPr>
      </p:sp>
      <p:sp>
        <p:nvSpPr>
          <p:cNvPr id="46" name="">
            <a:extLst xmlns:a="http://schemas.openxmlformats.org/drawingml/2006/main">
              <a:ext uri="{FF2B5EF4-FFF2-40B4-BE49-F238E27FC236}">
                <a16:creationId xmlns:a16="http://schemas.microsoft.com/office/drawing/2014/main" id="{41B02E22-7046-4A3D-9F17-34EFDD24E489}"/>
              </a:ext>
            </a:extLst>
          </p:cNvPr>
          <p:cNvSpPr>
            <a:spLocks xmlns:a="http://schemas.openxmlformats.org/drawingml/2006/main" noGrp="1"/>
          </p:cNvSpPr>
          <p:nvPr/>
        </p:nvSpPr>
        <p:spPr>
          <a:xfrm xmlns:a="http://schemas.openxmlformats.org/drawingml/2006/main">
            <a:off x="8191500" y="3562350"/>
            <a:ext cx="0" cy="247650"/>
          </a:xfrm>
          <a:prstGeom xmlns:a="http://schemas.openxmlformats.org/drawingml/2006/main" prst="line">
            <a:avLst/>
          </a:prstGeom>
          <a:noFill xmlns:a="http://schemas.openxmlformats.org/drawingml/2006/main"/>
          <a:ln xmlns:a="http://schemas.openxmlformats.org/drawingml/2006/main" w="20955">
            <a:solidFill>
              <a:srgbClr val="E34A4A"/>
            </a:solidFill>
            <a:prstDash val="solid"/>
          </a:ln>
        </p:spPr>
      </p:sp>
      <p:sp>
        <p:nvSpPr>
          <p:cNvPr id="47" name="">
            <a:extLst xmlns:a="http://schemas.openxmlformats.org/drawingml/2006/main">
              <a:ext uri="{FF2B5EF4-FFF2-40B4-BE49-F238E27FC236}">
                <a16:creationId xmlns:a16="http://schemas.microsoft.com/office/drawing/2014/main" id="{F2A6E835-6FBF-4B72-AA83-9B2C2E62BA8B}"/>
              </a:ext>
            </a:extLst>
          </p:cNvPr>
          <p:cNvSpPr>
            <a:spLocks xmlns:a="http://schemas.openxmlformats.org/drawingml/2006/main" noGrp="1"/>
          </p:cNvSpPr>
          <p:nvPr/>
        </p:nvSpPr>
        <p:spPr>
          <a:xfrm xmlns:a="http://schemas.openxmlformats.org/drawingml/2006/main">
            <a:off x="8191500" y="4267200"/>
            <a:ext cx="0" cy="247650"/>
          </a:xfrm>
          <a:prstGeom xmlns:a="http://schemas.openxmlformats.org/drawingml/2006/main" prst="line">
            <a:avLst/>
          </a:prstGeom>
          <a:noFill xmlns:a="http://schemas.openxmlformats.org/drawingml/2006/main"/>
          <a:ln xmlns:a="http://schemas.openxmlformats.org/drawingml/2006/main" w="17145">
            <a:solidFill>
              <a:srgbClr val="1F5FBF"/>
            </a:solidFill>
            <a:prstDash val="solid"/>
          </a:ln>
        </p:spPr>
      </p:sp>
      <p:sp>
        <p:nvSpPr>
          <p:cNvPr id="48" name="">
            <a:extLst xmlns:a="http://schemas.openxmlformats.org/drawingml/2006/main">
              <a:ext uri="{FF2B5EF4-FFF2-40B4-BE49-F238E27FC236}">
                <a16:creationId xmlns:a16="http://schemas.microsoft.com/office/drawing/2014/main" id="{757332DA-C465-4A48-9C59-F0E004992B05}"/>
              </a:ext>
            </a:extLst>
          </p:cNvPr>
          <p:cNvSpPr>
            <a:spLocks xmlns:a="http://schemas.openxmlformats.org/drawingml/2006/main" noGrp="1"/>
          </p:cNvSpPr>
          <p:nvPr/>
        </p:nvSpPr>
        <p:spPr>
          <a:xfrm xmlns:a="http://schemas.openxmlformats.org/drawingml/2006/main">
            <a:off x="6343650" y="2457450"/>
            <a:ext cx="3695700" cy="400050"/>
          </a:xfrm>
          <a:prstGeom xmlns:a="http://schemas.openxmlformats.org/drawingml/2006/main" prst="roundRect">
            <a:avLst>
              <a:gd name="adj" fmla="val 23810"/>
            </a:avLst>
          </a:prstGeom>
          <a:solidFill xmlns:a="http://schemas.openxmlformats.org/drawingml/2006/main">
            <a:srgbClr val="F3EEFF"/>
          </a:solidFill>
          <a:ln xmlns:a="http://schemas.openxmlformats.org/drawingml/2006/main" w="11430">
            <a:solidFill>
              <a:srgbClr val="7B61C9"/>
            </a:solidFill>
            <a:prstDash val="solid"/>
          </a:ln>
        </p:spPr>
      </p:sp>
      <p:sp>
        <p:nvSpPr>
          <p:cNvPr id="49" name="">
            <a:extLst xmlns:a="http://schemas.openxmlformats.org/drawingml/2006/main">
              <a:ext uri="{FF2B5EF4-FFF2-40B4-BE49-F238E27FC236}">
                <a16:creationId xmlns:a16="http://schemas.microsoft.com/office/drawing/2014/main" id="{CD17382D-9B9A-4C40-9332-52B78273A892}"/>
              </a:ext>
            </a:extLst>
          </p:cNvPr>
          <p:cNvSpPr>
            <a:spLocks xmlns:a="http://schemas.openxmlformats.org/drawingml/2006/main" noGrp="1"/>
          </p:cNvSpPr>
          <p:nvPr/>
        </p:nvSpPr>
        <p:spPr>
          <a:xfrm xmlns:a="http://schemas.openxmlformats.org/drawingml/2006/main">
            <a:off x="6448425" y="2524125"/>
            <a:ext cx="3486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7B61C9"/>
                </a:solidFill>
                <a:latin typeface="Hiragino Sans GB"/>
                <a:ea typeface="Hiragino Sans GB"/>
                <a:cs typeface="Hiragino Sans GB"/>
              </a:defRPr>
            </a:pPr>
            <a:r>
              <a:rPr sz="750" b="1">
                <a:solidFill>
                  <a:srgbClr val="7B61C9"/>
                </a:solidFill>
                <a:latin typeface="Hiragino Sans GB"/>
                <a:ea typeface="Hiragino Sans GB"/>
                <a:cs typeface="Hiragino Sans GB"/>
              </a:rPr>
              <a:t>DiagnosticQuestion</a:t>
            </a:r>
          </a:p>
        </p:txBody>
      </p:sp>
      <p:sp>
        <p:nvSpPr>
          <p:cNvPr id="50" name="">
            <a:extLst xmlns:a="http://schemas.openxmlformats.org/drawingml/2006/main">
              <a:ext uri="{FF2B5EF4-FFF2-40B4-BE49-F238E27FC236}">
                <a16:creationId xmlns:a16="http://schemas.microsoft.com/office/drawing/2014/main" id="{C18A0E32-8FA8-43A5-A28B-350AF500A697}"/>
              </a:ext>
            </a:extLst>
          </p:cNvPr>
          <p:cNvSpPr>
            <a:spLocks xmlns:a="http://schemas.openxmlformats.org/drawingml/2006/main" noGrp="1"/>
          </p:cNvSpPr>
          <p:nvPr/>
        </p:nvSpPr>
        <p:spPr>
          <a:xfrm xmlns:a="http://schemas.openxmlformats.org/drawingml/2006/main">
            <a:off x="6448425" y="2695575"/>
            <a:ext cx="348615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3260"/>
          </a:bodyPr>
          <a:lstStyle xmlns:a="http://schemas.openxmlformats.org/drawingml/2006/main"/>
          <a:p xmlns:a="http://schemas.openxmlformats.org/drawingml/2006/main">
            <a:pPr algn="ctr">
              <a:lnSpc>
                <a:spcPct val="105000"/>
              </a:lnSpc>
              <a:buNone/>
              <a:defRPr sz="975" b="1">
                <a:solidFill>
                  <a:srgbClr val="142735"/>
                </a:solidFill>
                <a:latin typeface="Hiragino Sans GB"/>
                <a:ea typeface="Hiragino Sans GB"/>
                <a:cs typeface="Hiragino Sans GB"/>
              </a:defRPr>
            </a:pPr>
            <a:r>
              <a:rPr sz="975" b="1">
                <a:solidFill>
                  <a:srgbClr val="142735"/>
                </a:solidFill>
                <a:latin typeface="Hiragino Sans GB"/>
                <a:ea typeface="Hiragino Sans GB"/>
                <a:cs typeface="Hiragino Sans GB"/>
              </a:rPr>
              <a:t>宿主机正常，但容器访问失败吗？</a:t>
            </a:r>
          </a:p>
        </p:txBody>
      </p:sp>
      <p:sp>
        <p:nvSpPr>
          <p:cNvPr id="51" name="">
            <a:extLst xmlns:a="http://schemas.openxmlformats.org/drawingml/2006/main">
              <a:ext uri="{FF2B5EF4-FFF2-40B4-BE49-F238E27FC236}">
                <a16:creationId xmlns:a16="http://schemas.microsoft.com/office/drawing/2014/main" id="{F01BA6B3-41F0-4A7A-BB49-34871B120EF4}"/>
              </a:ext>
            </a:extLst>
          </p:cNvPr>
          <p:cNvSpPr>
            <a:spLocks xmlns:a="http://schemas.openxmlformats.org/drawingml/2006/main" noGrp="1"/>
          </p:cNvSpPr>
          <p:nvPr/>
        </p:nvSpPr>
        <p:spPr>
          <a:xfrm xmlns:a="http://schemas.openxmlformats.org/drawingml/2006/main">
            <a:off x="6477000" y="3105150"/>
            <a:ext cx="3429000" cy="457200"/>
          </a:xfrm>
          <a:prstGeom xmlns:a="http://schemas.openxmlformats.org/drawingml/2006/main" prst="roundRect">
            <a:avLst>
              <a:gd name="adj" fmla="val 20833"/>
            </a:avLst>
          </a:prstGeom>
          <a:solidFill xmlns:a="http://schemas.openxmlformats.org/drawingml/2006/main">
            <a:srgbClr val="FFF0F0"/>
          </a:solidFill>
          <a:ln xmlns:a="http://schemas.openxmlformats.org/drawingml/2006/main" w="11430">
            <a:solidFill>
              <a:srgbClr val="E34A4A"/>
            </a:solidFill>
            <a:prstDash val="solid"/>
          </a:ln>
        </p:spPr>
      </p:sp>
      <p:sp>
        <p:nvSpPr>
          <p:cNvPr id="52" name="">
            <a:extLst xmlns:a="http://schemas.openxmlformats.org/drawingml/2006/main">
              <a:ext uri="{FF2B5EF4-FFF2-40B4-BE49-F238E27FC236}">
                <a16:creationId xmlns:a16="http://schemas.microsoft.com/office/drawing/2014/main" id="{D6E1003E-B9FC-486A-A502-6C78AA351F6B}"/>
              </a:ext>
            </a:extLst>
          </p:cNvPr>
          <p:cNvSpPr>
            <a:spLocks xmlns:a="http://schemas.openxmlformats.org/drawingml/2006/main" noGrp="1"/>
          </p:cNvSpPr>
          <p:nvPr/>
        </p:nvSpPr>
        <p:spPr>
          <a:xfrm xmlns:a="http://schemas.openxmlformats.org/drawingml/2006/main">
            <a:off x="6581775" y="3171825"/>
            <a:ext cx="3219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E34A4A"/>
                </a:solidFill>
                <a:latin typeface="Hiragino Sans GB"/>
                <a:ea typeface="Hiragino Sans GB"/>
                <a:cs typeface="Hiragino Sans GB"/>
              </a:defRPr>
            </a:pPr>
            <a:r>
              <a:rPr sz="750" b="1">
                <a:solidFill>
                  <a:srgbClr val="E34A4A"/>
                </a:solidFill>
                <a:latin typeface="Hiragino Sans GB"/>
                <a:ea typeface="Hiragino Sans GB"/>
                <a:cs typeface="Hiragino Sans GB"/>
              </a:rPr>
              <a:t>Observation</a:t>
            </a:r>
          </a:p>
        </p:txBody>
      </p:sp>
      <p:sp>
        <p:nvSpPr>
          <p:cNvPr id="53" name="">
            <a:extLst xmlns:a="http://schemas.openxmlformats.org/drawingml/2006/main">
              <a:ext uri="{FF2B5EF4-FFF2-40B4-BE49-F238E27FC236}">
                <a16:creationId xmlns:a16="http://schemas.microsoft.com/office/drawing/2014/main" id="{E1071479-5874-41C3-A813-382D4168FF08}"/>
              </a:ext>
            </a:extLst>
          </p:cNvPr>
          <p:cNvSpPr>
            <a:spLocks xmlns:a="http://schemas.openxmlformats.org/drawingml/2006/main" noGrp="1"/>
          </p:cNvSpPr>
          <p:nvPr/>
        </p:nvSpPr>
        <p:spPr>
          <a:xfrm xmlns:a="http://schemas.openxmlformats.org/drawingml/2006/main">
            <a:off x="6581775" y="3343275"/>
            <a:ext cx="3219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是：宿主机成功、容器失败</a:t>
            </a:r>
          </a:p>
        </p:txBody>
      </p:sp>
      <p:sp>
        <p:nvSpPr>
          <p:cNvPr id="54" name="">
            <a:extLst xmlns:a="http://schemas.openxmlformats.org/drawingml/2006/main">
              <a:ext uri="{FF2B5EF4-FFF2-40B4-BE49-F238E27FC236}">
                <a16:creationId xmlns:a16="http://schemas.microsoft.com/office/drawing/2014/main" id="{C594F760-66DD-46EF-939B-06F3137FAF16}"/>
              </a:ext>
            </a:extLst>
          </p:cNvPr>
          <p:cNvSpPr>
            <a:spLocks xmlns:a="http://schemas.openxmlformats.org/drawingml/2006/main" noGrp="1"/>
          </p:cNvSpPr>
          <p:nvPr/>
        </p:nvSpPr>
        <p:spPr>
          <a:xfrm xmlns:a="http://schemas.openxmlformats.org/drawingml/2006/main">
            <a:off x="6591300" y="3810000"/>
            <a:ext cx="3200400" cy="457200"/>
          </a:xfrm>
          <a:prstGeom xmlns:a="http://schemas.openxmlformats.org/drawingml/2006/main" prst="roundRect">
            <a:avLst>
              <a:gd name="adj" fmla="val 20833"/>
            </a:avLst>
          </a:prstGeom>
          <a:solidFill xmlns:a="http://schemas.openxmlformats.org/drawingml/2006/main">
            <a:srgbClr val="FFF7E8"/>
          </a:solidFill>
          <a:ln xmlns:a="http://schemas.openxmlformats.org/drawingml/2006/main" w="11430">
            <a:solidFill>
              <a:srgbClr val="F59E0B"/>
            </a:solidFill>
            <a:prstDash val="solid"/>
          </a:ln>
        </p:spPr>
      </p:sp>
      <p:sp>
        <p:nvSpPr>
          <p:cNvPr id="55" name="">
            <a:extLst xmlns:a="http://schemas.openxmlformats.org/drawingml/2006/main">
              <a:ext uri="{FF2B5EF4-FFF2-40B4-BE49-F238E27FC236}">
                <a16:creationId xmlns:a16="http://schemas.microsoft.com/office/drawing/2014/main" id="{4892B134-5389-4FCC-8A80-B552A5E4E285}"/>
              </a:ext>
            </a:extLst>
          </p:cNvPr>
          <p:cNvSpPr>
            <a:spLocks xmlns:a="http://schemas.openxmlformats.org/drawingml/2006/main" noGrp="1"/>
          </p:cNvSpPr>
          <p:nvPr/>
        </p:nvSpPr>
        <p:spPr>
          <a:xfrm xmlns:a="http://schemas.openxmlformats.org/drawingml/2006/main">
            <a:off x="6696075" y="3876675"/>
            <a:ext cx="29908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F59E0B"/>
                </a:solidFill>
                <a:latin typeface="Hiragino Sans GB"/>
                <a:ea typeface="Hiragino Sans GB"/>
                <a:cs typeface="Hiragino Sans GB"/>
              </a:defRPr>
            </a:pPr>
            <a:r>
              <a:rPr sz="750" b="1">
                <a:solidFill>
                  <a:srgbClr val="F59E0B"/>
                </a:solidFill>
                <a:latin typeface="Hiragino Sans GB"/>
                <a:ea typeface="Hiragino Sans GB"/>
                <a:cs typeface="Hiragino Sans GB"/>
              </a:rPr>
              <a:t>Cause</a:t>
            </a:r>
          </a:p>
        </p:txBody>
      </p:sp>
      <p:sp>
        <p:nvSpPr>
          <p:cNvPr id="56" name="">
            <a:extLst xmlns:a="http://schemas.openxmlformats.org/drawingml/2006/main">
              <a:ext uri="{FF2B5EF4-FFF2-40B4-BE49-F238E27FC236}">
                <a16:creationId xmlns:a16="http://schemas.microsoft.com/office/drawing/2014/main" id="{57AF5F3C-6413-4A18-AECA-854C905B8EC5}"/>
              </a:ext>
            </a:extLst>
          </p:cNvPr>
          <p:cNvSpPr>
            <a:spLocks xmlns:a="http://schemas.openxmlformats.org/drawingml/2006/main" noGrp="1"/>
          </p:cNvSpPr>
          <p:nvPr/>
        </p:nvSpPr>
        <p:spPr>
          <a:xfrm xmlns:a="http://schemas.openxmlformats.org/drawingml/2006/main">
            <a:off x="6696075" y="404812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  95.2%</a:t>
            </a:r>
          </a:p>
        </p:txBody>
      </p:sp>
      <p:sp>
        <p:nvSpPr>
          <p:cNvPr id="57" name="">
            <a:extLst xmlns:a="http://schemas.openxmlformats.org/drawingml/2006/main">
              <a:ext uri="{FF2B5EF4-FFF2-40B4-BE49-F238E27FC236}">
                <a16:creationId xmlns:a16="http://schemas.microsoft.com/office/drawing/2014/main" id="{64CFE88D-8466-4CF4-ACD1-B3903484AC22}"/>
              </a:ext>
            </a:extLst>
          </p:cNvPr>
          <p:cNvSpPr>
            <a:spLocks xmlns:a="http://schemas.openxmlformats.org/drawingml/2006/main" noGrp="1"/>
          </p:cNvSpPr>
          <p:nvPr/>
        </p:nvSpPr>
        <p:spPr>
          <a:xfrm xmlns:a="http://schemas.openxmlformats.org/drawingml/2006/main">
            <a:off x="6153150" y="4514850"/>
            <a:ext cx="4076700" cy="476250"/>
          </a:xfrm>
          <a:prstGeom xmlns:a="http://schemas.openxmlformats.org/drawingml/2006/main" prst="roundRect">
            <a:avLst>
              <a:gd name="adj" fmla="val 20000"/>
            </a:avLst>
          </a:prstGeom>
          <a:solidFill xmlns:a="http://schemas.openxmlformats.org/drawingml/2006/main">
            <a:srgbClr val="EAF8F3"/>
          </a:solidFill>
          <a:ln xmlns:a="http://schemas.openxmlformats.org/drawingml/2006/main" w="11430">
            <a:solidFill>
              <a:srgbClr val="168B6B"/>
            </a:solidFill>
            <a:prstDash val="solid"/>
          </a:ln>
        </p:spPr>
      </p:sp>
      <p:sp>
        <p:nvSpPr>
          <p:cNvPr id="58" name="">
            <a:extLst xmlns:a="http://schemas.openxmlformats.org/drawingml/2006/main">
              <a:ext uri="{FF2B5EF4-FFF2-40B4-BE49-F238E27FC236}">
                <a16:creationId xmlns:a16="http://schemas.microsoft.com/office/drawing/2014/main" id="{093B36E2-DFB1-4472-A018-467FB5042867}"/>
              </a:ext>
            </a:extLst>
          </p:cNvPr>
          <p:cNvSpPr>
            <a:spLocks xmlns:a="http://schemas.openxmlformats.org/drawingml/2006/main" noGrp="1"/>
          </p:cNvSpPr>
          <p:nvPr/>
        </p:nvSpPr>
        <p:spPr>
          <a:xfrm xmlns:a="http://schemas.openxmlformats.org/drawingml/2006/main">
            <a:off x="6257925" y="4581525"/>
            <a:ext cx="3867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68B6B"/>
                </a:solidFill>
                <a:latin typeface="Hiragino Sans GB"/>
                <a:ea typeface="Hiragino Sans GB"/>
                <a:cs typeface="Hiragino Sans GB"/>
              </a:defRPr>
            </a:pPr>
            <a:r>
              <a:rPr sz="750" b="1">
                <a:solidFill>
                  <a:srgbClr val="168B6B"/>
                </a:solidFill>
                <a:latin typeface="Hiragino Sans GB"/>
                <a:ea typeface="Hiragino Sans GB"/>
                <a:cs typeface="Hiragino Sans GB"/>
              </a:rPr>
              <a:t>DeploymentContext</a:t>
            </a:r>
          </a:p>
        </p:txBody>
      </p:sp>
      <p:sp>
        <p:nvSpPr>
          <p:cNvPr id="59" name="">
            <a:extLst xmlns:a="http://schemas.openxmlformats.org/drawingml/2006/main">
              <a:ext uri="{FF2B5EF4-FFF2-40B4-BE49-F238E27FC236}">
                <a16:creationId xmlns:a16="http://schemas.microsoft.com/office/drawing/2014/main" id="{CF6C5CBC-0D34-4211-AFD5-2AD5F4793145}"/>
              </a:ext>
            </a:extLst>
          </p:cNvPr>
          <p:cNvSpPr>
            <a:spLocks xmlns:a="http://schemas.openxmlformats.org/drawingml/2006/main" noGrp="1"/>
          </p:cNvSpPr>
          <p:nvPr/>
        </p:nvSpPr>
        <p:spPr>
          <a:xfrm xmlns:a="http://schemas.openxmlformats.org/drawingml/2006/main">
            <a:off x="6257925" y="4752975"/>
            <a:ext cx="3867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142735"/>
                </a:solidFill>
                <a:latin typeface="Hiragino Sans GB"/>
                <a:ea typeface="Hiragino Sans GB"/>
                <a:cs typeface="Hiragino Sans GB"/>
              </a:defRPr>
            </a:pPr>
            <a:r>
              <a:rPr sz="975" b="1">
                <a:solidFill>
                  <a:srgbClr val="142735"/>
                </a:solidFill>
                <a:latin typeface="Hiragino Sans GB"/>
                <a:ea typeface="Hiragino Sans GB"/>
                <a:cs typeface="Hiragino Sans GB"/>
              </a:rPr>
              <a:t>Open WebUI 容器访问宿主机 Ollama</a:t>
            </a:r>
          </a:p>
        </p:txBody>
      </p:sp>
      <p:sp>
        <p:nvSpPr>
          <p:cNvPr id="60" name="">
            <a:extLst xmlns:a="http://schemas.openxmlformats.org/drawingml/2006/main">
              <a:ext uri="{FF2B5EF4-FFF2-40B4-BE49-F238E27FC236}">
                <a16:creationId xmlns:a16="http://schemas.microsoft.com/office/drawing/2014/main" id="{A5D336F3-BA47-4E1A-8BD9-C6A39A053D4C}"/>
              </a:ext>
            </a:extLst>
          </p:cNvPr>
          <p:cNvSpPr>
            <a:spLocks xmlns:a="http://schemas.openxmlformats.org/drawingml/2006/main" noGrp="1"/>
          </p:cNvSpPr>
          <p:nvPr/>
        </p:nvSpPr>
        <p:spPr>
          <a:xfrm xmlns:a="http://schemas.openxmlformats.org/drawingml/2006/main">
            <a:off x="5219700" y="5257800"/>
            <a:ext cx="1428750" cy="438150"/>
          </a:xfrm>
          <a:prstGeom xmlns:a="http://schemas.openxmlformats.org/drawingml/2006/main" prst="roundRect">
            <a:avLst>
              <a:gd name="adj" fmla="val 21739"/>
            </a:avLst>
          </a:prstGeom>
          <a:solidFill xmlns:a="http://schemas.openxmlformats.org/drawingml/2006/main">
            <a:srgbClr val="F4F7FA"/>
          </a:solidFill>
          <a:ln xmlns:a="http://schemas.openxmlformats.org/drawingml/2006/main" w="11430">
            <a:solidFill>
              <a:srgbClr val="91A1B4"/>
            </a:solidFill>
            <a:prstDash val="solid"/>
          </a:ln>
        </p:spPr>
      </p:sp>
      <p:sp>
        <p:nvSpPr>
          <p:cNvPr id="61" name="">
            <a:extLst xmlns:a="http://schemas.openxmlformats.org/drawingml/2006/main">
              <a:ext uri="{FF2B5EF4-FFF2-40B4-BE49-F238E27FC236}">
                <a16:creationId xmlns:a16="http://schemas.microsoft.com/office/drawing/2014/main" id="{561450EE-3C64-45E5-BAD5-53E30DC5ABE9}"/>
              </a:ext>
            </a:extLst>
          </p:cNvPr>
          <p:cNvSpPr>
            <a:spLocks xmlns:a="http://schemas.openxmlformats.org/drawingml/2006/main" noGrp="1"/>
          </p:cNvSpPr>
          <p:nvPr/>
        </p:nvSpPr>
        <p:spPr>
          <a:xfrm xmlns:a="http://schemas.openxmlformats.org/drawingml/2006/main">
            <a:off x="5324475" y="5324475"/>
            <a:ext cx="1219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Service</a:t>
            </a:r>
          </a:p>
        </p:txBody>
      </p:sp>
      <p:sp>
        <p:nvSpPr>
          <p:cNvPr id="62" name="">
            <a:extLst xmlns:a="http://schemas.openxmlformats.org/drawingml/2006/main">
              <a:ext uri="{FF2B5EF4-FFF2-40B4-BE49-F238E27FC236}">
                <a16:creationId xmlns:a16="http://schemas.microsoft.com/office/drawing/2014/main" id="{048D05C0-3815-4249-A280-3BA5FEB7556D}"/>
              </a:ext>
            </a:extLst>
          </p:cNvPr>
          <p:cNvSpPr>
            <a:spLocks xmlns:a="http://schemas.openxmlformats.org/drawingml/2006/main" noGrp="1"/>
          </p:cNvSpPr>
          <p:nvPr/>
        </p:nvSpPr>
        <p:spPr>
          <a:xfrm xmlns:a="http://schemas.openxmlformats.org/drawingml/2006/main">
            <a:off x="5324475" y="5495925"/>
            <a:ext cx="1219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142735"/>
                </a:solidFill>
                <a:latin typeface="Hiragino Sans GB"/>
                <a:ea typeface="Hiragino Sans GB"/>
                <a:cs typeface="Hiragino Sans GB"/>
              </a:defRPr>
            </a:pPr>
            <a:r>
              <a:rPr sz="900" b="1">
                <a:solidFill>
                  <a:srgbClr val="142735"/>
                </a:solidFill>
                <a:latin typeface="Hiragino Sans GB"/>
                <a:ea typeface="Hiragino Sans GB"/>
                <a:cs typeface="Hiragino Sans GB"/>
              </a:rPr>
              <a:t>Open WebUI</a:t>
            </a:r>
          </a:p>
        </p:txBody>
      </p:sp>
      <p:sp>
        <p:nvSpPr>
          <p:cNvPr id="63" name="">
            <a:extLst xmlns:a="http://schemas.openxmlformats.org/drawingml/2006/main">
              <a:ext uri="{FF2B5EF4-FFF2-40B4-BE49-F238E27FC236}">
                <a16:creationId xmlns:a16="http://schemas.microsoft.com/office/drawing/2014/main" id="{9F072F6C-DB1E-4C5A-9C60-0C7F9AA7AF44}"/>
              </a:ext>
            </a:extLst>
          </p:cNvPr>
          <p:cNvSpPr>
            <a:spLocks xmlns:a="http://schemas.openxmlformats.org/drawingml/2006/main" noGrp="1"/>
          </p:cNvSpPr>
          <p:nvPr/>
        </p:nvSpPr>
        <p:spPr>
          <a:xfrm xmlns:a="http://schemas.openxmlformats.org/drawingml/2006/main">
            <a:off x="6819900" y="5257800"/>
            <a:ext cx="1257300" cy="438150"/>
          </a:xfrm>
          <a:prstGeom xmlns:a="http://schemas.openxmlformats.org/drawingml/2006/main" prst="roundRect">
            <a:avLst>
              <a:gd name="adj" fmla="val 21739"/>
            </a:avLst>
          </a:prstGeom>
          <a:solidFill xmlns:a="http://schemas.openxmlformats.org/drawingml/2006/main">
            <a:srgbClr val="F4F7FA"/>
          </a:solidFill>
          <a:ln xmlns:a="http://schemas.openxmlformats.org/drawingml/2006/main" w="11430">
            <a:solidFill>
              <a:srgbClr val="91A1B4"/>
            </a:solidFill>
            <a:prstDash val="solid"/>
          </a:ln>
        </p:spPr>
      </p:sp>
      <p:sp>
        <p:nvSpPr>
          <p:cNvPr id="64" name="">
            <a:extLst xmlns:a="http://schemas.openxmlformats.org/drawingml/2006/main">
              <a:ext uri="{FF2B5EF4-FFF2-40B4-BE49-F238E27FC236}">
                <a16:creationId xmlns:a16="http://schemas.microsoft.com/office/drawing/2014/main" id="{16A97327-063D-4255-ADA1-A0DD3B10D9AB}"/>
              </a:ext>
            </a:extLst>
          </p:cNvPr>
          <p:cNvSpPr>
            <a:spLocks xmlns:a="http://schemas.openxmlformats.org/drawingml/2006/main" noGrp="1"/>
          </p:cNvSpPr>
          <p:nvPr/>
        </p:nvSpPr>
        <p:spPr>
          <a:xfrm xmlns:a="http://schemas.openxmlformats.org/drawingml/2006/main">
            <a:off x="6924675" y="5324475"/>
            <a:ext cx="1047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Service</a:t>
            </a:r>
          </a:p>
        </p:txBody>
      </p:sp>
      <p:sp>
        <p:nvSpPr>
          <p:cNvPr id="65" name="">
            <a:extLst xmlns:a="http://schemas.openxmlformats.org/drawingml/2006/main">
              <a:ext uri="{FF2B5EF4-FFF2-40B4-BE49-F238E27FC236}">
                <a16:creationId xmlns:a16="http://schemas.microsoft.com/office/drawing/2014/main" id="{125D791B-8E11-457D-9BC0-7520EDCE016A}"/>
              </a:ext>
            </a:extLst>
          </p:cNvPr>
          <p:cNvSpPr>
            <a:spLocks xmlns:a="http://schemas.openxmlformats.org/drawingml/2006/main" noGrp="1"/>
          </p:cNvSpPr>
          <p:nvPr/>
        </p:nvSpPr>
        <p:spPr>
          <a:xfrm xmlns:a="http://schemas.openxmlformats.org/drawingml/2006/main">
            <a:off x="6924675" y="5495925"/>
            <a:ext cx="1047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142735"/>
                </a:solidFill>
                <a:latin typeface="Hiragino Sans GB"/>
                <a:ea typeface="Hiragino Sans GB"/>
                <a:cs typeface="Hiragino Sans GB"/>
              </a:defRPr>
            </a:pPr>
            <a:r>
              <a:rPr sz="900" b="1">
                <a:solidFill>
                  <a:srgbClr val="142735"/>
                </a:solidFill>
                <a:latin typeface="Hiragino Sans GB"/>
                <a:ea typeface="Hiragino Sans GB"/>
                <a:cs typeface="Hiragino Sans GB"/>
              </a:rPr>
              <a:t>Ollama</a:t>
            </a:r>
          </a:p>
        </p:txBody>
      </p:sp>
      <p:sp>
        <p:nvSpPr>
          <p:cNvPr id="66" name="">
            <a:extLst xmlns:a="http://schemas.openxmlformats.org/drawingml/2006/main">
              <a:ext uri="{FF2B5EF4-FFF2-40B4-BE49-F238E27FC236}">
                <a16:creationId xmlns:a16="http://schemas.microsoft.com/office/drawing/2014/main" id="{4B9E3FB0-7A9F-498A-B19E-430F5A317D54}"/>
              </a:ext>
            </a:extLst>
          </p:cNvPr>
          <p:cNvSpPr>
            <a:spLocks xmlns:a="http://schemas.openxmlformats.org/drawingml/2006/main" noGrp="1"/>
          </p:cNvSpPr>
          <p:nvPr/>
        </p:nvSpPr>
        <p:spPr>
          <a:xfrm xmlns:a="http://schemas.openxmlformats.org/drawingml/2006/main">
            <a:off x="8248650" y="5257800"/>
            <a:ext cx="1257300" cy="438150"/>
          </a:xfrm>
          <a:prstGeom xmlns:a="http://schemas.openxmlformats.org/drawingml/2006/main" prst="roundRect">
            <a:avLst>
              <a:gd name="adj" fmla="val 21739"/>
            </a:avLst>
          </a:prstGeom>
          <a:solidFill xmlns:a="http://schemas.openxmlformats.org/drawingml/2006/main">
            <a:srgbClr val="F4F7FA"/>
          </a:solidFill>
          <a:ln xmlns:a="http://schemas.openxmlformats.org/drawingml/2006/main" w="11430">
            <a:solidFill>
              <a:srgbClr val="91A1B4"/>
            </a:solidFill>
            <a:prstDash val="solid"/>
          </a:ln>
        </p:spPr>
      </p:sp>
      <p:sp>
        <p:nvSpPr>
          <p:cNvPr id="67" name="">
            <a:extLst xmlns:a="http://schemas.openxmlformats.org/drawingml/2006/main">
              <a:ext uri="{FF2B5EF4-FFF2-40B4-BE49-F238E27FC236}">
                <a16:creationId xmlns:a16="http://schemas.microsoft.com/office/drawing/2014/main" id="{37CA5AFB-6D3F-4C8B-95AE-A575A45666C6}"/>
              </a:ext>
            </a:extLst>
          </p:cNvPr>
          <p:cNvSpPr>
            <a:spLocks xmlns:a="http://schemas.openxmlformats.org/drawingml/2006/main" noGrp="1"/>
          </p:cNvSpPr>
          <p:nvPr/>
        </p:nvSpPr>
        <p:spPr>
          <a:xfrm xmlns:a="http://schemas.openxmlformats.org/drawingml/2006/main">
            <a:off x="8353425" y="5324475"/>
            <a:ext cx="1047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Endpoint</a:t>
            </a:r>
          </a:p>
        </p:txBody>
      </p:sp>
      <p:sp>
        <p:nvSpPr>
          <p:cNvPr id="68" name="">
            <a:extLst xmlns:a="http://schemas.openxmlformats.org/drawingml/2006/main">
              <a:ext uri="{FF2B5EF4-FFF2-40B4-BE49-F238E27FC236}">
                <a16:creationId xmlns:a16="http://schemas.microsoft.com/office/drawing/2014/main" id="{C8FC4527-5C2D-4236-880E-1D9C3B54B87E}"/>
              </a:ext>
            </a:extLst>
          </p:cNvPr>
          <p:cNvSpPr>
            <a:spLocks xmlns:a="http://schemas.openxmlformats.org/drawingml/2006/main" noGrp="1"/>
          </p:cNvSpPr>
          <p:nvPr/>
        </p:nvSpPr>
        <p:spPr>
          <a:xfrm xmlns:a="http://schemas.openxmlformats.org/drawingml/2006/main">
            <a:off x="8353425" y="5495925"/>
            <a:ext cx="1047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142735"/>
                </a:solidFill>
                <a:latin typeface="Hiragino Sans GB"/>
                <a:ea typeface="Hiragino Sans GB"/>
                <a:cs typeface="Hiragino Sans GB"/>
              </a:defRPr>
            </a:pPr>
            <a:r>
              <a:rPr sz="900" b="1">
                <a:solidFill>
                  <a:srgbClr val="142735"/>
                </a:solidFill>
                <a:latin typeface="Hiragino Sans GB"/>
                <a:ea typeface="Hiragino Sans GB"/>
                <a:cs typeface="Hiragino Sans GB"/>
              </a:rPr>
              <a:t>/api/tags</a:t>
            </a:r>
          </a:p>
        </p:txBody>
      </p:sp>
      <p:sp>
        <p:nvSpPr>
          <p:cNvPr id="69" name="">
            <a:extLst xmlns:a="http://schemas.openxmlformats.org/drawingml/2006/main">
              <a:ext uri="{FF2B5EF4-FFF2-40B4-BE49-F238E27FC236}">
                <a16:creationId xmlns:a16="http://schemas.microsoft.com/office/drawing/2014/main" id="{86856617-C639-4778-BF2F-F82BDC0E6367}"/>
              </a:ext>
            </a:extLst>
          </p:cNvPr>
          <p:cNvSpPr>
            <a:spLocks xmlns:a="http://schemas.openxmlformats.org/drawingml/2006/main" noGrp="1"/>
          </p:cNvSpPr>
          <p:nvPr/>
        </p:nvSpPr>
        <p:spPr>
          <a:xfrm xmlns:a="http://schemas.openxmlformats.org/drawingml/2006/main">
            <a:off x="9677400" y="5257800"/>
            <a:ext cx="1600200" cy="438150"/>
          </a:xfrm>
          <a:prstGeom xmlns:a="http://schemas.openxmlformats.org/drawingml/2006/main" prst="roundRect">
            <a:avLst>
              <a:gd name="adj" fmla="val 21739"/>
            </a:avLst>
          </a:prstGeom>
          <a:solidFill xmlns:a="http://schemas.openxmlformats.org/drawingml/2006/main">
            <a:srgbClr val="F3EEFF"/>
          </a:solidFill>
          <a:ln xmlns:a="http://schemas.openxmlformats.org/drawingml/2006/main" w="11430">
            <a:solidFill>
              <a:srgbClr val="7B61C9"/>
            </a:solidFill>
            <a:prstDash val="solid"/>
          </a:ln>
        </p:spPr>
      </p:sp>
      <p:sp>
        <p:nvSpPr>
          <p:cNvPr id="70" name="">
            <a:extLst xmlns:a="http://schemas.openxmlformats.org/drawingml/2006/main">
              <a:ext uri="{FF2B5EF4-FFF2-40B4-BE49-F238E27FC236}">
                <a16:creationId xmlns:a16="http://schemas.microsoft.com/office/drawing/2014/main" id="{AEC76C3C-0034-44A6-A366-6A1FCBA65E7F}"/>
              </a:ext>
            </a:extLst>
          </p:cNvPr>
          <p:cNvSpPr>
            <a:spLocks xmlns:a="http://schemas.openxmlformats.org/drawingml/2006/main" noGrp="1"/>
          </p:cNvSpPr>
          <p:nvPr/>
        </p:nvSpPr>
        <p:spPr>
          <a:xfrm xmlns:a="http://schemas.openxmlformats.org/drawingml/2006/main">
            <a:off x="9782175" y="5324475"/>
            <a:ext cx="1390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7B61C9"/>
                </a:solidFill>
                <a:latin typeface="Hiragino Sans GB"/>
                <a:ea typeface="Hiragino Sans GB"/>
                <a:cs typeface="Hiragino Sans GB"/>
              </a:defRPr>
            </a:pPr>
            <a:r>
              <a:rPr sz="750" b="1">
                <a:solidFill>
                  <a:srgbClr val="7B61C9"/>
                </a:solidFill>
                <a:latin typeface="Hiragino Sans GB"/>
                <a:ea typeface="Hiragino Sans GB"/>
                <a:cs typeface="Hiragino Sans GB"/>
              </a:rPr>
              <a:t>下一问</a:t>
            </a:r>
          </a:p>
        </p:txBody>
      </p:sp>
      <p:sp>
        <p:nvSpPr>
          <p:cNvPr id="71" name="">
            <a:extLst xmlns:a="http://schemas.openxmlformats.org/drawingml/2006/main">
              <a:ext uri="{FF2B5EF4-FFF2-40B4-BE49-F238E27FC236}">
                <a16:creationId xmlns:a16="http://schemas.microsoft.com/office/drawing/2014/main" id="{6F87B684-8ACF-4234-A246-11EE344103B9}"/>
              </a:ext>
            </a:extLst>
          </p:cNvPr>
          <p:cNvSpPr>
            <a:spLocks xmlns:a="http://schemas.openxmlformats.org/drawingml/2006/main" noGrp="1"/>
          </p:cNvSpPr>
          <p:nvPr/>
        </p:nvSpPr>
        <p:spPr>
          <a:xfrm xmlns:a="http://schemas.openxmlformats.org/drawingml/2006/main">
            <a:off x="9782175" y="5495925"/>
            <a:ext cx="13906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环境变量是否缺失？</a:t>
            </a:r>
          </a:p>
        </p:txBody>
      </p:sp>
      <p:sp>
        <p:nvSpPr>
          <p:cNvPr id="72" name="">
            <a:extLst xmlns:a="http://schemas.openxmlformats.org/drawingml/2006/main">
              <a:ext uri="{FF2B5EF4-FFF2-40B4-BE49-F238E27FC236}">
                <a16:creationId xmlns:a16="http://schemas.microsoft.com/office/drawing/2014/main" id="{4F3F71E3-FF4E-44E1-928A-81C84FE9D645}"/>
              </a:ext>
            </a:extLst>
          </p:cNvPr>
          <p:cNvSpPr>
            <a:spLocks xmlns:a="http://schemas.openxmlformats.org/drawingml/2006/main" noGrp="1"/>
          </p:cNvSpPr>
          <p:nvPr/>
        </p:nvSpPr>
        <p:spPr>
          <a:xfrm xmlns:a="http://schemas.openxmlformats.org/drawingml/2006/main">
            <a:off x="8191500" y="4991100"/>
            <a:ext cx="0" cy="133350"/>
          </a:xfrm>
          <a:prstGeom xmlns:a="http://schemas.openxmlformats.org/drawingml/2006/main" prst="line">
            <a:avLst/>
          </a:prstGeom>
          <a:noFill xmlns:a="http://schemas.openxmlformats.org/drawingml/2006/main"/>
          <a:ln xmlns:a="http://schemas.openxmlformats.org/drawingml/2006/main" w="15240">
            <a:solidFill>
              <a:srgbClr val="91A1B4"/>
            </a:solidFill>
            <a:prstDash val="solid"/>
          </a:ln>
        </p:spPr>
      </p:sp>
      <p:sp>
        <p:nvSpPr>
          <p:cNvPr id="73" name="">
            <a:extLst xmlns:a="http://schemas.openxmlformats.org/drawingml/2006/main">
              <a:ext uri="{FF2B5EF4-FFF2-40B4-BE49-F238E27FC236}">
                <a16:creationId xmlns:a16="http://schemas.microsoft.com/office/drawing/2014/main" id="{4AA31793-274E-4A02-A74F-26E1A56A93F3}"/>
              </a:ext>
            </a:extLst>
          </p:cNvPr>
          <p:cNvSpPr>
            <a:spLocks xmlns:a="http://schemas.openxmlformats.org/drawingml/2006/main" noGrp="1"/>
          </p:cNvSpPr>
          <p:nvPr/>
        </p:nvSpPr>
        <p:spPr>
          <a:xfrm xmlns:a="http://schemas.openxmlformats.org/drawingml/2006/main">
            <a:off x="5934075" y="5124450"/>
            <a:ext cx="4543425" cy="0"/>
          </a:xfrm>
          <a:prstGeom xmlns:a="http://schemas.openxmlformats.org/drawingml/2006/main" prst="line">
            <a:avLst/>
          </a:prstGeom>
          <a:noFill xmlns:a="http://schemas.openxmlformats.org/drawingml/2006/main"/>
          <a:ln xmlns:a="http://schemas.openxmlformats.org/drawingml/2006/main" w="15240">
            <a:solidFill>
              <a:srgbClr val="91A1B4"/>
            </a:solidFill>
            <a:prstDash val="solid"/>
          </a:ln>
        </p:spPr>
      </p:sp>
      <p:sp>
        <p:nvSpPr>
          <p:cNvPr id="74" name="">
            <a:extLst xmlns:a="http://schemas.openxmlformats.org/drawingml/2006/main">
              <a:ext uri="{FF2B5EF4-FFF2-40B4-BE49-F238E27FC236}">
                <a16:creationId xmlns:a16="http://schemas.microsoft.com/office/drawing/2014/main" id="{68B9FF9B-FAFF-4414-81B2-ACAA817E1998}"/>
              </a:ext>
            </a:extLst>
          </p:cNvPr>
          <p:cNvSpPr>
            <a:spLocks xmlns:a="http://schemas.openxmlformats.org/drawingml/2006/main" noGrp="1"/>
          </p:cNvSpPr>
          <p:nvPr/>
        </p:nvSpPr>
        <p:spPr>
          <a:xfrm xmlns:a="http://schemas.openxmlformats.org/drawingml/2006/main">
            <a:off x="5934075" y="5124450"/>
            <a:ext cx="0" cy="133350"/>
          </a:xfrm>
          <a:prstGeom xmlns:a="http://schemas.openxmlformats.org/drawingml/2006/main" prst="line">
            <a:avLst/>
          </a:prstGeom>
          <a:noFill xmlns:a="http://schemas.openxmlformats.org/drawingml/2006/main"/>
          <a:ln xmlns:a="http://schemas.openxmlformats.org/drawingml/2006/main" w="15240">
            <a:solidFill>
              <a:srgbClr val="91A1B4"/>
            </a:solidFill>
            <a:prstDash val="solid"/>
          </a:ln>
        </p:spPr>
      </p:sp>
      <p:sp>
        <p:nvSpPr>
          <p:cNvPr id="75" name="">
            <a:extLst xmlns:a="http://schemas.openxmlformats.org/drawingml/2006/main">
              <a:ext uri="{FF2B5EF4-FFF2-40B4-BE49-F238E27FC236}">
                <a16:creationId xmlns:a16="http://schemas.microsoft.com/office/drawing/2014/main" id="{06B7F934-0782-4E14-A08C-B7DE83A1580C}"/>
              </a:ext>
            </a:extLst>
          </p:cNvPr>
          <p:cNvSpPr>
            <a:spLocks xmlns:a="http://schemas.openxmlformats.org/drawingml/2006/main" noGrp="1"/>
          </p:cNvSpPr>
          <p:nvPr/>
        </p:nvSpPr>
        <p:spPr>
          <a:xfrm xmlns:a="http://schemas.openxmlformats.org/drawingml/2006/main">
            <a:off x="7448550" y="5124450"/>
            <a:ext cx="0" cy="133350"/>
          </a:xfrm>
          <a:prstGeom xmlns:a="http://schemas.openxmlformats.org/drawingml/2006/main" prst="line">
            <a:avLst/>
          </a:prstGeom>
          <a:noFill xmlns:a="http://schemas.openxmlformats.org/drawingml/2006/main"/>
          <a:ln xmlns:a="http://schemas.openxmlformats.org/drawingml/2006/main" w="15240">
            <a:solidFill>
              <a:srgbClr val="91A1B4"/>
            </a:solidFill>
            <a:prstDash val="solid"/>
          </a:ln>
        </p:spPr>
      </p:sp>
      <p:sp>
        <p:nvSpPr>
          <p:cNvPr id="76" name="">
            <a:extLst xmlns:a="http://schemas.openxmlformats.org/drawingml/2006/main">
              <a:ext uri="{FF2B5EF4-FFF2-40B4-BE49-F238E27FC236}">
                <a16:creationId xmlns:a16="http://schemas.microsoft.com/office/drawing/2014/main" id="{50EA64D8-BF67-4E8F-AF5D-8862533A866D}"/>
              </a:ext>
            </a:extLst>
          </p:cNvPr>
          <p:cNvSpPr>
            <a:spLocks xmlns:a="http://schemas.openxmlformats.org/drawingml/2006/main" noGrp="1"/>
          </p:cNvSpPr>
          <p:nvPr/>
        </p:nvSpPr>
        <p:spPr>
          <a:xfrm xmlns:a="http://schemas.openxmlformats.org/drawingml/2006/main">
            <a:off x="8877300" y="5124450"/>
            <a:ext cx="0" cy="133350"/>
          </a:xfrm>
          <a:prstGeom xmlns:a="http://schemas.openxmlformats.org/drawingml/2006/main" prst="line">
            <a:avLst/>
          </a:prstGeom>
          <a:noFill xmlns:a="http://schemas.openxmlformats.org/drawingml/2006/main"/>
          <a:ln xmlns:a="http://schemas.openxmlformats.org/drawingml/2006/main" w="15240">
            <a:solidFill>
              <a:srgbClr val="91A1B4"/>
            </a:solidFill>
            <a:prstDash val="solid"/>
          </a:ln>
        </p:spPr>
      </p:sp>
      <p:sp>
        <p:nvSpPr>
          <p:cNvPr id="77" name="">
            <a:extLst xmlns:a="http://schemas.openxmlformats.org/drawingml/2006/main">
              <a:ext uri="{FF2B5EF4-FFF2-40B4-BE49-F238E27FC236}">
                <a16:creationId xmlns:a16="http://schemas.microsoft.com/office/drawing/2014/main" id="{46A6F95E-F263-4D2E-8EC2-821D814F1BC5}"/>
              </a:ext>
            </a:extLst>
          </p:cNvPr>
          <p:cNvSpPr>
            <a:spLocks xmlns:a="http://schemas.openxmlformats.org/drawingml/2006/main" noGrp="1"/>
          </p:cNvSpPr>
          <p:nvPr/>
        </p:nvSpPr>
        <p:spPr>
          <a:xfrm xmlns:a="http://schemas.openxmlformats.org/drawingml/2006/main">
            <a:off x="10477500" y="5124450"/>
            <a:ext cx="0" cy="133350"/>
          </a:xfrm>
          <a:prstGeom xmlns:a="http://schemas.openxmlformats.org/drawingml/2006/main" prst="line">
            <a:avLst/>
          </a:prstGeom>
          <a:noFill xmlns:a="http://schemas.openxmlformats.org/drawingml/2006/main"/>
          <a:ln xmlns:a="http://schemas.openxmlformats.org/drawingml/2006/main" w="15240">
            <a:solidFill>
              <a:srgbClr val="7B61C9"/>
            </a:solidFill>
            <a:prstDash val="solid"/>
          </a:ln>
        </p:spPr>
      </p:sp>
      <p:sp>
        <p:nvSpPr>
          <p:cNvPr id="78" name="">
            <a:extLst xmlns:a="http://schemas.openxmlformats.org/drawingml/2006/main">
              <a:ext uri="{FF2B5EF4-FFF2-40B4-BE49-F238E27FC236}">
                <a16:creationId xmlns:a16="http://schemas.microsoft.com/office/drawing/2014/main" id="{09C2899D-E1B0-4688-933D-52FE75AEE0EA}"/>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用户回答进入图谱后，Top-1 从 56.0% 升至 95.2%，系统据此选择下一问</a:t>
            </a:r>
          </a:p>
        </p:txBody>
      </p:sp>
    </p:spTree>
    <p:extLst>
      <p:ext uri="{BB962C8B-B14F-4D97-AF65-F5344CB8AC3E}">
        <p14:creationId xmlns:p14="http://schemas.microsoft.com/office/powerpoint/2010/main" val="9096816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 name="">
            <a:extLst xmlns:a="http://schemas.openxmlformats.org/drawingml/2006/main">
              <a:ext uri="{FF2B5EF4-FFF2-40B4-BE49-F238E27FC236}">
                <a16:creationId xmlns:a16="http://schemas.microsoft.com/office/drawing/2014/main" id="{72E3B71C-2018-446B-BA3D-19877BC83A1F}"/>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367710C5-3859-4A1A-B6A6-F48A7FC38C11}"/>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第 2 轮：定位原因，并展开完整证据链</a:t>
            </a:r>
          </a:p>
        </p:txBody>
      </p:sp>
      <p:sp>
        <p:nvSpPr>
          <p:cNvPr id="3" name="">
            <a:extLst xmlns:a="http://schemas.openxmlformats.org/drawingml/2006/main">
              <a:ext uri="{FF2B5EF4-FFF2-40B4-BE49-F238E27FC236}">
                <a16:creationId xmlns:a16="http://schemas.microsoft.com/office/drawing/2014/main" id="{9BA06B17-064A-4DCF-88AD-DEF9F8470325}"/>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08</a:t>
            </a:r>
          </a:p>
        </p:txBody>
      </p:sp>
      <p:sp>
        <p:nvSpPr>
          <p:cNvPr id="4" name="">
            <a:extLst xmlns:a="http://schemas.openxmlformats.org/drawingml/2006/main">
              <a:ext uri="{FF2B5EF4-FFF2-40B4-BE49-F238E27FC236}">
                <a16:creationId xmlns:a16="http://schemas.microsoft.com/office/drawing/2014/main" id="{AD355283-B450-42FA-B3DF-B2BA2FCED8BF}"/>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2C66A688-48F5-4C34-9C96-D53789925DF0}"/>
              </a:ext>
            </a:extLst>
          </p:cNvPr>
          <p:cNvSpPr>
            <a:spLocks xmlns:a="http://schemas.openxmlformats.org/drawingml/2006/main" noGrp="1"/>
          </p:cNvSpPr>
          <p:nvPr/>
        </p:nvSpPr>
        <p:spPr>
          <a:xfrm xmlns:a="http://schemas.openxmlformats.org/drawingml/2006/main">
            <a:off x="685800" y="14668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42735"/>
                </a:solidFill>
                <a:latin typeface="Hiragino Sans GB"/>
                <a:ea typeface="Hiragino Sans GB"/>
                <a:cs typeface="Hiragino Sans GB"/>
              </a:defRPr>
            </a:pPr>
            <a:r>
              <a:rPr sz="1575" b="1">
                <a:solidFill>
                  <a:srgbClr val="142735"/>
                </a:solidFill>
                <a:latin typeface="Hiragino Sans GB"/>
                <a:ea typeface="Hiragino Sans GB"/>
                <a:cs typeface="Hiragino Sans GB"/>
              </a:rPr>
              <a:t>第二次回答“否”后，服务地址配置错误达到 96.9%，并满足停止条件。</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d0d130c9baae47b6"/>
          <a:stretch xmlns:a="http://schemas.openxmlformats.org/drawingml/2006/main"/>
        </p:blipFill>
        <p:spPr>
          <a:xfrm xmlns:a="http://schemas.openxmlformats.org/drawingml/2006/main">
            <a:off x="2798634" y="1809750"/>
            <a:ext cx="6594732" cy="2628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E49E40-475E-4914-A2B4-274D27A7DBB0}"/>
              </a:ext>
            </a:extLst>
          </p:cNvPr>
          <p:cNvSpPr>
            <a:spLocks xmlns:a="http://schemas.openxmlformats.org/drawingml/2006/main" noGrp="1"/>
          </p:cNvSpPr>
          <p:nvPr/>
        </p:nvSpPr>
        <p:spPr>
          <a:xfrm xmlns:a="http://schemas.openxmlformats.org/drawingml/2006/main">
            <a:off x="6858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F5FBF"/>
                </a:solidFill>
                <a:latin typeface="Hiragino Sans GB"/>
                <a:ea typeface="Hiragino Sans GB"/>
                <a:cs typeface="Hiragino Sans GB"/>
              </a:defRPr>
            </a:pPr>
            <a:r>
              <a:rPr sz="1275" b="1">
                <a:solidFill>
                  <a:srgbClr val="1F5FBF"/>
                </a:solidFill>
                <a:latin typeface="Hiragino Sans GB"/>
                <a:ea typeface="Hiragino Sans GB"/>
                <a:cs typeface="Hiragino Sans GB"/>
              </a:rPr>
              <a:t>最终输出路径</a:t>
            </a:r>
          </a:p>
        </p:txBody>
      </p:sp>
      <p:sp>
        <p:nvSpPr>
          <p:cNvPr id="8" name="">
            <a:extLst xmlns:a="http://schemas.openxmlformats.org/drawingml/2006/main">
              <a:ext uri="{FF2B5EF4-FFF2-40B4-BE49-F238E27FC236}">
                <a16:creationId xmlns:a16="http://schemas.microsoft.com/office/drawing/2014/main" id="{40093035-83D4-4BDF-AAF5-6793528D4D17}"/>
              </a:ext>
            </a:extLst>
          </p:cNvPr>
          <p:cNvSpPr>
            <a:spLocks xmlns:a="http://schemas.openxmlformats.org/drawingml/2006/main" noGrp="1"/>
          </p:cNvSpPr>
          <p:nvPr/>
        </p:nvSpPr>
        <p:spPr>
          <a:xfrm xmlns:a="http://schemas.openxmlformats.org/drawingml/2006/main">
            <a:off x="685800" y="4781550"/>
            <a:ext cx="1952625" cy="762000"/>
          </a:xfrm>
          <a:prstGeom xmlns:a="http://schemas.openxmlformats.org/drawingml/2006/main" prst="roundRect">
            <a:avLst>
              <a:gd name="adj" fmla="val 15000"/>
            </a:avLst>
          </a:prstGeom>
          <a:solidFill xmlns:a="http://schemas.openxmlformats.org/drawingml/2006/main">
            <a:srgbClr val="DCEAFF"/>
          </a:solidFill>
          <a:ln xmlns:a="http://schemas.openxmlformats.org/drawingml/2006/main" w="11430">
            <a:solidFill>
              <a:srgbClr val="1F5FBF"/>
            </a:solidFill>
            <a:prstDash val="solid"/>
          </a:ln>
        </p:spPr>
      </p:sp>
      <p:sp>
        <p:nvSpPr>
          <p:cNvPr id="9" name="">
            <a:extLst xmlns:a="http://schemas.openxmlformats.org/drawingml/2006/main">
              <a:ext uri="{FF2B5EF4-FFF2-40B4-BE49-F238E27FC236}">
                <a16:creationId xmlns:a16="http://schemas.microsoft.com/office/drawing/2014/main" id="{3C99C9F1-8BBD-406A-8E3C-F412E6B0EF52}"/>
              </a:ext>
            </a:extLst>
          </p:cNvPr>
          <p:cNvSpPr>
            <a:spLocks xmlns:a="http://schemas.openxmlformats.org/drawingml/2006/main" noGrp="1"/>
          </p:cNvSpPr>
          <p:nvPr/>
        </p:nvSpPr>
        <p:spPr>
          <a:xfrm xmlns:a="http://schemas.openxmlformats.org/drawingml/2006/main">
            <a:off x="819150" y="488632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1F5FBF"/>
                </a:solidFill>
                <a:latin typeface="Hiragino Sans GB"/>
                <a:ea typeface="Hiragino Sans GB"/>
                <a:cs typeface="Hiragino Sans GB"/>
              </a:defRPr>
            </a:pPr>
            <a:r>
              <a:rPr sz="975" b="1">
                <a:solidFill>
                  <a:srgbClr val="1F5FBF"/>
                </a:solidFill>
                <a:latin typeface="Hiragino Sans GB"/>
                <a:ea typeface="Hiragino Sans GB"/>
                <a:cs typeface="Hiragino Sans GB"/>
              </a:rPr>
              <a:t>原因</a:t>
            </a:r>
          </a:p>
        </p:txBody>
      </p:sp>
      <p:sp>
        <p:nvSpPr>
          <p:cNvPr id="10" name="">
            <a:extLst xmlns:a="http://schemas.openxmlformats.org/drawingml/2006/main">
              <a:ext uri="{FF2B5EF4-FFF2-40B4-BE49-F238E27FC236}">
                <a16:creationId xmlns:a16="http://schemas.microsoft.com/office/drawing/2014/main" id="{71A7B3FC-5449-4620-AE70-89E9767973EF}"/>
              </a:ext>
            </a:extLst>
          </p:cNvPr>
          <p:cNvSpPr>
            <a:spLocks xmlns:a="http://schemas.openxmlformats.org/drawingml/2006/main" noGrp="1"/>
          </p:cNvSpPr>
          <p:nvPr/>
        </p:nvSpPr>
        <p:spPr>
          <a:xfrm xmlns:a="http://schemas.openxmlformats.org/drawingml/2006/main">
            <a:off x="819150" y="5143500"/>
            <a:ext cx="1685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a:t>
            </a:r>
          </a:p>
        </p:txBody>
      </p:sp>
      <p:sp>
        <p:nvSpPr>
          <p:cNvPr id="11" name="">
            <a:extLst xmlns:a="http://schemas.openxmlformats.org/drawingml/2006/main">
              <a:ext uri="{FF2B5EF4-FFF2-40B4-BE49-F238E27FC236}">
                <a16:creationId xmlns:a16="http://schemas.microsoft.com/office/drawing/2014/main" id="{D40CBB51-0E23-468E-A891-60F7D972B605}"/>
              </a:ext>
            </a:extLst>
          </p:cNvPr>
          <p:cNvSpPr>
            <a:spLocks xmlns:a="http://schemas.openxmlformats.org/drawingml/2006/main" noGrp="1"/>
          </p:cNvSpPr>
          <p:nvPr/>
        </p:nvSpPr>
        <p:spPr>
          <a:xfrm xmlns:a="http://schemas.openxmlformats.org/drawingml/2006/main">
            <a:off x="2867025" y="4781550"/>
            <a:ext cx="1952625" cy="762000"/>
          </a:xfrm>
          <a:prstGeom xmlns:a="http://schemas.openxmlformats.org/drawingml/2006/main" prst="roundRect">
            <a:avLst>
              <a:gd name="adj" fmla="val 15000"/>
            </a:avLst>
          </a:prstGeom>
          <a:solidFill xmlns:a="http://schemas.openxmlformats.org/drawingml/2006/main">
            <a:srgbClr val="EAF8F3"/>
          </a:solidFill>
          <a:ln xmlns:a="http://schemas.openxmlformats.org/drawingml/2006/main" w="11430">
            <a:solidFill>
              <a:srgbClr val="168B6B"/>
            </a:solidFill>
            <a:prstDash val="solid"/>
          </a:ln>
        </p:spPr>
      </p:sp>
      <p:sp>
        <p:nvSpPr>
          <p:cNvPr id="12" name="">
            <a:extLst xmlns:a="http://schemas.openxmlformats.org/drawingml/2006/main">
              <a:ext uri="{FF2B5EF4-FFF2-40B4-BE49-F238E27FC236}">
                <a16:creationId xmlns:a16="http://schemas.microsoft.com/office/drawing/2014/main" id="{3302E4C1-47D5-4B15-AE27-9091EC57D231}"/>
              </a:ext>
            </a:extLst>
          </p:cNvPr>
          <p:cNvSpPr>
            <a:spLocks xmlns:a="http://schemas.openxmlformats.org/drawingml/2006/main" noGrp="1"/>
          </p:cNvSpPr>
          <p:nvPr/>
        </p:nvSpPr>
        <p:spPr>
          <a:xfrm xmlns:a="http://schemas.openxmlformats.org/drawingml/2006/main">
            <a:off x="3000375" y="488632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168B6B"/>
                </a:solidFill>
                <a:latin typeface="Hiragino Sans GB"/>
                <a:ea typeface="Hiragino Sans GB"/>
                <a:cs typeface="Hiragino Sans GB"/>
              </a:defRPr>
            </a:pPr>
            <a:r>
              <a:rPr sz="975" b="1">
                <a:solidFill>
                  <a:srgbClr val="168B6B"/>
                </a:solidFill>
                <a:latin typeface="Hiragino Sans GB"/>
                <a:ea typeface="Hiragino Sans GB"/>
                <a:cs typeface="Hiragino Sans GB"/>
              </a:rPr>
              <a:t>检查</a:t>
            </a:r>
          </a:p>
        </p:txBody>
      </p:sp>
      <p:sp>
        <p:nvSpPr>
          <p:cNvPr id="13" name="">
            <a:extLst xmlns:a="http://schemas.openxmlformats.org/drawingml/2006/main">
              <a:ext uri="{FF2B5EF4-FFF2-40B4-BE49-F238E27FC236}">
                <a16:creationId xmlns:a16="http://schemas.microsoft.com/office/drawing/2014/main" id="{1814C805-792E-43F1-AB35-F540660B6BAC}"/>
              </a:ext>
            </a:extLst>
          </p:cNvPr>
          <p:cNvSpPr>
            <a:spLocks xmlns:a="http://schemas.openxmlformats.org/drawingml/2006/main" noGrp="1"/>
          </p:cNvSpPr>
          <p:nvPr/>
        </p:nvSpPr>
        <p:spPr>
          <a:xfrm xmlns:a="http://schemas.openxmlformats.org/drawingml/2006/main">
            <a:off x="3000375" y="5143500"/>
            <a:ext cx="1685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从容器访问 /api/tags</a:t>
            </a:r>
          </a:p>
        </p:txBody>
      </p:sp>
      <p:sp>
        <p:nvSpPr>
          <p:cNvPr id="14" name="">
            <a:extLst xmlns:a="http://schemas.openxmlformats.org/drawingml/2006/main">
              <a:ext uri="{FF2B5EF4-FFF2-40B4-BE49-F238E27FC236}">
                <a16:creationId xmlns:a16="http://schemas.microsoft.com/office/drawing/2014/main" id="{DF7DC8F7-0BC2-4E92-A2B5-05C73A1FF904}"/>
              </a:ext>
            </a:extLst>
          </p:cNvPr>
          <p:cNvSpPr>
            <a:spLocks xmlns:a="http://schemas.openxmlformats.org/drawingml/2006/main" noGrp="1"/>
          </p:cNvSpPr>
          <p:nvPr/>
        </p:nvSpPr>
        <p:spPr>
          <a:xfrm xmlns:a="http://schemas.openxmlformats.org/drawingml/2006/main">
            <a:off x="5048250" y="4781550"/>
            <a:ext cx="1952625" cy="762000"/>
          </a:xfrm>
          <a:prstGeom xmlns:a="http://schemas.openxmlformats.org/drawingml/2006/main" prst="roundRect">
            <a:avLst>
              <a:gd name="adj" fmla="val 15000"/>
            </a:avLst>
          </a:prstGeom>
          <a:solidFill xmlns:a="http://schemas.openxmlformats.org/drawingml/2006/main">
            <a:srgbClr val="EEF5FF"/>
          </a:solidFill>
          <a:ln xmlns:a="http://schemas.openxmlformats.org/drawingml/2006/main" w="11430">
            <a:solidFill>
              <a:srgbClr val="1F5FBF"/>
            </a:solidFill>
            <a:prstDash val="solid"/>
          </a:ln>
        </p:spPr>
      </p:sp>
      <p:sp>
        <p:nvSpPr>
          <p:cNvPr id="15" name="">
            <a:extLst xmlns:a="http://schemas.openxmlformats.org/drawingml/2006/main">
              <a:ext uri="{FF2B5EF4-FFF2-40B4-BE49-F238E27FC236}">
                <a16:creationId xmlns:a16="http://schemas.microsoft.com/office/drawing/2014/main" id="{C4968D4E-3B9A-4D33-B6BF-B0D33837365B}"/>
              </a:ext>
            </a:extLst>
          </p:cNvPr>
          <p:cNvSpPr>
            <a:spLocks xmlns:a="http://schemas.openxmlformats.org/drawingml/2006/main" noGrp="1"/>
          </p:cNvSpPr>
          <p:nvPr/>
        </p:nvSpPr>
        <p:spPr>
          <a:xfrm xmlns:a="http://schemas.openxmlformats.org/drawingml/2006/main">
            <a:off x="5181600" y="488632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1F5FBF"/>
                </a:solidFill>
                <a:latin typeface="Hiragino Sans GB"/>
                <a:ea typeface="Hiragino Sans GB"/>
                <a:cs typeface="Hiragino Sans GB"/>
              </a:defRPr>
            </a:pPr>
            <a:r>
              <a:rPr sz="975" b="1">
                <a:solidFill>
                  <a:srgbClr val="1F5FBF"/>
                </a:solidFill>
                <a:latin typeface="Hiragino Sans GB"/>
                <a:ea typeface="Hiragino Sans GB"/>
                <a:cs typeface="Hiragino Sans GB"/>
              </a:rPr>
              <a:t>修复</a:t>
            </a:r>
          </a:p>
        </p:txBody>
      </p:sp>
      <p:sp>
        <p:nvSpPr>
          <p:cNvPr id="16" name="">
            <a:extLst xmlns:a="http://schemas.openxmlformats.org/drawingml/2006/main">
              <a:ext uri="{FF2B5EF4-FFF2-40B4-BE49-F238E27FC236}">
                <a16:creationId xmlns:a16="http://schemas.microsoft.com/office/drawing/2014/main" id="{B00BA88B-3189-40B0-8D9B-79E9FE7FFFA2}"/>
              </a:ext>
            </a:extLst>
          </p:cNvPr>
          <p:cNvSpPr>
            <a:spLocks xmlns:a="http://schemas.openxmlformats.org/drawingml/2006/main" noGrp="1"/>
          </p:cNvSpPr>
          <p:nvPr/>
        </p:nvSpPr>
        <p:spPr>
          <a:xfrm xmlns:a="http://schemas.openxmlformats.org/drawingml/2006/main">
            <a:off x="5181600" y="5143500"/>
            <a:ext cx="1685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68"/>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配置 OLLAMA_BASE_URL</a:t>
            </a:r>
          </a:p>
        </p:txBody>
      </p:sp>
      <p:sp>
        <p:nvSpPr>
          <p:cNvPr id="17" name="">
            <a:extLst xmlns:a="http://schemas.openxmlformats.org/drawingml/2006/main">
              <a:ext uri="{FF2B5EF4-FFF2-40B4-BE49-F238E27FC236}">
                <a16:creationId xmlns:a16="http://schemas.microsoft.com/office/drawing/2014/main" id="{A343ABEA-E01A-474C-8362-85609EEE581C}"/>
              </a:ext>
            </a:extLst>
          </p:cNvPr>
          <p:cNvSpPr>
            <a:spLocks xmlns:a="http://schemas.openxmlformats.org/drawingml/2006/main" noGrp="1"/>
          </p:cNvSpPr>
          <p:nvPr/>
        </p:nvSpPr>
        <p:spPr>
          <a:xfrm xmlns:a="http://schemas.openxmlformats.org/drawingml/2006/main">
            <a:off x="7229475" y="4781550"/>
            <a:ext cx="1952625" cy="762000"/>
          </a:xfrm>
          <a:prstGeom xmlns:a="http://schemas.openxmlformats.org/drawingml/2006/main" prst="roundRect">
            <a:avLst>
              <a:gd name="adj" fmla="val 15000"/>
            </a:avLst>
          </a:prstGeom>
          <a:solidFill xmlns:a="http://schemas.openxmlformats.org/drawingml/2006/main">
            <a:srgbClr val="FFF0F0"/>
          </a:solidFill>
          <a:ln xmlns:a="http://schemas.openxmlformats.org/drawingml/2006/main" w="11430">
            <a:solidFill>
              <a:srgbClr val="E34A4A"/>
            </a:solidFill>
            <a:prstDash val="solid"/>
          </a:ln>
        </p:spPr>
      </p:sp>
      <p:sp>
        <p:nvSpPr>
          <p:cNvPr id="18" name="">
            <a:extLst xmlns:a="http://schemas.openxmlformats.org/drawingml/2006/main">
              <a:ext uri="{FF2B5EF4-FFF2-40B4-BE49-F238E27FC236}">
                <a16:creationId xmlns:a16="http://schemas.microsoft.com/office/drawing/2014/main" id="{55370481-5AEB-4578-8878-702A43868FBA}"/>
              </a:ext>
            </a:extLst>
          </p:cNvPr>
          <p:cNvSpPr>
            <a:spLocks xmlns:a="http://schemas.openxmlformats.org/drawingml/2006/main" noGrp="1"/>
          </p:cNvSpPr>
          <p:nvPr/>
        </p:nvSpPr>
        <p:spPr>
          <a:xfrm xmlns:a="http://schemas.openxmlformats.org/drawingml/2006/main">
            <a:off x="7362825" y="488632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E34A4A"/>
                </a:solidFill>
                <a:latin typeface="Hiragino Sans GB"/>
                <a:ea typeface="Hiragino Sans GB"/>
                <a:cs typeface="Hiragino Sans GB"/>
              </a:defRPr>
            </a:pPr>
            <a:r>
              <a:rPr sz="975" b="1">
                <a:solidFill>
                  <a:srgbClr val="E34A4A"/>
                </a:solidFill>
                <a:latin typeface="Hiragino Sans GB"/>
                <a:ea typeface="Hiragino Sans GB"/>
                <a:cs typeface="Hiragino Sans GB"/>
              </a:rPr>
              <a:t>风险</a:t>
            </a:r>
          </a:p>
        </p:txBody>
      </p:sp>
      <p:sp>
        <p:nvSpPr>
          <p:cNvPr id="19" name="">
            <a:extLst xmlns:a="http://schemas.openxmlformats.org/drawingml/2006/main">
              <a:ext uri="{FF2B5EF4-FFF2-40B4-BE49-F238E27FC236}">
                <a16:creationId xmlns:a16="http://schemas.microsoft.com/office/drawing/2014/main" id="{7912B496-4C47-4042-8371-60B83BDE4436}"/>
              </a:ext>
            </a:extLst>
          </p:cNvPr>
          <p:cNvSpPr>
            <a:spLocks xmlns:a="http://schemas.openxmlformats.org/drawingml/2006/main" noGrp="1"/>
          </p:cNvSpPr>
          <p:nvPr/>
        </p:nvSpPr>
        <p:spPr>
          <a:xfrm xmlns:a="http://schemas.openxmlformats.org/drawingml/2006/main">
            <a:off x="7362825" y="5143500"/>
            <a:ext cx="1685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修改前保留原值</a:t>
            </a:r>
          </a:p>
        </p:txBody>
      </p:sp>
      <p:sp>
        <p:nvSpPr>
          <p:cNvPr id="20" name="">
            <a:extLst xmlns:a="http://schemas.openxmlformats.org/drawingml/2006/main">
              <a:ext uri="{FF2B5EF4-FFF2-40B4-BE49-F238E27FC236}">
                <a16:creationId xmlns:a16="http://schemas.microsoft.com/office/drawing/2014/main" id="{EBBAA4DE-3495-4E68-A11C-BF62297887D1}"/>
              </a:ext>
            </a:extLst>
          </p:cNvPr>
          <p:cNvSpPr>
            <a:spLocks xmlns:a="http://schemas.openxmlformats.org/drawingml/2006/main" noGrp="1"/>
          </p:cNvSpPr>
          <p:nvPr/>
        </p:nvSpPr>
        <p:spPr>
          <a:xfrm xmlns:a="http://schemas.openxmlformats.org/drawingml/2006/main">
            <a:off x="9410700" y="4781550"/>
            <a:ext cx="1952625" cy="762000"/>
          </a:xfrm>
          <a:prstGeom xmlns:a="http://schemas.openxmlformats.org/drawingml/2006/main" prst="roundRect">
            <a:avLst>
              <a:gd name="adj" fmla="val 15000"/>
            </a:avLst>
          </a:prstGeom>
          <a:solidFill xmlns:a="http://schemas.openxmlformats.org/drawingml/2006/main">
            <a:srgbClr val="F4F7FA"/>
          </a:solidFill>
          <a:ln xmlns:a="http://schemas.openxmlformats.org/drawingml/2006/main" w="11430">
            <a:solidFill>
              <a:srgbClr val="5B6B78"/>
            </a:solidFill>
            <a:prstDash val="solid"/>
          </a:ln>
        </p:spPr>
      </p:sp>
      <p:sp>
        <p:nvSpPr>
          <p:cNvPr id="21" name="">
            <a:extLst xmlns:a="http://schemas.openxmlformats.org/drawingml/2006/main">
              <a:ext uri="{FF2B5EF4-FFF2-40B4-BE49-F238E27FC236}">
                <a16:creationId xmlns:a16="http://schemas.microsoft.com/office/drawing/2014/main" id="{AE06702A-150B-49D0-89EE-8D1ED6C20515}"/>
              </a:ext>
            </a:extLst>
          </p:cNvPr>
          <p:cNvSpPr>
            <a:spLocks xmlns:a="http://schemas.openxmlformats.org/drawingml/2006/main" noGrp="1"/>
          </p:cNvSpPr>
          <p:nvPr/>
        </p:nvSpPr>
        <p:spPr>
          <a:xfrm xmlns:a="http://schemas.openxmlformats.org/drawingml/2006/main">
            <a:off x="9544050" y="488632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来源</a:t>
            </a:r>
          </a:p>
        </p:txBody>
      </p:sp>
      <p:sp>
        <p:nvSpPr>
          <p:cNvPr id="22" name="">
            <a:extLst xmlns:a="http://schemas.openxmlformats.org/drawingml/2006/main">
              <a:ext uri="{FF2B5EF4-FFF2-40B4-BE49-F238E27FC236}">
                <a16:creationId xmlns:a16="http://schemas.microsoft.com/office/drawing/2014/main" id="{42075D71-41D4-4557-84A1-1083FA7F6162}"/>
              </a:ext>
            </a:extLst>
          </p:cNvPr>
          <p:cNvSpPr>
            <a:spLocks xmlns:a="http://schemas.openxmlformats.org/drawingml/2006/main" noGrp="1"/>
          </p:cNvSpPr>
          <p:nvPr/>
        </p:nvSpPr>
        <p:spPr>
          <a:xfrm xmlns:a="http://schemas.openxmlformats.org/drawingml/2006/main">
            <a:off x="9544050" y="5143500"/>
            <a:ext cx="1685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三类官方文档</a:t>
            </a:r>
          </a:p>
        </p:txBody>
      </p:sp>
      <p:cxnSp>
        <p:nvCxnSpPr>
          <p:cNvPr id="127" name=""/>
          <p:cNvCxnSpPr>
            <a:stCxn xmlns:a="http://schemas.openxmlformats.org/drawingml/2006/main" id="8" idx="3"/>
            <a:endCxn xmlns:a="http://schemas.openxmlformats.org/drawingml/2006/main" id="11" idx="1"/>
          </p:cNvCxnSpPr>
          <p:nvPr/>
        </p:nvCxnSpPr>
        <p:spPr>
          <a:xfrm xmlns:a="http://schemas.openxmlformats.org/drawingml/2006/main">
            <a:off x="2638425" y="5162550"/>
            <a:ext cx="228600" cy="0"/>
          </a:xfrm>
          <a:prstGeom xmlns:a="http://schemas.openxmlformats.org/drawingml/2006/main" prst="straightConnector1">
            <a:avLst/>
          </a:prstGeom>
          <a:ln xmlns:a="http://schemas.openxmlformats.org/drawingml/2006/main" w="19050">
            <a:solidFill>
              <a:srgbClr val="1F5FBF"/>
            </a:solidFill>
            <a:prstDash val="solid"/>
            <a:tailEnd type="triangle" w="sm" len="sm"/>
          </a:ln>
        </p:spPr>
      </p:cxnSp>
      <p:cxnSp>
        <p:nvCxnSpPr>
          <p:cNvPr id="128" name=""/>
          <p:cNvCxnSpPr>
            <a:stCxn xmlns:a="http://schemas.openxmlformats.org/drawingml/2006/main" id="11" idx="3"/>
            <a:endCxn xmlns:a="http://schemas.openxmlformats.org/drawingml/2006/main" id="14" idx="1"/>
          </p:cNvCxnSpPr>
          <p:nvPr/>
        </p:nvCxnSpPr>
        <p:spPr>
          <a:xfrm xmlns:a="http://schemas.openxmlformats.org/drawingml/2006/main">
            <a:off x="4819650" y="5162550"/>
            <a:ext cx="228600" cy="0"/>
          </a:xfrm>
          <a:prstGeom xmlns:a="http://schemas.openxmlformats.org/drawingml/2006/main" prst="straightConnector1">
            <a:avLst/>
          </a:prstGeom>
          <a:ln xmlns:a="http://schemas.openxmlformats.org/drawingml/2006/main" w="19050">
            <a:solidFill>
              <a:srgbClr val="1F5FBF"/>
            </a:solidFill>
            <a:prstDash val="solid"/>
            <a:tailEnd type="triangle" w="sm" len="sm"/>
          </a:ln>
        </p:spPr>
      </p:cxnSp>
      <p:cxnSp>
        <p:nvCxnSpPr>
          <p:cNvPr id="129" name=""/>
          <p:cNvCxnSpPr>
            <a:stCxn xmlns:a="http://schemas.openxmlformats.org/drawingml/2006/main" id="14" idx="3"/>
            <a:endCxn xmlns:a="http://schemas.openxmlformats.org/drawingml/2006/main" id="17" idx="1"/>
          </p:cNvCxnSpPr>
          <p:nvPr/>
        </p:nvCxnSpPr>
        <p:spPr>
          <a:xfrm xmlns:a="http://schemas.openxmlformats.org/drawingml/2006/main">
            <a:off x="7000875" y="5162550"/>
            <a:ext cx="228600" cy="0"/>
          </a:xfrm>
          <a:prstGeom xmlns:a="http://schemas.openxmlformats.org/drawingml/2006/main" prst="straightConnector1">
            <a:avLst/>
          </a:prstGeom>
          <a:ln xmlns:a="http://schemas.openxmlformats.org/drawingml/2006/main" w="19050">
            <a:solidFill>
              <a:srgbClr val="E34A4A"/>
            </a:solidFill>
            <a:prstDash val="solid"/>
            <a:tailEnd type="triangle" w="sm" len="sm"/>
          </a:ln>
        </p:spPr>
      </p:cxnSp>
      <p:cxnSp>
        <p:nvCxnSpPr>
          <p:cNvPr id="130" name=""/>
          <p:cNvCxnSpPr>
            <a:stCxn xmlns:a="http://schemas.openxmlformats.org/drawingml/2006/main" id="17" idx="3"/>
            <a:endCxn xmlns:a="http://schemas.openxmlformats.org/drawingml/2006/main" id="20" idx="1"/>
          </p:cNvCxnSpPr>
          <p:nvPr/>
        </p:nvCxnSpPr>
        <p:spPr>
          <a:xfrm xmlns:a="http://schemas.openxmlformats.org/drawingml/2006/main">
            <a:off x="9182100" y="5162550"/>
            <a:ext cx="228600" cy="0"/>
          </a:xfrm>
          <a:prstGeom xmlns:a="http://schemas.openxmlformats.org/drawingml/2006/main" prst="straightConnector1">
            <a:avLst/>
          </a:prstGeom>
          <a:ln xmlns:a="http://schemas.openxmlformats.org/drawingml/2006/main" w="19050">
            <a:solidFill>
              <a:srgbClr val="1F5FBF"/>
            </a:solidFill>
            <a:prstDash val="solid"/>
            <a:tailEnd type="triangle" w="sm" len="sm"/>
          </a:ln>
        </p:spPr>
      </p:cxnSp>
      <p:sp>
        <p:nvSpPr>
          <p:cNvPr id="27" name="">
            <a:extLst xmlns:a="http://schemas.openxmlformats.org/drawingml/2006/main">
              <a:ext uri="{FF2B5EF4-FFF2-40B4-BE49-F238E27FC236}">
                <a16:creationId xmlns:a16="http://schemas.microsoft.com/office/drawing/2014/main" id="{DB75F530-C30C-49C1-99A0-06523FB52020}"/>
              </a:ext>
            </a:extLst>
          </p:cNvPr>
          <p:cNvSpPr>
            <a:spLocks xmlns:a="http://schemas.openxmlformats.org/drawingml/2006/main" noGrp="1"/>
          </p:cNvSpPr>
          <p:nvPr/>
        </p:nvSpPr>
        <p:spPr>
          <a:xfrm xmlns:a="http://schemas.openxmlformats.org/drawingml/2006/main">
            <a:off x="685800" y="5791200"/>
            <a:ext cx="10820400" cy="457200"/>
          </a:xfrm>
          <a:prstGeom xmlns:a="http://schemas.openxmlformats.org/drawingml/2006/main" prst="roundRect">
            <a:avLst>
              <a:gd name="adj" fmla="val 25000"/>
            </a:avLst>
          </a:prstGeom>
          <a:solidFill xmlns:a="http://schemas.openxmlformats.org/drawingml/2006/main">
            <a:srgbClr val="142735"/>
          </a:solidFill>
          <a:ln xmlns:a="http://schemas.openxmlformats.org/drawingml/2006/main" w="11430">
            <a:solidFill>
              <a:srgbClr val="142735"/>
            </a:solidFill>
            <a:prstDash val="solid"/>
          </a:ln>
        </p:spPr>
        <p:txBody>
          <a:bodyPr xmlns:a="http://schemas.openxmlformats.org/drawingml/2006/main" lIns="171450" tIns="0" rIns="171450" bIns="0" anchor="ctr">
            <a:normAutofit fontScale="100000"/>
          </a:bodyPr>
          <a:lstStyle xmlns:a="http://schemas.openxmlformats.org/drawingml/2006/main"/>
          <a:p xmlns:a="http://schemas.openxmlformats.org/drawingml/2006/main">
            <a:pPr algn="ctr">
              <a:defRPr sz="1275" b="1">
                <a:solidFill>
                  <a:srgbClr val="FFFFFF"/>
                </a:solidFill>
                <a:latin typeface="Hiragino Sans GB"/>
                <a:ea typeface="Hiragino Sans GB"/>
                <a:cs typeface="Hiragino Sans GB"/>
              </a:defRPr>
            </a:pPr>
            <a:r>
              <a:rPr sz="1275" b="1">
                <a:solidFill>
                  <a:srgbClr val="FFFFFF"/>
                </a:solidFill>
                <a:latin typeface="Hiragino Sans GB"/>
                <a:ea typeface="Hiragino Sans GB"/>
                <a:cs typeface="Hiragino Sans GB"/>
              </a:rPr>
              <a:t>结构化注入通过白名单校验后，才交给大模型整理输出｜9 条有效结构通过，24 条非法结构被拒绝</a:t>
            </a:r>
          </a:p>
        </p:txBody>
      </p:sp>
      <p:sp>
        <p:nvSpPr>
          <p:cNvPr id="28" name="">
            <a:extLst xmlns:a="http://schemas.openxmlformats.org/drawingml/2006/main">
              <a:ext uri="{FF2B5EF4-FFF2-40B4-BE49-F238E27FC236}">
                <a16:creationId xmlns:a16="http://schemas.microsoft.com/office/drawing/2014/main" id="{6E63A3EE-5D8D-4FF4-9CC7-F2465B140FC2}"/>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大模型不重新判断原因，只把已验证的图谱证据组织成自然语言</a:t>
            </a:r>
          </a:p>
        </p:txBody>
      </p:sp>
      <p:sp>
        <p:nvSpPr>
          <p:cNvPr id="29" name="">
            <a:extLst xmlns:a="http://schemas.openxmlformats.org/drawingml/2006/main">
              <a:ext uri="{FF2B5EF4-FFF2-40B4-BE49-F238E27FC236}">
                <a16:creationId xmlns:a16="http://schemas.microsoft.com/office/drawing/2014/main" id="{21AE2151-AC31-47FE-AB49-EDD5537647B8}"/>
              </a:ext>
            </a:extLst>
          </p:cNvPr>
          <p:cNvSpPr>
            <a:spLocks xmlns:a="http://schemas.openxmlformats.org/drawingml/2006/main" noGrp="1"/>
          </p:cNvSpPr>
          <p:nvPr/>
        </p:nvSpPr>
        <p:spPr>
          <a:xfrm xmlns:a="http://schemas.openxmlformats.org/drawingml/2006/main">
            <a:off x="552450" y="1381125"/>
            <a:ext cx="11087100" cy="5381625"/>
          </a:xfrm>
          <a:prstGeom xmlns:a="http://schemas.openxmlformats.org/drawingml/2006/main" prst="roundRect">
            <a:avLst>
              <a:gd name="adj" fmla="val 0"/>
            </a:avLst>
          </a:prstGeom>
          <a:solidFill xmlns:a="http://schemas.openxmlformats.org/drawingml/2006/main">
            <a:srgbClr val="FFFFFF"/>
          </a:solidFill>
          <a:ln xmlns:a="http://schemas.openxmlformats.org/drawingml/2006/main" w="11430">
            <a:solidFill>
              <a:srgbClr val="FFFFFF"/>
            </a:solidFill>
            <a:prstDash val="solid"/>
          </a:ln>
        </p:spPr>
      </p:sp>
      <p:sp>
        <p:nvSpPr>
          <p:cNvPr id="30" name="">
            <a:extLst xmlns:a="http://schemas.openxmlformats.org/drawingml/2006/main">
              <a:ext uri="{FF2B5EF4-FFF2-40B4-BE49-F238E27FC236}">
                <a16:creationId xmlns:a16="http://schemas.microsoft.com/office/drawing/2014/main" id="{C62E1CC8-AE0A-4257-9D07-9C282D40A413}"/>
              </a:ext>
            </a:extLst>
          </p:cNvPr>
          <p:cNvSpPr>
            <a:spLocks xmlns:a="http://schemas.openxmlformats.org/drawingml/2006/main" noGrp="1"/>
          </p:cNvSpPr>
          <p:nvPr/>
        </p:nvSpPr>
        <p:spPr>
          <a:xfrm xmlns:a="http://schemas.openxmlformats.org/drawingml/2006/main">
            <a:off x="685800" y="1466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68B6B"/>
                </a:solidFill>
                <a:latin typeface="Hiragino Sans GB"/>
                <a:ea typeface="Hiragino Sans GB"/>
                <a:cs typeface="Hiragino Sans GB"/>
              </a:defRPr>
            </a:pPr>
            <a:r>
              <a:rPr sz="1500" b="1">
                <a:solidFill>
                  <a:srgbClr val="168B6B"/>
                </a:solidFill>
                <a:latin typeface="Hiragino Sans GB"/>
                <a:ea typeface="Hiragino Sans GB"/>
                <a:cs typeface="Hiragino Sans GB"/>
              </a:rPr>
              <a:t>第 2 轮：满足停止条件，展开执行路径</a:t>
            </a:r>
          </a:p>
        </p:txBody>
      </p:sp>
      <p:sp>
        <p:nvSpPr>
          <p:cNvPr id="31" name="">
            <a:extLst xmlns:a="http://schemas.openxmlformats.org/drawingml/2006/main">
              <a:ext uri="{FF2B5EF4-FFF2-40B4-BE49-F238E27FC236}">
                <a16:creationId xmlns:a16="http://schemas.microsoft.com/office/drawing/2014/main" id="{C4FB47EC-3B95-4BBE-9FF0-F56ED2D46161}"/>
              </a:ext>
            </a:extLst>
          </p:cNvPr>
          <p:cNvSpPr>
            <a:spLocks xmlns:a="http://schemas.openxmlformats.org/drawingml/2006/main" noGrp="1"/>
          </p:cNvSpPr>
          <p:nvPr/>
        </p:nvSpPr>
        <p:spPr>
          <a:xfrm xmlns:a="http://schemas.openxmlformats.org/drawingml/2006/main">
            <a:off x="685800" y="1962150"/>
            <a:ext cx="3867150" cy="3943350"/>
          </a:xfrm>
          <a:prstGeom xmlns:a="http://schemas.openxmlformats.org/drawingml/2006/main" prst="roundRect">
            <a:avLst>
              <a:gd name="adj" fmla="val 3448"/>
            </a:avLst>
          </a:prstGeom>
          <a:solidFill xmlns:a="http://schemas.openxmlformats.org/drawingml/2006/main">
            <a:srgbClr val="F4F7FA"/>
          </a:solidFill>
          <a:ln xmlns:a="http://schemas.openxmlformats.org/drawingml/2006/main" w="11430">
            <a:solidFill>
              <a:srgbClr val="D8E0E7"/>
            </a:solidFill>
            <a:prstDash val="solid"/>
          </a:ln>
        </p:spPr>
      </p:sp>
      <p:sp>
        <p:nvSpPr>
          <p:cNvPr id="32" name="">
            <a:extLst xmlns:a="http://schemas.openxmlformats.org/drawingml/2006/main">
              <a:ext uri="{FF2B5EF4-FFF2-40B4-BE49-F238E27FC236}">
                <a16:creationId xmlns:a16="http://schemas.microsoft.com/office/drawing/2014/main" id="{A9670000-5218-41E6-AC65-3B85CAD9EA56}"/>
              </a:ext>
            </a:extLst>
          </p:cNvPr>
          <p:cNvSpPr>
            <a:spLocks xmlns:a="http://schemas.openxmlformats.org/drawingml/2006/main" noGrp="1"/>
          </p:cNvSpPr>
          <p:nvPr/>
        </p:nvSpPr>
        <p:spPr>
          <a:xfrm xmlns:a="http://schemas.openxmlformats.org/drawingml/2006/main">
            <a:off x="895350" y="21336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候选原因概率</a:t>
            </a:r>
          </a:p>
        </p:txBody>
      </p:sp>
      <p:sp>
        <p:nvSpPr>
          <p:cNvPr id="33" name="">
            <a:extLst xmlns:a="http://schemas.openxmlformats.org/drawingml/2006/main">
              <a:ext uri="{FF2B5EF4-FFF2-40B4-BE49-F238E27FC236}">
                <a16:creationId xmlns:a16="http://schemas.microsoft.com/office/drawing/2014/main" id="{687939A6-4B34-4DEC-8D98-6A8D41E0A123}"/>
              </a:ext>
            </a:extLst>
          </p:cNvPr>
          <p:cNvSpPr>
            <a:spLocks xmlns:a="http://schemas.openxmlformats.org/drawingml/2006/main" noGrp="1"/>
          </p:cNvSpPr>
          <p:nvPr/>
        </p:nvSpPr>
        <p:spPr>
          <a:xfrm xmlns:a="http://schemas.openxmlformats.org/drawingml/2006/main">
            <a:off x="3276600" y="2114550"/>
            <a:ext cx="10287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已停止</a:t>
            </a:r>
          </a:p>
        </p:txBody>
      </p:sp>
      <p:sp>
        <p:nvSpPr>
          <p:cNvPr id="34" name="">
            <a:extLst xmlns:a="http://schemas.openxmlformats.org/drawingml/2006/main">
              <a:ext uri="{FF2B5EF4-FFF2-40B4-BE49-F238E27FC236}">
                <a16:creationId xmlns:a16="http://schemas.microsoft.com/office/drawing/2014/main" id="{F5C91700-F002-45E3-8395-11423EA650DD}"/>
              </a:ext>
            </a:extLst>
          </p:cNvPr>
          <p:cNvSpPr>
            <a:spLocks xmlns:a="http://schemas.openxmlformats.org/drawingml/2006/main" noGrp="1"/>
          </p:cNvSpPr>
          <p:nvPr/>
        </p:nvSpPr>
        <p:spPr>
          <a:xfrm xmlns:a="http://schemas.openxmlformats.org/drawingml/2006/main">
            <a:off x="895350" y="247650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本轮回答：否（环境变量存在）</a:t>
            </a:r>
          </a:p>
        </p:txBody>
      </p:sp>
      <p:sp>
        <p:nvSpPr>
          <p:cNvPr id="35" name="">
            <a:extLst xmlns:a="http://schemas.openxmlformats.org/drawingml/2006/main">
              <a:ext uri="{FF2B5EF4-FFF2-40B4-BE49-F238E27FC236}">
                <a16:creationId xmlns:a16="http://schemas.microsoft.com/office/drawing/2014/main" id="{E2D7F68C-D9AF-4742-AF6D-6D364393B641}"/>
              </a:ext>
            </a:extLst>
          </p:cNvPr>
          <p:cNvSpPr>
            <a:spLocks xmlns:a="http://schemas.openxmlformats.org/drawingml/2006/main" noGrp="1"/>
          </p:cNvSpPr>
          <p:nvPr/>
        </p:nvSpPr>
        <p:spPr>
          <a:xfrm xmlns:a="http://schemas.openxmlformats.org/drawingml/2006/main">
            <a:off x="895350" y="28765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a:t>
            </a:r>
          </a:p>
        </p:txBody>
      </p:sp>
      <p:sp>
        <p:nvSpPr>
          <p:cNvPr id="36" name="">
            <a:extLst xmlns:a="http://schemas.openxmlformats.org/drawingml/2006/main">
              <a:ext uri="{FF2B5EF4-FFF2-40B4-BE49-F238E27FC236}">
                <a16:creationId xmlns:a16="http://schemas.microsoft.com/office/drawing/2014/main" id="{E7864E62-4677-4DE3-8BF1-147A945A6A05}"/>
              </a:ext>
            </a:extLst>
          </p:cNvPr>
          <p:cNvSpPr>
            <a:spLocks xmlns:a="http://schemas.openxmlformats.org/drawingml/2006/main" noGrp="1"/>
          </p:cNvSpPr>
          <p:nvPr/>
        </p:nvSpPr>
        <p:spPr>
          <a:xfrm xmlns:a="http://schemas.openxmlformats.org/drawingml/2006/main">
            <a:off x="895350" y="31242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37" name="">
            <a:extLst xmlns:a="http://schemas.openxmlformats.org/drawingml/2006/main">
              <a:ext uri="{FF2B5EF4-FFF2-40B4-BE49-F238E27FC236}">
                <a16:creationId xmlns:a16="http://schemas.microsoft.com/office/drawing/2014/main" id="{6C2C8E85-9013-4433-8F21-6E3769FE7289}"/>
              </a:ext>
            </a:extLst>
          </p:cNvPr>
          <p:cNvSpPr>
            <a:spLocks xmlns:a="http://schemas.openxmlformats.org/drawingml/2006/main" noGrp="1"/>
          </p:cNvSpPr>
          <p:nvPr/>
        </p:nvSpPr>
        <p:spPr>
          <a:xfrm xmlns:a="http://schemas.openxmlformats.org/drawingml/2006/main">
            <a:off x="895350" y="3124200"/>
            <a:ext cx="2565864" cy="114300"/>
          </a:xfrm>
          <a:prstGeom xmlns:a="http://schemas.openxmlformats.org/drawingml/2006/main" prst="roundRect">
            <a:avLst>
              <a:gd name="adj" fmla="val 50000"/>
            </a:avLst>
          </a:prstGeom>
          <a:solidFill xmlns:a="http://schemas.openxmlformats.org/drawingml/2006/main">
            <a:srgbClr val="1F5FBF"/>
          </a:solidFill>
          <a:ln xmlns:a="http://schemas.openxmlformats.org/drawingml/2006/main" w="11430">
            <a:solidFill>
              <a:srgbClr val="1F5FBF"/>
            </a:solidFill>
            <a:prstDash val="solid"/>
          </a:ln>
        </p:spPr>
      </p:sp>
      <p:sp>
        <p:nvSpPr>
          <p:cNvPr id="38" name="">
            <a:extLst xmlns:a="http://schemas.openxmlformats.org/drawingml/2006/main">
              <a:ext uri="{FF2B5EF4-FFF2-40B4-BE49-F238E27FC236}">
                <a16:creationId xmlns:a16="http://schemas.microsoft.com/office/drawing/2014/main" id="{8815CEA3-EE20-4135-96E7-986690278C62}"/>
              </a:ext>
            </a:extLst>
          </p:cNvPr>
          <p:cNvSpPr>
            <a:spLocks xmlns:a="http://schemas.openxmlformats.org/drawingml/2006/main" noGrp="1"/>
          </p:cNvSpPr>
          <p:nvPr/>
        </p:nvSpPr>
        <p:spPr>
          <a:xfrm xmlns:a="http://schemas.openxmlformats.org/drawingml/2006/main">
            <a:off x="3600450" y="30384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1F5FBF"/>
                </a:solidFill>
                <a:latin typeface="Hiragino Sans GB"/>
                <a:ea typeface="Hiragino Sans GB"/>
                <a:cs typeface="Hiragino Sans GB"/>
              </a:defRPr>
            </a:pPr>
            <a:r>
              <a:rPr sz="1125" b="1">
                <a:solidFill>
                  <a:srgbClr val="1F5FBF"/>
                </a:solidFill>
                <a:latin typeface="Hiragino Sans GB"/>
                <a:ea typeface="Hiragino Sans GB"/>
                <a:cs typeface="Hiragino Sans GB"/>
              </a:rPr>
              <a:t>96.9%</a:t>
            </a:r>
          </a:p>
        </p:txBody>
      </p:sp>
      <p:sp>
        <p:nvSpPr>
          <p:cNvPr id="39" name="">
            <a:extLst xmlns:a="http://schemas.openxmlformats.org/drawingml/2006/main">
              <a:ext uri="{FF2B5EF4-FFF2-40B4-BE49-F238E27FC236}">
                <a16:creationId xmlns:a16="http://schemas.microsoft.com/office/drawing/2014/main" id="{E99B89E1-C667-46A8-83E5-A46E8A8BF589}"/>
              </a:ext>
            </a:extLst>
          </p:cNvPr>
          <p:cNvSpPr>
            <a:spLocks xmlns:a="http://schemas.openxmlformats.org/drawingml/2006/main" noGrp="1"/>
          </p:cNvSpPr>
          <p:nvPr/>
        </p:nvSpPr>
        <p:spPr>
          <a:xfrm xmlns:a="http://schemas.openxmlformats.org/drawingml/2006/main">
            <a:off x="895350" y="33718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端口被其他进程占用</a:t>
            </a:r>
          </a:p>
        </p:txBody>
      </p:sp>
      <p:sp>
        <p:nvSpPr>
          <p:cNvPr id="40" name="">
            <a:extLst xmlns:a="http://schemas.openxmlformats.org/drawingml/2006/main">
              <a:ext uri="{FF2B5EF4-FFF2-40B4-BE49-F238E27FC236}">
                <a16:creationId xmlns:a16="http://schemas.microsoft.com/office/drawing/2014/main" id="{01ED5E16-1E15-47CB-BB48-8709AD7F8236}"/>
              </a:ext>
            </a:extLst>
          </p:cNvPr>
          <p:cNvSpPr>
            <a:spLocks xmlns:a="http://schemas.openxmlformats.org/drawingml/2006/main" noGrp="1"/>
          </p:cNvSpPr>
          <p:nvPr/>
        </p:nvSpPr>
        <p:spPr>
          <a:xfrm xmlns:a="http://schemas.openxmlformats.org/drawingml/2006/main">
            <a:off x="895350" y="36195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41" name="">
            <a:extLst xmlns:a="http://schemas.openxmlformats.org/drawingml/2006/main">
              <a:ext uri="{FF2B5EF4-FFF2-40B4-BE49-F238E27FC236}">
                <a16:creationId xmlns:a16="http://schemas.microsoft.com/office/drawing/2014/main" id="{5C8837A0-4154-4457-B297-CAFD13AB1D99}"/>
              </a:ext>
            </a:extLst>
          </p:cNvPr>
          <p:cNvSpPr>
            <a:spLocks xmlns:a="http://schemas.openxmlformats.org/drawingml/2006/main" noGrp="1"/>
          </p:cNvSpPr>
          <p:nvPr/>
        </p:nvSpPr>
        <p:spPr>
          <a:xfrm xmlns:a="http://schemas.openxmlformats.org/drawingml/2006/main">
            <a:off x="895350" y="3619500"/>
            <a:ext cx="47625" cy="114300"/>
          </a:xfrm>
          <a:prstGeom xmlns:a="http://schemas.openxmlformats.org/drawingml/2006/main" prst="roundRect">
            <a:avLst>
              <a:gd name="adj" fmla="val 50000"/>
            </a:avLst>
          </a:prstGeom>
          <a:solidFill xmlns:a="http://schemas.openxmlformats.org/drawingml/2006/main">
            <a:srgbClr val="8EA1B7"/>
          </a:solidFill>
          <a:ln xmlns:a="http://schemas.openxmlformats.org/drawingml/2006/main" w="11430">
            <a:solidFill>
              <a:srgbClr val="8EA1B7"/>
            </a:solidFill>
            <a:prstDash val="solid"/>
          </a:ln>
        </p:spPr>
      </p:sp>
      <p:sp>
        <p:nvSpPr>
          <p:cNvPr id="42" name="">
            <a:extLst xmlns:a="http://schemas.openxmlformats.org/drawingml/2006/main">
              <a:ext uri="{FF2B5EF4-FFF2-40B4-BE49-F238E27FC236}">
                <a16:creationId xmlns:a16="http://schemas.microsoft.com/office/drawing/2014/main" id="{9E250F01-4279-42B9-9335-C5DB95B7F1C8}"/>
              </a:ext>
            </a:extLst>
          </p:cNvPr>
          <p:cNvSpPr>
            <a:spLocks xmlns:a="http://schemas.openxmlformats.org/drawingml/2006/main" noGrp="1"/>
          </p:cNvSpPr>
          <p:nvPr/>
        </p:nvSpPr>
        <p:spPr>
          <a:xfrm xmlns:a="http://schemas.openxmlformats.org/drawingml/2006/main">
            <a:off x="3600450" y="3533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8EA1B7"/>
                </a:solidFill>
                <a:latin typeface="Hiragino Sans GB"/>
                <a:ea typeface="Hiragino Sans GB"/>
                <a:cs typeface="Hiragino Sans GB"/>
              </a:defRPr>
            </a:pPr>
            <a:r>
              <a:rPr sz="1125" b="1">
                <a:solidFill>
                  <a:srgbClr val="8EA1B7"/>
                </a:solidFill>
                <a:latin typeface="Hiragino Sans GB"/>
                <a:ea typeface="Hiragino Sans GB"/>
                <a:cs typeface="Hiragino Sans GB"/>
              </a:rPr>
              <a:t>1.6%</a:t>
            </a:r>
          </a:p>
        </p:txBody>
      </p:sp>
      <p:sp>
        <p:nvSpPr>
          <p:cNvPr id="43" name="">
            <a:extLst xmlns:a="http://schemas.openxmlformats.org/drawingml/2006/main">
              <a:ext uri="{FF2B5EF4-FFF2-40B4-BE49-F238E27FC236}">
                <a16:creationId xmlns:a16="http://schemas.microsoft.com/office/drawing/2014/main" id="{24F79B8A-3427-4FCC-8AD3-B660228990C1}"/>
              </a:ext>
            </a:extLst>
          </p:cNvPr>
          <p:cNvSpPr>
            <a:spLocks xmlns:a="http://schemas.openxmlformats.org/drawingml/2006/main" noGrp="1"/>
          </p:cNvSpPr>
          <p:nvPr/>
        </p:nvSpPr>
        <p:spPr>
          <a:xfrm xmlns:a="http://schemas.openxmlformats.org/drawingml/2006/main">
            <a:off x="895350" y="38671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目标服务未启动</a:t>
            </a:r>
          </a:p>
        </p:txBody>
      </p:sp>
      <p:sp>
        <p:nvSpPr>
          <p:cNvPr id="44" name="">
            <a:extLst xmlns:a="http://schemas.openxmlformats.org/drawingml/2006/main">
              <a:ext uri="{FF2B5EF4-FFF2-40B4-BE49-F238E27FC236}">
                <a16:creationId xmlns:a16="http://schemas.microsoft.com/office/drawing/2014/main" id="{FA76CFC8-F3E2-4882-A04D-1BC377E4C9E6}"/>
              </a:ext>
            </a:extLst>
          </p:cNvPr>
          <p:cNvSpPr>
            <a:spLocks xmlns:a="http://schemas.openxmlformats.org/drawingml/2006/main" noGrp="1"/>
          </p:cNvSpPr>
          <p:nvPr/>
        </p:nvSpPr>
        <p:spPr>
          <a:xfrm xmlns:a="http://schemas.openxmlformats.org/drawingml/2006/main">
            <a:off x="895350" y="41148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45" name="">
            <a:extLst xmlns:a="http://schemas.openxmlformats.org/drawingml/2006/main">
              <a:ext uri="{FF2B5EF4-FFF2-40B4-BE49-F238E27FC236}">
                <a16:creationId xmlns:a16="http://schemas.microsoft.com/office/drawing/2014/main" id="{1D40BDD7-37F2-4050-8C54-1FBDECF6DA65}"/>
              </a:ext>
            </a:extLst>
          </p:cNvPr>
          <p:cNvSpPr>
            <a:spLocks xmlns:a="http://schemas.openxmlformats.org/drawingml/2006/main" noGrp="1"/>
          </p:cNvSpPr>
          <p:nvPr/>
        </p:nvSpPr>
        <p:spPr>
          <a:xfrm xmlns:a="http://schemas.openxmlformats.org/drawingml/2006/main">
            <a:off x="895350" y="4114800"/>
            <a:ext cx="47625"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46" name="">
            <a:extLst xmlns:a="http://schemas.openxmlformats.org/drawingml/2006/main">
              <a:ext uri="{FF2B5EF4-FFF2-40B4-BE49-F238E27FC236}">
                <a16:creationId xmlns:a16="http://schemas.microsoft.com/office/drawing/2014/main" id="{7DE5E14E-308F-4291-9F51-24EF68FA8F83}"/>
              </a:ext>
            </a:extLst>
          </p:cNvPr>
          <p:cNvSpPr>
            <a:spLocks xmlns:a="http://schemas.openxmlformats.org/drawingml/2006/main" noGrp="1"/>
          </p:cNvSpPr>
          <p:nvPr/>
        </p:nvSpPr>
        <p:spPr>
          <a:xfrm xmlns:a="http://schemas.openxmlformats.org/drawingml/2006/main">
            <a:off x="3600450" y="40290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1.0%</a:t>
            </a:r>
          </a:p>
        </p:txBody>
      </p:sp>
      <p:sp>
        <p:nvSpPr>
          <p:cNvPr id="47" name="">
            <a:extLst xmlns:a="http://schemas.openxmlformats.org/drawingml/2006/main">
              <a:ext uri="{FF2B5EF4-FFF2-40B4-BE49-F238E27FC236}">
                <a16:creationId xmlns:a16="http://schemas.microsoft.com/office/drawing/2014/main" id="{A2109128-E6B6-487E-8769-072A8A6ADBAF}"/>
              </a:ext>
            </a:extLst>
          </p:cNvPr>
          <p:cNvSpPr>
            <a:spLocks xmlns:a="http://schemas.openxmlformats.org/drawingml/2006/main" noGrp="1"/>
          </p:cNvSpPr>
          <p:nvPr/>
        </p:nvSpPr>
        <p:spPr>
          <a:xfrm xmlns:a="http://schemas.openxmlformats.org/drawingml/2006/main">
            <a:off x="895350" y="43624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认证信息无效</a:t>
            </a:r>
          </a:p>
        </p:txBody>
      </p:sp>
      <p:sp>
        <p:nvSpPr>
          <p:cNvPr id="48" name="">
            <a:extLst xmlns:a="http://schemas.openxmlformats.org/drawingml/2006/main">
              <a:ext uri="{FF2B5EF4-FFF2-40B4-BE49-F238E27FC236}">
                <a16:creationId xmlns:a16="http://schemas.microsoft.com/office/drawing/2014/main" id="{71EA6CD0-8295-41E9-9625-66BF6BAA66E1}"/>
              </a:ext>
            </a:extLst>
          </p:cNvPr>
          <p:cNvSpPr>
            <a:spLocks xmlns:a="http://schemas.openxmlformats.org/drawingml/2006/main" noGrp="1"/>
          </p:cNvSpPr>
          <p:nvPr/>
        </p:nvSpPr>
        <p:spPr>
          <a:xfrm xmlns:a="http://schemas.openxmlformats.org/drawingml/2006/main">
            <a:off x="895350" y="46101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49" name="">
            <a:extLst xmlns:a="http://schemas.openxmlformats.org/drawingml/2006/main">
              <a:ext uri="{FF2B5EF4-FFF2-40B4-BE49-F238E27FC236}">
                <a16:creationId xmlns:a16="http://schemas.microsoft.com/office/drawing/2014/main" id="{51685654-26CF-4A7B-8C8A-796895CD872C}"/>
              </a:ext>
            </a:extLst>
          </p:cNvPr>
          <p:cNvSpPr>
            <a:spLocks xmlns:a="http://schemas.openxmlformats.org/drawingml/2006/main" noGrp="1"/>
          </p:cNvSpPr>
          <p:nvPr/>
        </p:nvSpPr>
        <p:spPr>
          <a:xfrm xmlns:a="http://schemas.openxmlformats.org/drawingml/2006/main">
            <a:off x="895350" y="4610100"/>
            <a:ext cx="47625" cy="114300"/>
          </a:xfrm>
          <a:prstGeom xmlns:a="http://schemas.openxmlformats.org/drawingml/2006/main" prst="roundRect">
            <a:avLst>
              <a:gd name="adj" fmla="val 50000"/>
            </a:avLst>
          </a:prstGeom>
          <a:solidFill xmlns:a="http://schemas.openxmlformats.org/drawingml/2006/main">
            <a:srgbClr val="A8B4BE"/>
          </a:solidFill>
          <a:ln xmlns:a="http://schemas.openxmlformats.org/drawingml/2006/main" w="11430">
            <a:solidFill>
              <a:srgbClr val="A8B4BE"/>
            </a:solidFill>
            <a:prstDash val="solid"/>
          </a:ln>
        </p:spPr>
      </p:sp>
      <p:sp>
        <p:nvSpPr>
          <p:cNvPr id="50" name="">
            <a:extLst xmlns:a="http://schemas.openxmlformats.org/drawingml/2006/main">
              <a:ext uri="{FF2B5EF4-FFF2-40B4-BE49-F238E27FC236}">
                <a16:creationId xmlns:a16="http://schemas.microsoft.com/office/drawing/2014/main" id="{BCFF5FEE-1451-429B-89E5-BEF96BBC1371}"/>
              </a:ext>
            </a:extLst>
          </p:cNvPr>
          <p:cNvSpPr>
            <a:spLocks xmlns:a="http://schemas.openxmlformats.org/drawingml/2006/main" noGrp="1"/>
          </p:cNvSpPr>
          <p:nvPr/>
        </p:nvSpPr>
        <p:spPr>
          <a:xfrm xmlns:a="http://schemas.openxmlformats.org/drawingml/2006/main">
            <a:off x="3600450" y="45243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A8B4BE"/>
                </a:solidFill>
                <a:latin typeface="Hiragino Sans GB"/>
                <a:ea typeface="Hiragino Sans GB"/>
                <a:cs typeface="Hiragino Sans GB"/>
              </a:defRPr>
            </a:pPr>
            <a:r>
              <a:rPr sz="1125" b="1">
                <a:solidFill>
                  <a:srgbClr val="A8B4BE"/>
                </a:solidFill>
                <a:latin typeface="Hiragino Sans GB"/>
                <a:ea typeface="Hiragino Sans GB"/>
                <a:cs typeface="Hiragino Sans GB"/>
              </a:rPr>
              <a:t>0.4%</a:t>
            </a:r>
          </a:p>
        </p:txBody>
      </p:sp>
      <p:sp>
        <p:nvSpPr>
          <p:cNvPr id="51" name="">
            <a:extLst xmlns:a="http://schemas.openxmlformats.org/drawingml/2006/main">
              <a:ext uri="{FF2B5EF4-FFF2-40B4-BE49-F238E27FC236}">
                <a16:creationId xmlns:a16="http://schemas.microsoft.com/office/drawing/2014/main" id="{1D391F9B-980C-4F21-89C5-480C50C46478}"/>
              </a:ext>
            </a:extLst>
          </p:cNvPr>
          <p:cNvSpPr>
            <a:spLocks xmlns:a="http://schemas.openxmlformats.org/drawingml/2006/main" noGrp="1"/>
          </p:cNvSpPr>
          <p:nvPr/>
        </p:nvSpPr>
        <p:spPr>
          <a:xfrm xmlns:a="http://schemas.openxmlformats.org/drawingml/2006/main">
            <a:off x="895350" y="48577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必需环境变量缺失</a:t>
            </a:r>
          </a:p>
        </p:txBody>
      </p:sp>
      <p:sp>
        <p:nvSpPr>
          <p:cNvPr id="52" name="">
            <a:extLst xmlns:a="http://schemas.openxmlformats.org/drawingml/2006/main">
              <a:ext uri="{FF2B5EF4-FFF2-40B4-BE49-F238E27FC236}">
                <a16:creationId xmlns:a16="http://schemas.microsoft.com/office/drawing/2014/main" id="{9F8B0663-020A-4178-B77D-A1C8E2766C35}"/>
              </a:ext>
            </a:extLst>
          </p:cNvPr>
          <p:cNvSpPr>
            <a:spLocks xmlns:a="http://schemas.openxmlformats.org/drawingml/2006/main" noGrp="1"/>
          </p:cNvSpPr>
          <p:nvPr/>
        </p:nvSpPr>
        <p:spPr>
          <a:xfrm xmlns:a="http://schemas.openxmlformats.org/drawingml/2006/main">
            <a:off x="895350" y="5105400"/>
            <a:ext cx="2647950" cy="114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1430">
            <a:solidFill>
              <a:srgbClr val="FFFFFF"/>
            </a:solidFill>
            <a:prstDash val="solid"/>
          </a:ln>
        </p:spPr>
      </p:sp>
      <p:sp>
        <p:nvSpPr>
          <p:cNvPr id="53" name="">
            <a:extLst xmlns:a="http://schemas.openxmlformats.org/drawingml/2006/main">
              <a:ext uri="{FF2B5EF4-FFF2-40B4-BE49-F238E27FC236}">
                <a16:creationId xmlns:a16="http://schemas.microsoft.com/office/drawing/2014/main" id="{4557A741-E74F-4E94-BEC9-95CBB0887163}"/>
              </a:ext>
            </a:extLst>
          </p:cNvPr>
          <p:cNvSpPr>
            <a:spLocks xmlns:a="http://schemas.openxmlformats.org/drawingml/2006/main" noGrp="1"/>
          </p:cNvSpPr>
          <p:nvPr/>
        </p:nvSpPr>
        <p:spPr>
          <a:xfrm xmlns:a="http://schemas.openxmlformats.org/drawingml/2006/main">
            <a:off x="895350" y="5105400"/>
            <a:ext cx="47625"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1430">
            <a:solidFill>
              <a:srgbClr val="F59E0B"/>
            </a:solidFill>
            <a:prstDash val="solid"/>
          </a:ln>
        </p:spPr>
      </p:sp>
      <p:sp>
        <p:nvSpPr>
          <p:cNvPr id="54" name="">
            <a:extLst xmlns:a="http://schemas.openxmlformats.org/drawingml/2006/main">
              <a:ext uri="{FF2B5EF4-FFF2-40B4-BE49-F238E27FC236}">
                <a16:creationId xmlns:a16="http://schemas.microsoft.com/office/drawing/2014/main" id="{6E6A4338-1517-49AA-BBBB-02D68BAF4CD8}"/>
              </a:ext>
            </a:extLst>
          </p:cNvPr>
          <p:cNvSpPr>
            <a:spLocks xmlns:a="http://schemas.openxmlformats.org/drawingml/2006/main" noGrp="1"/>
          </p:cNvSpPr>
          <p:nvPr/>
        </p:nvSpPr>
        <p:spPr>
          <a:xfrm xmlns:a="http://schemas.openxmlformats.org/drawingml/2006/main">
            <a:off x="3600450" y="50196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125" b="1">
                <a:solidFill>
                  <a:srgbClr val="F59E0B"/>
                </a:solidFill>
                <a:latin typeface="Hiragino Sans GB"/>
                <a:ea typeface="Hiragino Sans GB"/>
                <a:cs typeface="Hiragino Sans GB"/>
              </a:defRPr>
            </a:pPr>
            <a:r>
              <a:rPr sz="1125" b="1">
                <a:solidFill>
                  <a:srgbClr val="F59E0B"/>
                </a:solidFill>
                <a:latin typeface="Hiragino Sans GB"/>
                <a:ea typeface="Hiragino Sans GB"/>
                <a:cs typeface="Hiragino Sans GB"/>
              </a:rPr>
              <a:t>0.1%</a:t>
            </a:r>
          </a:p>
        </p:txBody>
      </p:sp>
      <p:sp>
        <p:nvSpPr>
          <p:cNvPr id="55" name="">
            <a:extLst xmlns:a="http://schemas.openxmlformats.org/drawingml/2006/main">
              <a:ext uri="{FF2B5EF4-FFF2-40B4-BE49-F238E27FC236}">
                <a16:creationId xmlns:a16="http://schemas.microsoft.com/office/drawing/2014/main" id="{09B37385-D683-4E0E-96E6-D2726E612630}"/>
              </a:ext>
            </a:extLst>
          </p:cNvPr>
          <p:cNvSpPr>
            <a:spLocks xmlns:a="http://schemas.openxmlformats.org/drawingml/2006/main" noGrp="1"/>
          </p:cNvSpPr>
          <p:nvPr/>
        </p:nvSpPr>
        <p:spPr>
          <a:xfrm xmlns:a="http://schemas.openxmlformats.org/drawingml/2006/main">
            <a:off x="895350" y="54673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a:solidFill>
                  <a:srgbClr val="5B6B78"/>
                </a:solidFill>
                <a:latin typeface="Hiragino Sans GB"/>
                <a:ea typeface="Hiragino Sans GB"/>
                <a:cs typeface="Hiragino Sans GB"/>
              </a:defRPr>
            </a:pPr>
            <a:r>
              <a:rPr sz="975" b="1">
                <a:solidFill>
                  <a:srgbClr val="5B6B78"/>
                </a:solidFill>
                <a:latin typeface="Hiragino Sans GB"/>
                <a:ea typeface="Hiragino Sans GB"/>
                <a:cs typeface="Hiragino Sans GB"/>
              </a:rPr>
              <a:t>当前熵</a:t>
            </a:r>
          </a:p>
        </p:txBody>
      </p:sp>
      <p:sp>
        <p:nvSpPr>
          <p:cNvPr id="56" name="">
            <a:extLst xmlns:a="http://schemas.openxmlformats.org/drawingml/2006/main">
              <a:ext uri="{FF2B5EF4-FFF2-40B4-BE49-F238E27FC236}">
                <a16:creationId xmlns:a16="http://schemas.microsoft.com/office/drawing/2014/main" id="{977D207B-73D9-4ACE-8A11-2DFAC3B75C3F}"/>
              </a:ext>
            </a:extLst>
          </p:cNvPr>
          <p:cNvSpPr>
            <a:spLocks xmlns:a="http://schemas.openxmlformats.org/drawingml/2006/main" noGrp="1"/>
          </p:cNvSpPr>
          <p:nvPr/>
        </p:nvSpPr>
        <p:spPr>
          <a:xfrm xmlns:a="http://schemas.openxmlformats.org/drawingml/2006/main">
            <a:off x="1752600" y="54102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F5FBF"/>
                </a:solidFill>
                <a:latin typeface="Hiragino Sans GB"/>
                <a:ea typeface="Hiragino Sans GB"/>
                <a:cs typeface="Hiragino Sans GB"/>
              </a:defRPr>
            </a:pPr>
            <a:r>
              <a:rPr sz="1575" b="1">
                <a:solidFill>
                  <a:srgbClr val="1F5FBF"/>
                </a:solidFill>
                <a:latin typeface="Hiragino Sans GB"/>
                <a:ea typeface="Hiragino Sans GB"/>
                <a:cs typeface="Hiragino Sans GB"/>
              </a:rPr>
              <a:t>0.250 bit</a:t>
            </a:r>
          </a:p>
        </p:txBody>
      </p:sp>
      <p:sp>
        <p:nvSpPr>
          <p:cNvPr id="57" name="">
            <a:extLst xmlns:a="http://schemas.openxmlformats.org/drawingml/2006/main">
              <a:ext uri="{FF2B5EF4-FFF2-40B4-BE49-F238E27FC236}">
                <a16:creationId xmlns:a16="http://schemas.microsoft.com/office/drawing/2014/main" id="{42336792-C49A-45B1-BDA4-989772D35776}"/>
              </a:ext>
            </a:extLst>
          </p:cNvPr>
          <p:cNvSpPr>
            <a:spLocks xmlns:a="http://schemas.openxmlformats.org/drawingml/2006/main" noGrp="1"/>
          </p:cNvSpPr>
          <p:nvPr/>
        </p:nvSpPr>
        <p:spPr>
          <a:xfrm xmlns:a="http://schemas.openxmlformats.org/drawingml/2006/main">
            <a:off x="4876800" y="1962150"/>
            <a:ext cx="6629400" cy="3943350"/>
          </a:xfrm>
          <a:prstGeom xmlns:a="http://schemas.openxmlformats.org/drawingml/2006/main" prst="roundRect">
            <a:avLst>
              <a:gd name="adj" fmla="val 3382"/>
            </a:avLst>
          </a:prstGeom>
          <a:solidFill xmlns:a="http://schemas.openxmlformats.org/drawingml/2006/main">
            <a:srgbClr val="FFFFFF"/>
          </a:solidFill>
          <a:ln xmlns:a="http://schemas.openxmlformats.org/drawingml/2006/main" w="11430">
            <a:solidFill>
              <a:srgbClr val="D8E0E7"/>
            </a:solidFill>
            <a:prstDash val="solid"/>
          </a:ln>
        </p:spPr>
      </p:sp>
      <p:sp>
        <p:nvSpPr>
          <p:cNvPr id="58" name="">
            <a:extLst xmlns:a="http://schemas.openxmlformats.org/drawingml/2006/main">
              <a:ext uri="{FF2B5EF4-FFF2-40B4-BE49-F238E27FC236}">
                <a16:creationId xmlns:a16="http://schemas.microsoft.com/office/drawing/2014/main" id="{F54AE54A-B64C-48CB-9BA4-A022A4C7EC48}"/>
              </a:ext>
            </a:extLst>
          </p:cNvPr>
          <p:cNvSpPr>
            <a:spLocks xmlns:a="http://schemas.openxmlformats.org/drawingml/2006/main" noGrp="1"/>
          </p:cNvSpPr>
          <p:nvPr/>
        </p:nvSpPr>
        <p:spPr>
          <a:xfrm xmlns:a="http://schemas.openxmlformats.org/drawingml/2006/main">
            <a:off x="5086350" y="21336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42735"/>
                </a:solidFill>
                <a:latin typeface="Hiragino Sans GB"/>
                <a:ea typeface="Hiragino Sans GB"/>
                <a:cs typeface="Hiragino Sans GB"/>
              </a:defRPr>
            </a:pPr>
            <a:r>
              <a:rPr sz="1425" b="1">
                <a:solidFill>
                  <a:srgbClr val="142735"/>
                </a:solidFill>
                <a:latin typeface="Hiragino Sans GB"/>
                <a:ea typeface="Hiragino Sans GB"/>
                <a:cs typeface="Hiragino Sans GB"/>
              </a:rPr>
              <a:t>最终候选子图与方案链</a:t>
            </a:r>
          </a:p>
        </p:txBody>
      </p:sp>
      <p:sp>
        <p:nvSpPr>
          <p:cNvPr id="59" name="">
            <a:extLst xmlns:a="http://schemas.openxmlformats.org/drawingml/2006/main">
              <a:ext uri="{FF2B5EF4-FFF2-40B4-BE49-F238E27FC236}">
                <a16:creationId xmlns:a16="http://schemas.microsoft.com/office/drawing/2014/main" id="{888C9C06-8E56-4071-B0DF-E847A74AC611}"/>
              </a:ext>
            </a:extLst>
          </p:cNvPr>
          <p:cNvSpPr>
            <a:spLocks xmlns:a="http://schemas.openxmlformats.org/drawingml/2006/main" noGrp="1"/>
          </p:cNvSpPr>
          <p:nvPr/>
        </p:nvSpPr>
        <p:spPr>
          <a:xfrm xmlns:a="http://schemas.openxmlformats.org/drawingml/2006/main">
            <a:off x="7943850" y="2114550"/>
            <a:ext cx="1104900" cy="285750"/>
          </a:xfrm>
          <a:prstGeom xmlns:a="http://schemas.openxmlformats.org/drawingml/2006/main" prst="roundRect">
            <a:avLst>
              <a:gd name="adj" fmla="val 50000"/>
            </a:avLst>
          </a:prstGeom>
          <a:solidFill xmlns:a="http://schemas.openxmlformats.org/drawingml/2006/main">
            <a:srgbClr val="EAF8F3"/>
          </a:solidFill>
          <a:ln xmlns:a="http://schemas.openxmlformats.org/drawingml/2006/main" w="11430">
            <a:solidFill>
              <a:srgbClr val="EAF8F3"/>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概率96.9%</a:t>
            </a:r>
          </a:p>
        </p:txBody>
      </p:sp>
      <p:sp>
        <p:nvSpPr>
          <p:cNvPr id="60" name="">
            <a:extLst xmlns:a="http://schemas.openxmlformats.org/drawingml/2006/main">
              <a:ext uri="{FF2B5EF4-FFF2-40B4-BE49-F238E27FC236}">
                <a16:creationId xmlns:a16="http://schemas.microsoft.com/office/drawing/2014/main" id="{759EDEA5-58D6-472C-BAC3-A3DF63C48A48}"/>
              </a:ext>
            </a:extLst>
          </p:cNvPr>
          <p:cNvSpPr>
            <a:spLocks xmlns:a="http://schemas.openxmlformats.org/drawingml/2006/main" noGrp="1"/>
          </p:cNvSpPr>
          <p:nvPr/>
        </p:nvSpPr>
        <p:spPr>
          <a:xfrm xmlns:a="http://schemas.openxmlformats.org/drawingml/2006/main">
            <a:off x="9105900" y="2114550"/>
            <a:ext cx="1143000" cy="285750"/>
          </a:xfrm>
          <a:prstGeom xmlns:a="http://schemas.openxmlformats.org/drawingml/2006/main" prst="roundRect">
            <a:avLst>
              <a:gd name="adj" fmla="val 50000"/>
            </a:avLst>
          </a:prstGeom>
          <a:solidFill xmlns:a="http://schemas.openxmlformats.org/drawingml/2006/main">
            <a:srgbClr val="EAF8F3"/>
          </a:solidFill>
          <a:ln xmlns:a="http://schemas.openxmlformats.org/drawingml/2006/main" w="11430">
            <a:solidFill>
              <a:srgbClr val="EAF8F3"/>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领先95.3%</a:t>
            </a:r>
          </a:p>
        </p:txBody>
      </p:sp>
      <p:sp>
        <p:nvSpPr>
          <p:cNvPr id="61" name="">
            <a:extLst xmlns:a="http://schemas.openxmlformats.org/drawingml/2006/main">
              <a:ext uri="{FF2B5EF4-FFF2-40B4-BE49-F238E27FC236}">
                <a16:creationId xmlns:a16="http://schemas.microsoft.com/office/drawing/2014/main" id="{CE057947-EFA0-4FB7-BB92-628B0FDA4AC0}"/>
              </a:ext>
            </a:extLst>
          </p:cNvPr>
          <p:cNvSpPr>
            <a:spLocks xmlns:a="http://schemas.openxmlformats.org/drawingml/2006/main" noGrp="1"/>
          </p:cNvSpPr>
          <p:nvPr/>
        </p:nvSpPr>
        <p:spPr>
          <a:xfrm xmlns:a="http://schemas.openxmlformats.org/drawingml/2006/main">
            <a:off x="10306050" y="2114550"/>
            <a:ext cx="952500" cy="285750"/>
          </a:xfrm>
          <a:prstGeom xmlns:a="http://schemas.openxmlformats.org/drawingml/2006/main" prst="roundRect">
            <a:avLst>
              <a:gd name="adj" fmla="val 50000"/>
            </a:avLst>
          </a:prstGeom>
          <a:solidFill xmlns:a="http://schemas.openxmlformats.org/drawingml/2006/main">
            <a:srgbClr val="EAF8F3"/>
          </a:solidFill>
          <a:ln xmlns:a="http://schemas.openxmlformats.org/drawingml/2006/main" w="11430">
            <a:solidFill>
              <a:srgbClr val="EAF8F3"/>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68B6B"/>
                </a:solidFill>
                <a:latin typeface="Hiragino Sans GB"/>
                <a:ea typeface="Hiragino Sans GB"/>
                <a:cs typeface="Hiragino Sans GB"/>
              </a:defRPr>
            </a:pPr>
            <a:r>
              <a:rPr sz="1050" b="1">
                <a:solidFill>
                  <a:srgbClr val="168B6B"/>
                </a:solidFill>
                <a:latin typeface="Hiragino Sans GB"/>
                <a:ea typeface="Hiragino Sans GB"/>
                <a:cs typeface="Hiragino Sans GB"/>
              </a:rPr>
              <a:t>回答2次</a:t>
            </a:r>
          </a:p>
        </p:txBody>
      </p:sp>
      <p:sp>
        <p:nvSpPr>
          <p:cNvPr id="62" name="">
            <a:extLst xmlns:a="http://schemas.openxmlformats.org/drawingml/2006/main">
              <a:ext uri="{FF2B5EF4-FFF2-40B4-BE49-F238E27FC236}">
                <a16:creationId xmlns:a16="http://schemas.microsoft.com/office/drawing/2014/main" id="{54F57D25-FEAC-4132-83F8-598062C6E8DD}"/>
              </a:ext>
            </a:extLst>
          </p:cNvPr>
          <p:cNvSpPr>
            <a:spLocks xmlns:a="http://schemas.openxmlformats.org/drawingml/2006/main" noGrp="1"/>
          </p:cNvSpPr>
          <p:nvPr/>
        </p:nvSpPr>
        <p:spPr>
          <a:xfrm xmlns:a="http://schemas.openxmlformats.org/drawingml/2006/main">
            <a:off x="6819900" y="2762250"/>
            <a:ext cx="228600" cy="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3" name="">
            <a:extLst xmlns:a="http://schemas.openxmlformats.org/drawingml/2006/main">
              <a:ext uri="{FF2B5EF4-FFF2-40B4-BE49-F238E27FC236}">
                <a16:creationId xmlns:a16="http://schemas.microsoft.com/office/drawing/2014/main" id="{879743E6-1C27-4F4E-AFD4-C7FA7E51FAED}"/>
              </a:ext>
            </a:extLst>
          </p:cNvPr>
          <p:cNvSpPr>
            <a:spLocks xmlns:a="http://schemas.openxmlformats.org/drawingml/2006/main" noGrp="1"/>
          </p:cNvSpPr>
          <p:nvPr/>
        </p:nvSpPr>
        <p:spPr>
          <a:xfrm xmlns:a="http://schemas.openxmlformats.org/drawingml/2006/main">
            <a:off x="10020300" y="2762250"/>
            <a:ext cx="228600" cy="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4" name="">
            <a:extLst xmlns:a="http://schemas.openxmlformats.org/drawingml/2006/main">
              <a:ext uri="{FF2B5EF4-FFF2-40B4-BE49-F238E27FC236}">
                <a16:creationId xmlns:a16="http://schemas.microsoft.com/office/drawing/2014/main" id="{B1C8AAD4-80CB-47A7-8D95-3343A11F1476}"/>
              </a:ext>
            </a:extLst>
          </p:cNvPr>
          <p:cNvSpPr>
            <a:spLocks xmlns:a="http://schemas.openxmlformats.org/drawingml/2006/main" noGrp="1"/>
          </p:cNvSpPr>
          <p:nvPr/>
        </p:nvSpPr>
        <p:spPr>
          <a:xfrm xmlns:a="http://schemas.openxmlformats.org/drawingml/2006/main">
            <a:off x="7505700" y="2990850"/>
            <a:ext cx="0" cy="22860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5" name="">
            <a:extLst xmlns:a="http://schemas.openxmlformats.org/drawingml/2006/main">
              <a:ext uri="{FF2B5EF4-FFF2-40B4-BE49-F238E27FC236}">
                <a16:creationId xmlns:a16="http://schemas.microsoft.com/office/drawing/2014/main" id="{2CC8DC06-8011-4988-A178-3F5CC1512C63}"/>
              </a:ext>
            </a:extLst>
          </p:cNvPr>
          <p:cNvSpPr>
            <a:spLocks xmlns:a="http://schemas.openxmlformats.org/drawingml/2006/main" noGrp="1"/>
          </p:cNvSpPr>
          <p:nvPr/>
        </p:nvSpPr>
        <p:spPr>
          <a:xfrm xmlns:a="http://schemas.openxmlformats.org/drawingml/2006/main">
            <a:off x="10763250" y="2990850"/>
            <a:ext cx="0" cy="22860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6" name="">
            <a:extLst xmlns:a="http://schemas.openxmlformats.org/drawingml/2006/main">
              <a:ext uri="{FF2B5EF4-FFF2-40B4-BE49-F238E27FC236}">
                <a16:creationId xmlns:a16="http://schemas.microsoft.com/office/drawing/2014/main" id="{514F968E-2307-4342-943B-0A421A8128C6}"/>
              </a:ext>
            </a:extLst>
          </p:cNvPr>
          <p:cNvSpPr>
            <a:spLocks xmlns:a="http://schemas.openxmlformats.org/drawingml/2006/main" noGrp="1"/>
          </p:cNvSpPr>
          <p:nvPr/>
        </p:nvSpPr>
        <p:spPr>
          <a:xfrm xmlns:a="http://schemas.openxmlformats.org/drawingml/2006/main">
            <a:off x="7505700" y="3219450"/>
            <a:ext cx="3257550" cy="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7" name="">
            <a:extLst xmlns:a="http://schemas.openxmlformats.org/drawingml/2006/main">
              <a:ext uri="{FF2B5EF4-FFF2-40B4-BE49-F238E27FC236}">
                <a16:creationId xmlns:a16="http://schemas.microsoft.com/office/drawing/2014/main" id="{104D5737-4179-4737-BA9A-0CEA49595F4B}"/>
              </a:ext>
            </a:extLst>
          </p:cNvPr>
          <p:cNvSpPr>
            <a:spLocks xmlns:a="http://schemas.openxmlformats.org/drawingml/2006/main" noGrp="1"/>
          </p:cNvSpPr>
          <p:nvPr/>
        </p:nvSpPr>
        <p:spPr>
          <a:xfrm xmlns:a="http://schemas.openxmlformats.org/drawingml/2006/main">
            <a:off x="8534400" y="3219450"/>
            <a:ext cx="0" cy="19050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68" name="">
            <a:extLst xmlns:a="http://schemas.openxmlformats.org/drawingml/2006/main">
              <a:ext uri="{FF2B5EF4-FFF2-40B4-BE49-F238E27FC236}">
                <a16:creationId xmlns:a16="http://schemas.microsoft.com/office/drawing/2014/main" id="{B626B739-2952-419F-9EFC-39E089C4F9D7}"/>
              </a:ext>
            </a:extLst>
          </p:cNvPr>
          <p:cNvSpPr>
            <a:spLocks xmlns:a="http://schemas.openxmlformats.org/drawingml/2006/main" noGrp="1"/>
          </p:cNvSpPr>
          <p:nvPr/>
        </p:nvSpPr>
        <p:spPr>
          <a:xfrm xmlns:a="http://schemas.openxmlformats.org/drawingml/2006/main">
            <a:off x="8534400" y="3867150"/>
            <a:ext cx="0" cy="266700"/>
          </a:xfrm>
          <a:prstGeom xmlns:a="http://schemas.openxmlformats.org/drawingml/2006/main" prst="line">
            <a:avLst/>
          </a:prstGeom>
          <a:noFill xmlns:a="http://schemas.openxmlformats.org/drawingml/2006/main"/>
          <a:ln xmlns:a="http://schemas.openxmlformats.org/drawingml/2006/main" w="17145">
            <a:solidFill>
              <a:srgbClr val="1F5FBF"/>
            </a:solidFill>
            <a:prstDash val="solid"/>
          </a:ln>
        </p:spPr>
      </p:sp>
      <p:sp>
        <p:nvSpPr>
          <p:cNvPr id="69" name="">
            <a:extLst xmlns:a="http://schemas.openxmlformats.org/drawingml/2006/main">
              <a:ext uri="{FF2B5EF4-FFF2-40B4-BE49-F238E27FC236}">
                <a16:creationId xmlns:a16="http://schemas.microsoft.com/office/drawing/2014/main" id="{0EEC0C29-0BF2-4657-90AF-7A58C2753C6F}"/>
              </a:ext>
            </a:extLst>
          </p:cNvPr>
          <p:cNvSpPr>
            <a:spLocks xmlns:a="http://schemas.openxmlformats.org/drawingml/2006/main" noGrp="1"/>
          </p:cNvSpPr>
          <p:nvPr/>
        </p:nvSpPr>
        <p:spPr>
          <a:xfrm xmlns:a="http://schemas.openxmlformats.org/drawingml/2006/main">
            <a:off x="8534400" y="4552950"/>
            <a:ext cx="0" cy="209550"/>
          </a:xfrm>
          <a:prstGeom xmlns:a="http://schemas.openxmlformats.org/drawingml/2006/main" prst="line">
            <a:avLst/>
          </a:prstGeom>
          <a:noFill xmlns:a="http://schemas.openxmlformats.org/drawingml/2006/main"/>
          <a:ln xmlns:a="http://schemas.openxmlformats.org/drawingml/2006/main" w="17145">
            <a:solidFill>
              <a:srgbClr val="168B6B"/>
            </a:solidFill>
            <a:prstDash val="solid"/>
          </a:ln>
        </p:spPr>
      </p:sp>
      <p:sp>
        <p:nvSpPr>
          <p:cNvPr id="70" name="">
            <a:extLst xmlns:a="http://schemas.openxmlformats.org/drawingml/2006/main">
              <a:ext uri="{FF2B5EF4-FFF2-40B4-BE49-F238E27FC236}">
                <a16:creationId xmlns:a16="http://schemas.microsoft.com/office/drawing/2014/main" id="{8D9D572F-A8EF-4A86-93E8-CAA11F32D8F9}"/>
              </a:ext>
            </a:extLst>
          </p:cNvPr>
          <p:cNvSpPr>
            <a:spLocks xmlns:a="http://schemas.openxmlformats.org/drawingml/2006/main" noGrp="1"/>
          </p:cNvSpPr>
          <p:nvPr/>
        </p:nvSpPr>
        <p:spPr>
          <a:xfrm xmlns:a="http://schemas.openxmlformats.org/drawingml/2006/main">
            <a:off x="6515100" y="5314950"/>
            <a:ext cx="209550" cy="0"/>
          </a:xfrm>
          <a:prstGeom xmlns:a="http://schemas.openxmlformats.org/drawingml/2006/main" prst="line">
            <a:avLst/>
          </a:prstGeom>
          <a:noFill xmlns:a="http://schemas.openxmlformats.org/drawingml/2006/main"/>
          <a:ln xmlns:a="http://schemas.openxmlformats.org/drawingml/2006/main" w="17145">
            <a:solidFill>
              <a:srgbClr val="1F5FBF"/>
            </a:solidFill>
            <a:prstDash val="solid"/>
          </a:ln>
        </p:spPr>
      </p:sp>
      <p:sp>
        <p:nvSpPr>
          <p:cNvPr id="71" name="">
            <a:extLst xmlns:a="http://schemas.openxmlformats.org/drawingml/2006/main">
              <a:ext uri="{FF2B5EF4-FFF2-40B4-BE49-F238E27FC236}">
                <a16:creationId xmlns:a16="http://schemas.microsoft.com/office/drawing/2014/main" id="{78CBD6FC-F9E2-48AC-A881-0BA96661230B}"/>
              </a:ext>
            </a:extLst>
          </p:cNvPr>
          <p:cNvSpPr>
            <a:spLocks xmlns:a="http://schemas.openxmlformats.org/drawingml/2006/main" noGrp="1"/>
          </p:cNvSpPr>
          <p:nvPr/>
        </p:nvSpPr>
        <p:spPr>
          <a:xfrm xmlns:a="http://schemas.openxmlformats.org/drawingml/2006/main">
            <a:off x="8077200" y="5314950"/>
            <a:ext cx="209550" cy="0"/>
          </a:xfrm>
          <a:prstGeom xmlns:a="http://schemas.openxmlformats.org/drawingml/2006/main" prst="line">
            <a:avLst/>
          </a:prstGeom>
          <a:noFill xmlns:a="http://schemas.openxmlformats.org/drawingml/2006/main"/>
          <a:ln xmlns:a="http://schemas.openxmlformats.org/drawingml/2006/main" w="17145">
            <a:solidFill>
              <a:srgbClr val="E34A4A"/>
            </a:solidFill>
            <a:prstDash val="solid"/>
          </a:ln>
        </p:spPr>
      </p:sp>
      <p:sp>
        <p:nvSpPr>
          <p:cNvPr id="72" name="">
            <a:extLst xmlns:a="http://schemas.openxmlformats.org/drawingml/2006/main">
              <a:ext uri="{FF2B5EF4-FFF2-40B4-BE49-F238E27FC236}">
                <a16:creationId xmlns:a16="http://schemas.microsoft.com/office/drawing/2014/main" id="{A0CA03BC-2DFB-47EB-9D0A-7D59DBF00E8D}"/>
              </a:ext>
            </a:extLst>
          </p:cNvPr>
          <p:cNvSpPr>
            <a:spLocks xmlns:a="http://schemas.openxmlformats.org/drawingml/2006/main" noGrp="1"/>
          </p:cNvSpPr>
          <p:nvPr/>
        </p:nvSpPr>
        <p:spPr>
          <a:xfrm xmlns:a="http://schemas.openxmlformats.org/drawingml/2006/main">
            <a:off x="9639300" y="5314950"/>
            <a:ext cx="209550" cy="0"/>
          </a:xfrm>
          <a:prstGeom xmlns:a="http://schemas.openxmlformats.org/drawingml/2006/main" prst="line">
            <a:avLst/>
          </a:prstGeom>
          <a:noFill xmlns:a="http://schemas.openxmlformats.org/drawingml/2006/main"/>
          <a:ln xmlns:a="http://schemas.openxmlformats.org/drawingml/2006/main" w="17145">
            <a:solidFill>
              <a:srgbClr val="91A1B4"/>
            </a:solidFill>
            <a:prstDash val="solid"/>
          </a:ln>
        </p:spPr>
      </p:sp>
      <p:sp>
        <p:nvSpPr>
          <p:cNvPr id="73" name="">
            <a:extLst xmlns:a="http://schemas.openxmlformats.org/drawingml/2006/main">
              <a:ext uri="{FF2B5EF4-FFF2-40B4-BE49-F238E27FC236}">
                <a16:creationId xmlns:a16="http://schemas.microsoft.com/office/drawing/2014/main" id="{4B3A311E-120F-4A4A-B3A2-B28D9B3870B7}"/>
              </a:ext>
            </a:extLst>
          </p:cNvPr>
          <p:cNvSpPr>
            <a:spLocks xmlns:a="http://schemas.openxmlformats.org/drawingml/2006/main" noGrp="1"/>
          </p:cNvSpPr>
          <p:nvPr/>
        </p:nvSpPr>
        <p:spPr>
          <a:xfrm xmlns:a="http://schemas.openxmlformats.org/drawingml/2006/main">
            <a:off x="5067300" y="2533650"/>
            <a:ext cx="1752600" cy="457200"/>
          </a:xfrm>
          <a:prstGeom xmlns:a="http://schemas.openxmlformats.org/drawingml/2006/main" prst="roundRect">
            <a:avLst>
              <a:gd name="adj" fmla="val 20833"/>
            </a:avLst>
          </a:prstGeom>
          <a:solidFill xmlns:a="http://schemas.openxmlformats.org/drawingml/2006/main">
            <a:srgbClr val="F3EEFF"/>
          </a:solidFill>
          <a:ln xmlns:a="http://schemas.openxmlformats.org/drawingml/2006/main" w="11430">
            <a:solidFill>
              <a:srgbClr val="7B61C9"/>
            </a:solidFill>
            <a:prstDash val="solid"/>
          </a:ln>
        </p:spPr>
      </p:sp>
      <p:sp>
        <p:nvSpPr>
          <p:cNvPr id="74" name="">
            <a:extLst xmlns:a="http://schemas.openxmlformats.org/drawingml/2006/main">
              <a:ext uri="{FF2B5EF4-FFF2-40B4-BE49-F238E27FC236}">
                <a16:creationId xmlns:a16="http://schemas.microsoft.com/office/drawing/2014/main" id="{312ABE83-6967-40F2-9012-299D5D68F5DB}"/>
              </a:ext>
            </a:extLst>
          </p:cNvPr>
          <p:cNvSpPr>
            <a:spLocks xmlns:a="http://schemas.openxmlformats.org/drawingml/2006/main" noGrp="1"/>
          </p:cNvSpPr>
          <p:nvPr/>
        </p:nvSpPr>
        <p:spPr>
          <a:xfrm xmlns:a="http://schemas.openxmlformats.org/drawingml/2006/main">
            <a:off x="5172075" y="2600325"/>
            <a:ext cx="1543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7B61C9"/>
                </a:solidFill>
                <a:latin typeface="Hiragino Sans GB"/>
                <a:ea typeface="Hiragino Sans GB"/>
                <a:cs typeface="Hiragino Sans GB"/>
              </a:defRPr>
            </a:pPr>
            <a:r>
              <a:rPr sz="750" b="1">
                <a:solidFill>
                  <a:srgbClr val="7B61C9"/>
                </a:solidFill>
                <a:latin typeface="Hiragino Sans GB"/>
                <a:ea typeface="Hiragino Sans GB"/>
                <a:cs typeface="Hiragino Sans GB"/>
              </a:rPr>
              <a:t>Question 1</a:t>
            </a:r>
          </a:p>
        </p:txBody>
      </p:sp>
      <p:sp>
        <p:nvSpPr>
          <p:cNvPr id="75" name="">
            <a:extLst xmlns:a="http://schemas.openxmlformats.org/drawingml/2006/main">
              <a:ext uri="{FF2B5EF4-FFF2-40B4-BE49-F238E27FC236}">
                <a16:creationId xmlns:a16="http://schemas.microsoft.com/office/drawing/2014/main" id="{19B5C501-4101-43EF-BEA2-15C07D125C1B}"/>
              </a:ext>
            </a:extLst>
          </p:cNvPr>
          <p:cNvSpPr>
            <a:spLocks xmlns:a="http://schemas.openxmlformats.org/drawingml/2006/main" noGrp="1"/>
          </p:cNvSpPr>
          <p:nvPr/>
        </p:nvSpPr>
        <p:spPr>
          <a:xfrm xmlns:a="http://schemas.openxmlformats.org/drawingml/2006/main">
            <a:off x="5172075" y="2771775"/>
            <a:ext cx="1543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宿主机正常、容器失败？</a:t>
            </a:r>
          </a:p>
        </p:txBody>
      </p:sp>
      <p:sp>
        <p:nvSpPr>
          <p:cNvPr id="76" name="">
            <a:extLst xmlns:a="http://schemas.openxmlformats.org/drawingml/2006/main">
              <a:ext uri="{FF2B5EF4-FFF2-40B4-BE49-F238E27FC236}">
                <a16:creationId xmlns:a16="http://schemas.microsoft.com/office/drawing/2014/main" id="{8AE5B120-42AF-42B0-AD0C-9A1EB2DB691B}"/>
              </a:ext>
            </a:extLst>
          </p:cNvPr>
          <p:cNvSpPr>
            <a:spLocks xmlns:a="http://schemas.openxmlformats.org/drawingml/2006/main" noGrp="1"/>
          </p:cNvSpPr>
          <p:nvPr/>
        </p:nvSpPr>
        <p:spPr>
          <a:xfrm xmlns:a="http://schemas.openxmlformats.org/drawingml/2006/main">
            <a:off x="7048500" y="2533650"/>
            <a:ext cx="914400" cy="457200"/>
          </a:xfrm>
          <a:prstGeom xmlns:a="http://schemas.openxmlformats.org/drawingml/2006/main" prst="roundRect">
            <a:avLst>
              <a:gd name="adj" fmla="val 20833"/>
            </a:avLst>
          </a:prstGeom>
          <a:solidFill xmlns:a="http://schemas.openxmlformats.org/drawingml/2006/main">
            <a:srgbClr val="FFF0F0"/>
          </a:solidFill>
          <a:ln xmlns:a="http://schemas.openxmlformats.org/drawingml/2006/main" w="11430">
            <a:solidFill>
              <a:srgbClr val="E34A4A"/>
            </a:solidFill>
            <a:prstDash val="solid"/>
          </a:ln>
        </p:spPr>
      </p:sp>
      <p:sp>
        <p:nvSpPr>
          <p:cNvPr id="77" name="">
            <a:extLst xmlns:a="http://schemas.openxmlformats.org/drawingml/2006/main">
              <a:ext uri="{FF2B5EF4-FFF2-40B4-BE49-F238E27FC236}">
                <a16:creationId xmlns:a16="http://schemas.microsoft.com/office/drawing/2014/main" id="{83510D6F-34C8-4889-9970-29C8DE052498}"/>
              </a:ext>
            </a:extLst>
          </p:cNvPr>
          <p:cNvSpPr>
            <a:spLocks xmlns:a="http://schemas.openxmlformats.org/drawingml/2006/main" noGrp="1"/>
          </p:cNvSpPr>
          <p:nvPr/>
        </p:nvSpPr>
        <p:spPr>
          <a:xfrm xmlns:a="http://schemas.openxmlformats.org/drawingml/2006/main">
            <a:off x="7153275" y="2600325"/>
            <a:ext cx="7048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E34A4A"/>
                </a:solidFill>
                <a:latin typeface="Hiragino Sans GB"/>
                <a:ea typeface="Hiragino Sans GB"/>
                <a:cs typeface="Hiragino Sans GB"/>
              </a:defRPr>
            </a:pPr>
            <a:r>
              <a:rPr sz="750" b="1">
                <a:solidFill>
                  <a:srgbClr val="E34A4A"/>
                </a:solidFill>
                <a:latin typeface="Hiragino Sans GB"/>
                <a:ea typeface="Hiragino Sans GB"/>
                <a:cs typeface="Hiragino Sans GB"/>
              </a:rPr>
              <a:t>Observation</a:t>
            </a:r>
          </a:p>
        </p:txBody>
      </p:sp>
      <p:sp>
        <p:nvSpPr>
          <p:cNvPr id="78" name="">
            <a:extLst xmlns:a="http://schemas.openxmlformats.org/drawingml/2006/main">
              <a:ext uri="{FF2B5EF4-FFF2-40B4-BE49-F238E27FC236}">
                <a16:creationId xmlns:a16="http://schemas.microsoft.com/office/drawing/2014/main" id="{981DB77C-B854-4ADB-819D-9E85A9BB44F5}"/>
              </a:ext>
            </a:extLst>
          </p:cNvPr>
          <p:cNvSpPr>
            <a:spLocks xmlns:a="http://schemas.openxmlformats.org/drawingml/2006/main" noGrp="1"/>
          </p:cNvSpPr>
          <p:nvPr/>
        </p:nvSpPr>
        <p:spPr>
          <a:xfrm xmlns:a="http://schemas.openxmlformats.org/drawingml/2006/main">
            <a:off x="7153275" y="2771775"/>
            <a:ext cx="704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142735"/>
                </a:solidFill>
                <a:latin typeface="Hiragino Sans GB"/>
                <a:ea typeface="Hiragino Sans GB"/>
                <a:cs typeface="Hiragino Sans GB"/>
              </a:defRPr>
            </a:pPr>
            <a:r>
              <a:rPr sz="975" b="1">
                <a:solidFill>
                  <a:srgbClr val="142735"/>
                </a:solidFill>
                <a:latin typeface="Hiragino Sans GB"/>
                <a:ea typeface="Hiragino Sans GB"/>
                <a:cs typeface="Hiragino Sans GB"/>
              </a:rPr>
              <a:t>是</a:t>
            </a:r>
          </a:p>
        </p:txBody>
      </p:sp>
      <p:sp>
        <p:nvSpPr>
          <p:cNvPr id="79" name="">
            <a:extLst xmlns:a="http://schemas.openxmlformats.org/drawingml/2006/main">
              <a:ext uri="{FF2B5EF4-FFF2-40B4-BE49-F238E27FC236}">
                <a16:creationId xmlns:a16="http://schemas.microsoft.com/office/drawing/2014/main" id="{200D6BA4-6187-4FCF-9DA4-CC266B992C72}"/>
              </a:ext>
            </a:extLst>
          </p:cNvPr>
          <p:cNvSpPr>
            <a:spLocks xmlns:a="http://schemas.openxmlformats.org/drawingml/2006/main" noGrp="1"/>
          </p:cNvSpPr>
          <p:nvPr/>
        </p:nvSpPr>
        <p:spPr>
          <a:xfrm xmlns:a="http://schemas.openxmlformats.org/drawingml/2006/main">
            <a:off x="8248650" y="2533650"/>
            <a:ext cx="1771650" cy="457200"/>
          </a:xfrm>
          <a:prstGeom xmlns:a="http://schemas.openxmlformats.org/drawingml/2006/main" prst="roundRect">
            <a:avLst>
              <a:gd name="adj" fmla="val 20833"/>
            </a:avLst>
          </a:prstGeom>
          <a:solidFill xmlns:a="http://schemas.openxmlformats.org/drawingml/2006/main">
            <a:srgbClr val="F3EEFF"/>
          </a:solidFill>
          <a:ln xmlns:a="http://schemas.openxmlformats.org/drawingml/2006/main" w="11430">
            <a:solidFill>
              <a:srgbClr val="7B61C9"/>
            </a:solidFill>
            <a:prstDash val="solid"/>
          </a:ln>
        </p:spPr>
      </p:sp>
      <p:sp>
        <p:nvSpPr>
          <p:cNvPr id="80" name="">
            <a:extLst xmlns:a="http://schemas.openxmlformats.org/drawingml/2006/main">
              <a:ext uri="{FF2B5EF4-FFF2-40B4-BE49-F238E27FC236}">
                <a16:creationId xmlns:a16="http://schemas.microsoft.com/office/drawing/2014/main" id="{932E6269-836C-4436-B088-45C737802723}"/>
              </a:ext>
            </a:extLst>
          </p:cNvPr>
          <p:cNvSpPr>
            <a:spLocks xmlns:a="http://schemas.openxmlformats.org/drawingml/2006/main" noGrp="1"/>
          </p:cNvSpPr>
          <p:nvPr/>
        </p:nvSpPr>
        <p:spPr>
          <a:xfrm xmlns:a="http://schemas.openxmlformats.org/drawingml/2006/main">
            <a:off x="8353425" y="2600325"/>
            <a:ext cx="1562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7B61C9"/>
                </a:solidFill>
                <a:latin typeface="Hiragino Sans GB"/>
                <a:ea typeface="Hiragino Sans GB"/>
                <a:cs typeface="Hiragino Sans GB"/>
              </a:defRPr>
            </a:pPr>
            <a:r>
              <a:rPr sz="750" b="1">
                <a:solidFill>
                  <a:srgbClr val="7B61C9"/>
                </a:solidFill>
                <a:latin typeface="Hiragino Sans GB"/>
                <a:ea typeface="Hiragino Sans GB"/>
                <a:cs typeface="Hiragino Sans GB"/>
              </a:rPr>
              <a:t>Question 2</a:t>
            </a:r>
          </a:p>
        </p:txBody>
      </p:sp>
      <p:sp>
        <p:nvSpPr>
          <p:cNvPr id="81" name="">
            <a:extLst xmlns:a="http://schemas.openxmlformats.org/drawingml/2006/main">
              <a:ext uri="{FF2B5EF4-FFF2-40B4-BE49-F238E27FC236}">
                <a16:creationId xmlns:a16="http://schemas.microsoft.com/office/drawing/2014/main" id="{71832526-D079-4D58-81AF-5D08ED4E73E1}"/>
              </a:ext>
            </a:extLst>
          </p:cNvPr>
          <p:cNvSpPr>
            <a:spLocks xmlns:a="http://schemas.openxmlformats.org/drawingml/2006/main" noGrp="1"/>
          </p:cNvSpPr>
          <p:nvPr/>
        </p:nvSpPr>
        <p:spPr>
          <a:xfrm xmlns:a="http://schemas.openxmlformats.org/drawingml/2006/main">
            <a:off x="8353425" y="2771775"/>
            <a:ext cx="1562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环境变量缺失？</a:t>
            </a:r>
          </a:p>
        </p:txBody>
      </p:sp>
      <p:sp>
        <p:nvSpPr>
          <p:cNvPr id="82" name="">
            <a:extLst xmlns:a="http://schemas.openxmlformats.org/drawingml/2006/main">
              <a:ext uri="{FF2B5EF4-FFF2-40B4-BE49-F238E27FC236}">
                <a16:creationId xmlns:a16="http://schemas.microsoft.com/office/drawing/2014/main" id="{7B34D890-F933-4C45-9F57-871F64EBFB22}"/>
              </a:ext>
            </a:extLst>
          </p:cNvPr>
          <p:cNvSpPr>
            <a:spLocks xmlns:a="http://schemas.openxmlformats.org/drawingml/2006/main" noGrp="1"/>
          </p:cNvSpPr>
          <p:nvPr/>
        </p:nvSpPr>
        <p:spPr>
          <a:xfrm xmlns:a="http://schemas.openxmlformats.org/drawingml/2006/main">
            <a:off x="10248900" y="2533650"/>
            <a:ext cx="1028700" cy="457200"/>
          </a:xfrm>
          <a:prstGeom xmlns:a="http://schemas.openxmlformats.org/drawingml/2006/main" prst="roundRect">
            <a:avLst>
              <a:gd name="adj" fmla="val 20833"/>
            </a:avLst>
          </a:prstGeom>
          <a:solidFill xmlns:a="http://schemas.openxmlformats.org/drawingml/2006/main">
            <a:srgbClr val="FFF0F0"/>
          </a:solidFill>
          <a:ln xmlns:a="http://schemas.openxmlformats.org/drawingml/2006/main" w="11430">
            <a:solidFill>
              <a:srgbClr val="E34A4A"/>
            </a:solidFill>
            <a:prstDash val="solid"/>
          </a:ln>
        </p:spPr>
      </p:sp>
      <p:sp>
        <p:nvSpPr>
          <p:cNvPr id="83" name="">
            <a:extLst xmlns:a="http://schemas.openxmlformats.org/drawingml/2006/main">
              <a:ext uri="{FF2B5EF4-FFF2-40B4-BE49-F238E27FC236}">
                <a16:creationId xmlns:a16="http://schemas.microsoft.com/office/drawing/2014/main" id="{232FE081-FFC7-4A89-9A0C-2466EB3C3A8B}"/>
              </a:ext>
            </a:extLst>
          </p:cNvPr>
          <p:cNvSpPr>
            <a:spLocks xmlns:a="http://schemas.openxmlformats.org/drawingml/2006/main" noGrp="1"/>
          </p:cNvSpPr>
          <p:nvPr/>
        </p:nvSpPr>
        <p:spPr>
          <a:xfrm xmlns:a="http://schemas.openxmlformats.org/drawingml/2006/main">
            <a:off x="10353675" y="2600325"/>
            <a:ext cx="819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E34A4A"/>
                </a:solidFill>
                <a:latin typeface="Hiragino Sans GB"/>
                <a:ea typeface="Hiragino Sans GB"/>
                <a:cs typeface="Hiragino Sans GB"/>
              </a:defRPr>
            </a:pPr>
            <a:r>
              <a:rPr sz="750" b="1">
                <a:solidFill>
                  <a:srgbClr val="E34A4A"/>
                </a:solidFill>
                <a:latin typeface="Hiragino Sans GB"/>
                <a:ea typeface="Hiragino Sans GB"/>
                <a:cs typeface="Hiragino Sans GB"/>
              </a:rPr>
              <a:t>Observation</a:t>
            </a:r>
          </a:p>
        </p:txBody>
      </p:sp>
      <p:sp>
        <p:nvSpPr>
          <p:cNvPr id="84" name="">
            <a:extLst xmlns:a="http://schemas.openxmlformats.org/drawingml/2006/main">
              <a:ext uri="{FF2B5EF4-FFF2-40B4-BE49-F238E27FC236}">
                <a16:creationId xmlns:a16="http://schemas.microsoft.com/office/drawing/2014/main" id="{9B523100-0AC7-43B6-85C8-454C6593822B}"/>
              </a:ext>
            </a:extLst>
          </p:cNvPr>
          <p:cNvSpPr>
            <a:spLocks xmlns:a="http://schemas.openxmlformats.org/drawingml/2006/main" noGrp="1"/>
          </p:cNvSpPr>
          <p:nvPr/>
        </p:nvSpPr>
        <p:spPr>
          <a:xfrm xmlns:a="http://schemas.openxmlformats.org/drawingml/2006/main">
            <a:off x="10353675" y="2771775"/>
            <a:ext cx="819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142735"/>
                </a:solidFill>
                <a:latin typeface="Hiragino Sans GB"/>
                <a:ea typeface="Hiragino Sans GB"/>
                <a:cs typeface="Hiragino Sans GB"/>
              </a:defRPr>
            </a:pPr>
            <a:r>
              <a:rPr sz="975" b="1">
                <a:solidFill>
                  <a:srgbClr val="142735"/>
                </a:solidFill>
                <a:latin typeface="Hiragino Sans GB"/>
                <a:ea typeface="Hiragino Sans GB"/>
                <a:cs typeface="Hiragino Sans GB"/>
              </a:rPr>
              <a:t>否</a:t>
            </a:r>
          </a:p>
        </p:txBody>
      </p:sp>
      <p:sp>
        <p:nvSpPr>
          <p:cNvPr id="85" name="">
            <a:extLst xmlns:a="http://schemas.openxmlformats.org/drawingml/2006/main">
              <a:ext uri="{FF2B5EF4-FFF2-40B4-BE49-F238E27FC236}">
                <a16:creationId xmlns:a16="http://schemas.microsoft.com/office/drawing/2014/main" id="{3A78AAB2-BECF-4642-B835-EFF696843150}"/>
              </a:ext>
            </a:extLst>
          </p:cNvPr>
          <p:cNvSpPr>
            <a:spLocks xmlns:a="http://schemas.openxmlformats.org/drawingml/2006/main" noGrp="1"/>
          </p:cNvSpPr>
          <p:nvPr/>
        </p:nvSpPr>
        <p:spPr>
          <a:xfrm xmlns:a="http://schemas.openxmlformats.org/drawingml/2006/main">
            <a:off x="7429500" y="3409950"/>
            <a:ext cx="2209800" cy="457200"/>
          </a:xfrm>
          <a:prstGeom xmlns:a="http://schemas.openxmlformats.org/drawingml/2006/main" prst="roundRect">
            <a:avLst>
              <a:gd name="adj" fmla="val 20833"/>
            </a:avLst>
          </a:prstGeom>
          <a:solidFill xmlns:a="http://schemas.openxmlformats.org/drawingml/2006/main">
            <a:srgbClr val="FFF7E8"/>
          </a:solidFill>
          <a:ln xmlns:a="http://schemas.openxmlformats.org/drawingml/2006/main" w="11430">
            <a:solidFill>
              <a:srgbClr val="F59E0B"/>
            </a:solidFill>
            <a:prstDash val="solid"/>
          </a:ln>
        </p:spPr>
      </p:sp>
      <p:sp>
        <p:nvSpPr>
          <p:cNvPr id="86" name="">
            <a:extLst xmlns:a="http://schemas.openxmlformats.org/drawingml/2006/main">
              <a:ext uri="{FF2B5EF4-FFF2-40B4-BE49-F238E27FC236}">
                <a16:creationId xmlns:a16="http://schemas.microsoft.com/office/drawing/2014/main" id="{0BF768D0-0879-4556-BB80-C736D9538C55}"/>
              </a:ext>
            </a:extLst>
          </p:cNvPr>
          <p:cNvSpPr>
            <a:spLocks xmlns:a="http://schemas.openxmlformats.org/drawingml/2006/main" noGrp="1"/>
          </p:cNvSpPr>
          <p:nvPr/>
        </p:nvSpPr>
        <p:spPr>
          <a:xfrm xmlns:a="http://schemas.openxmlformats.org/drawingml/2006/main">
            <a:off x="7534275" y="3476625"/>
            <a:ext cx="2000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F59E0B"/>
                </a:solidFill>
                <a:latin typeface="Hiragino Sans GB"/>
                <a:ea typeface="Hiragino Sans GB"/>
                <a:cs typeface="Hiragino Sans GB"/>
              </a:defRPr>
            </a:pPr>
            <a:r>
              <a:rPr sz="750" b="1">
                <a:solidFill>
                  <a:srgbClr val="F59E0B"/>
                </a:solidFill>
                <a:latin typeface="Hiragino Sans GB"/>
                <a:ea typeface="Hiragino Sans GB"/>
                <a:cs typeface="Hiragino Sans GB"/>
              </a:rPr>
              <a:t>Cause</a:t>
            </a:r>
          </a:p>
        </p:txBody>
      </p:sp>
      <p:sp>
        <p:nvSpPr>
          <p:cNvPr id="87" name="">
            <a:extLst xmlns:a="http://schemas.openxmlformats.org/drawingml/2006/main">
              <a:ext uri="{FF2B5EF4-FFF2-40B4-BE49-F238E27FC236}">
                <a16:creationId xmlns:a16="http://schemas.microsoft.com/office/drawing/2014/main" id="{4139610F-5631-461D-9C87-1A0674D9DCA9}"/>
              </a:ext>
            </a:extLst>
          </p:cNvPr>
          <p:cNvSpPr>
            <a:spLocks xmlns:a="http://schemas.openxmlformats.org/drawingml/2006/main" noGrp="1"/>
          </p:cNvSpPr>
          <p:nvPr/>
        </p:nvSpPr>
        <p:spPr>
          <a:xfrm xmlns:a="http://schemas.openxmlformats.org/drawingml/2006/main">
            <a:off x="7534275" y="364807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Hiragino Sans GB"/>
                <a:ea typeface="Hiragino Sans GB"/>
                <a:cs typeface="Hiragino Sans GB"/>
              </a:defRPr>
            </a:pPr>
            <a:r>
              <a:rPr sz="1050" b="1">
                <a:solidFill>
                  <a:srgbClr val="142735"/>
                </a:solidFill>
                <a:latin typeface="Hiragino Sans GB"/>
                <a:ea typeface="Hiragino Sans GB"/>
                <a:cs typeface="Hiragino Sans GB"/>
              </a:rPr>
              <a:t>服务地址配置错误</a:t>
            </a:r>
          </a:p>
        </p:txBody>
      </p:sp>
      <p:sp>
        <p:nvSpPr>
          <p:cNvPr id="88" name="">
            <a:extLst xmlns:a="http://schemas.openxmlformats.org/drawingml/2006/main">
              <a:ext uri="{FF2B5EF4-FFF2-40B4-BE49-F238E27FC236}">
                <a16:creationId xmlns:a16="http://schemas.microsoft.com/office/drawing/2014/main" id="{608C7BD7-4634-4833-9E59-749D6FBB46B5}"/>
              </a:ext>
            </a:extLst>
          </p:cNvPr>
          <p:cNvSpPr>
            <a:spLocks xmlns:a="http://schemas.openxmlformats.org/drawingml/2006/main" noGrp="1"/>
          </p:cNvSpPr>
          <p:nvPr/>
        </p:nvSpPr>
        <p:spPr>
          <a:xfrm xmlns:a="http://schemas.openxmlformats.org/drawingml/2006/main">
            <a:off x="6629400" y="4133850"/>
            <a:ext cx="3810000" cy="419100"/>
          </a:xfrm>
          <a:prstGeom xmlns:a="http://schemas.openxmlformats.org/drawingml/2006/main" prst="roundRect">
            <a:avLst>
              <a:gd name="adj" fmla="val 22727"/>
            </a:avLst>
          </a:prstGeom>
          <a:solidFill xmlns:a="http://schemas.openxmlformats.org/drawingml/2006/main">
            <a:srgbClr val="EAF8F3"/>
          </a:solidFill>
          <a:ln xmlns:a="http://schemas.openxmlformats.org/drawingml/2006/main" w="11430">
            <a:solidFill>
              <a:srgbClr val="168B6B"/>
            </a:solidFill>
            <a:prstDash val="solid"/>
          </a:ln>
        </p:spPr>
      </p:sp>
      <p:sp>
        <p:nvSpPr>
          <p:cNvPr id="89" name="">
            <a:extLst xmlns:a="http://schemas.openxmlformats.org/drawingml/2006/main">
              <a:ext uri="{FF2B5EF4-FFF2-40B4-BE49-F238E27FC236}">
                <a16:creationId xmlns:a16="http://schemas.microsoft.com/office/drawing/2014/main" id="{42A4C3C7-FD3E-4870-B555-735EF8B466F7}"/>
              </a:ext>
            </a:extLst>
          </p:cNvPr>
          <p:cNvSpPr>
            <a:spLocks xmlns:a="http://schemas.openxmlformats.org/drawingml/2006/main" noGrp="1"/>
          </p:cNvSpPr>
          <p:nvPr/>
        </p:nvSpPr>
        <p:spPr>
          <a:xfrm xmlns:a="http://schemas.openxmlformats.org/drawingml/2006/main">
            <a:off x="6734175" y="4200525"/>
            <a:ext cx="3600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68B6B"/>
                </a:solidFill>
                <a:latin typeface="Hiragino Sans GB"/>
                <a:ea typeface="Hiragino Sans GB"/>
                <a:cs typeface="Hiragino Sans GB"/>
              </a:defRPr>
            </a:pPr>
            <a:r>
              <a:rPr sz="750" b="1">
                <a:solidFill>
                  <a:srgbClr val="168B6B"/>
                </a:solidFill>
                <a:latin typeface="Hiragino Sans GB"/>
                <a:ea typeface="Hiragino Sans GB"/>
                <a:cs typeface="Hiragino Sans GB"/>
              </a:rPr>
              <a:t>DeploymentContext</a:t>
            </a:r>
          </a:p>
        </p:txBody>
      </p:sp>
      <p:sp>
        <p:nvSpPr>
          <p:cNvPr id="90" name="">
            <a:extLst xmlns:a="http://schemas.openxmlformats.org/drawingml/2006/main">
              <a:ext uri="{FF2B5EF4-FFF2-40B4-BE49-F238E27FC236}">
                <a16:creationId xmlns:a16="http://schemas.microsoft.com/office/drawing/2014/main" id="{FEBA3B0B-3FB3-42C9-9895-F9253770F46D}"/>
              </a:ext>
            </a:extLst>
          </p:cNvPr>
          <p:cNvSpPr>
            <a:spLocks xmlns:a="http://schemas.openxmlformats.org/drawingml/2006/main" noGrp="1"/>
          </p:cNvSpPr>
          <p:nvPr/>
        </p:nvSpPr>
        <p:spPr>
          <a:xfrm xmlns:a="http://schemas.openxmlformats.org/drawingml/2006/main">
            <a:off x="6734175" y="4371975"/>
            <a:ext cx="36004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593"/>
          </a:bodyPr>
          <a:lstStyle xmlns:a="http://schemas.openxmlformats.org/drawingml/2006/main"/>
          <a:p xmlns:a="http://schemas.openxmlformats.org/drawingml/2006/main">
            <a:pPr algn="ctr">
              <a:lnSpc>
                <a:spcPct val="105000"/>
              </a:lnSpc>
              <a:buNone/>
              <a:defRPr sz="900" b="1">
                <a:solidFill>
                  <a:srgbClr val="142735"/>
                </a:solidFill>
                <a:latin typeface="Hiragino Sans GB"/>
                <a:ea typeface="Hiragino Sans GB"/>
                <a:cs typeface="Hiragino Sans GB"/>
              </a:defRPr>
            </a:pPr>
            <a:r>
              <a:rPr sz="900" b="1">
                <a:solidFill>
                  <a:srgbClr val="142735"/>
                </a:solidFill>
                <a:latin typeface="Hiragino Sans GB"/>
                <a:ea typeface="Hiragino Sans GB"/>
                <a:cs typeface="Hiragino Sans GB"/>
              </a:rPr>
              <a:t>Open WebUI容器访问宿主机Ollama</a:t>
            </a:r>
          </a:p>
        </p:txBody>
      </p:sp>
      <p:sp>
        <p:nvSpPr>
          <p:cNvPr id="91" name="">
            <a:extLst xmlns:a="http://schemas.openxmlformats.org/drawingml/2006/main">
              <a:ext uri="{FF2B5EF4-FFF2-40B4-BE49-F238E27FC236}">
                <a16:creationId xmlns:a16="http://schemas.microsoft.com/office/drawing/2014/main" id="{94F5BD9F-C60F-4E74-92C1-B4B634C8A020}"/>
              </a:ext>
            </a:extLst>
          </p:cNvPr>
          <p:cNvSpPr>
            <a:spLocks xmlns:a="http://schemas.openxmlformats.org/drawingml/2006/main" noGrp="1"/>
          </p:cNvSpPr>
          <p:nvPr/>
        </p:nvSpPr>
        <p:spPr>
          <a:xfrm xmlns:a="http://schemas.openxmlformats.org/drawingml/2006/main">
            <a:off x="5619750" y="4781550"/>
            <a:ext cx="582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a:solidFill>
                  <a:srgbClr val="5B6B78"/>
                </a:solidFill>
                <a:latin typeface="Hiragino Sans GB"/>
                <a:ea typeface="Hiragino Sans GB"/>
                <a:cs typeface="Hiragino Sans GB"/>
              </a:defRPr>
            </a:pPr>
            <a:r>
              <a:rPr sz="900" b="1">
                <a:solidFill>
                  <a:srgbClr val="5B6B78"/>
                </a:solidFill>
                <a:latin typeface="Hiragino Sans GB"/>
                <a:ea typeface="Hiragino Sans GB"/>
                <a:cs typeface="Hiragino Sans GB"/>
              </a:rPr>
              <a:t>Service × 2　Endpoint　Package　Platform　VersionConstraint</a:t>
            </a:r>
          </a:p>
        </p:txBody>
      </p:sp>
      <p:sp>
        <p:nvSpPr>
          <p:cNvPr id="92" name="">
            <a:extLst xmlns:a="http://schemas.openxmlformats.org/drawingml/2006/main">
              <a:ext uri="{FF2B5EF4-FFF2-40B4-BE49-F238E27FC236}">
                <a16:creationId xmlns:a16="http://schemas.microsoft.com/office/drawing/2014/main" id="{113C310C-BD52-46A0-B061-58FF2BACABAB}"/>
              </a:ext>
            </a:extLst>
          </p:cNvPr>
          <p:cNvSpPr>
            <a:spLocks xmlns:a="http://schemas.openxmlformats.org/drawingml/2006/main" noGrp="1"/>
          </p:cNvSpPr>
          <p:nvPr/>
        </p:nvSpPr>
        <p:spPr>
          <a:xfrm xmlns:a="http://schemas.openxmlformats.org/drawingml/2006/main">
            <a:off x="5067300" y="5086350"/>
            <a:ext cx="1447800" cy="495300"/>
          </a:xfrm>
          <a:prstGeom xmlns:a="http://schemas.openxmlformats.org/drawingml/2006/main" prst="roundRect">
            <a:avLst>
              <a:gd name="adj" fmla="val 19231"/>
            </a:avLst>
          </a:prstGeom>
          <a:solidFill xmlns:a="http://schemas.openxmlformats.org/drawingml/2006/main">
            <a:srgbClr val="EAF8F3"/>
          </a:solidFill>
          <a:ln xmlns:a="http://schemas.openxmlformats.org/drawingml/2006/main" w="11430">
            <a:solidFill>
              <a:srgbClr val="168B6B"/>
            </a:solidFill>
            <a:prstDash val="solid"/>
          </a:ln>
        </p:spPr>
      </p:sp>
      <p:sp>
        <p:nvSpPr>
          <p:cNvPr id="93" name="">
            <a:extLst xmlns:a="http://schemas.openxmlformats.org/drawingml/2006/main">
              <a:ext uri="{FF2B5EF4-FFF2-40B4-BE49-F238E27FC236}">
                <a16:creationId xmlns:a16="http://schemas.microsoft.com/office/drawing/2014/main" id="{B2C12D3A-4E32-4D6D-A430-C855781498E4}"/>
              </a:ext>
            </a:extLst>
          </p:cNvPr>
          <p:cNvSpPr>
            <a:spLocks xmlns:a="http://schemas.openxmlformats.org/drawingml/2006/main" noGrp="1"/>
          </p:cNvSpPr>
          <p:nvPr/>
        </p:nvSpPr>
        <p:spPr>
          <a:xfrm xmlns:a="http://schemas.openxmlformats.org/drawingml/2006/main">
            <a:off x="5172075" y="5153025"/>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68B6B"/>
                </a:solidFill>
                <a:latin typeface="Hiragino Sans GB"/>
                <a:ea typeface="Hiragino Sans GB"/>
                <a:cs typeface="Hiragino Sans GB"/>
              </a:defRPr>
            </a:pPr>
            <a:r>
              <a:rPr sz="750" b="1">
                <a:solidFill>
                  <a:srgbClr val="168B6B"/>
                </a:solidFill>
                <a:latin typeface="Hiragino Sans GB"/>
                <a:ea typeface="Hiragino Sans GB"/>
                <a:cs typeface="Hiragino Sans GB"/>
              </a:rPr>
              <a:t>DiagnosticCheck</a:t>
            </a:r>
          </a:p>
        </p:txBody>
      </p:sp>
      <p:sp>
        <p:nvSpPr>
          <p:cNvPr id="94" name="">
            <a:extLst xmlns:a="http://schemas.openxmlformats.org/drawingml/2006/main">
              <a:ext uri="{FF2B5EF4-FFF2-40B4-BE49-F238E27FC236}">
                <a16:creationId xmlns:a16="http://schemas.microsoft.com/office/drawing/2014/main" id="{2870E3FC-8706-4444-AA21-E879541AA963}"/>
              </a:ext>
            </a:extLst>
          </p:cNvPr>
          <p:cNvSpPr>
            <a:spLocks xmlns:a="http://schemas.openxmlformats.org/drawingml/2006/main" noGrp="1"/>
          </p:cNvSpPr>
          <p:nvPr/>
        </p:nvSpPr>
        <p:spPr>
          <a:xfrm xmlns:a="http://schemas.openxmlformats.org/drawingml/2006/main">
            <a:off x="5172075" y="532447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容器访问 /api/tags</a:t>
            </a:r>
          </a:p>
        </p:txBody>
      </p:sp>
      <p:sp>
        <p:nvSpPr>
          <p:cNvPr id="95" name="">
            <a:extLst xmlns:a="http://schemas.openxmlformats.org/drawingml/2006/main">
              <a:ext uri="{FF2B5EF4-FFF2-40B4-BE49-F238E27FC236}">
                <a16:creationId xmlns:a16="http://schemas.microsoft.com/office/drawing/2014/main" id="{1533AD9E-8E59-4DE3-A7F0-C2AD1C12D25D}"/>
              </a:ext>
            </a:extLst>
          </p:cNvPr>
          <p:cNvSpPr>
            <a:spLocks xmlns:a="http://schemas.openxmlformats.org/drawingml/2006/main" noGrp="1"/>
          </p:cNvSpPr>
          <p:nvPr/>
        </p:nvSpPr>
        <p:spPr>
          <a:xfrm xmlns:a="http://schemas.openxmlformats.org/drawingml/2006/main">
            <a:off x="6724650" y="5086350"/>
            <a:ext cx="1352550" cy="495300"/>
          </a:xfrm>
          <a:prstGeom xmlns:a="http://schemas.openxmlformats.org/drawingml/2006/main" prst="roundRect">
            <a:avLst>
              <a:gd name="adj" fmla="val 19231"/>
            </a:avLst>
          </a:prstGeom>
          <a:solidFill xmlns:a="http://schemas.openxmlformats.org/drawingml/2006/main">
            <a:srgbClr val="EEF5FF"/>
          </a:solidFill>
          <a:ln xmlns:a="http://schemas.openxmlformats.org/drawingml/2006/main" w="11430">
            <a:solidFill>
              <a:srgbClr val="1F5FBF"/>
            </a:solidFill>
            <a:prstDash val="solid"/>
          </a:ln>
        </p:spPr>
      </p:sp>
      <p:sp>
        <p:nvSpPr>
          <p:cNvPr id="96" name="">
            <a:extLst xmlns:a="http://schemas.openxmlformats.org/drawingml/2006/main">
              <a:ext uri="{FF2B5EF4-FFF2-40B4-BE49-F238E27FC236}">
                <a16:creationId xmlns:a16="http://schemas.microsoft.com/office/drawing/2014/main" id="{C8CE7764-238E-4BAC-A53D-B2B660C09FE2}"/>
              </a:ext>
            </a:extLst>
          </p:cNvPr>
          <p:cNvSpPr>
            <a:spLocks xmlns:a="http://schemas.openxmlformats.org/drawingml/2006/main" noGrp="1"/>
          </p:cNvSpPr>
          <p:nvPr/>
        </p:nvSpPr>
        <p:spPr>
          <a:xfrm xmlns:a="http://schemas.openxmlformats.org/drawingml/2006/main">
            <a:off x="6829425" y="5153025"/>
            <a:ext cx="1143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F5FBF"/>
                </a:solidFill>
                <a:latin typeface="Hiragino Sans GB"/>
                <a:ea typeface="Hiragino Sans GB"/>
                <a:cs typeface="Hiragino Sans GB"/>
              </a:defRPr>
            </a:pPr>
            <a:r>
              <a:rPr sz="750" b="1">
                <a:solidFill>
                  <a:srgbClr val="1F5FBF"/>
                </a:solidFill>
                <a:latin typeface="Hiragino Sans GB"/>
                <a:ea typeface="Hiragino Sans GB"/>
                <a:cs typeface="Hiragino Sans GB"/>
              </a:rPr>
              <a:t>RepairAction</a:t>
            </a:r>
          </a:p>
        </p:txBody>
      </p:sp>
      <p:sp>
        <p:nvSpPr>
          <p:cNvPr id="97" name="">
            <a:extLst xmlns:a="http://schemas.openxmlformats.org/drawingml/2006/main">
              <a:ext uri="{FF2B5EF4-FFF2-40B4-BE49-F238E27FC236}">
                <a16:creationId xmlns:a16="http://schemas.microsoft.com/office/drawing/2014/main" id="{3651649C-C0FC-4792-AAD9-E30D070F8081}"/>
              </a:ext>
            </a:extLst>
          </p:cNvPr>
          <p:cNvSpPr>
            <a:spLocks xmlns:a="http://schemas.openxmlformats.org/drawingml/2006/main" noGrp="1"/>
          </p:cNvSpPr>
          <p:nvPr/>
        </p:nvSpPr>
        <p:spPr>
          <a:xfrm xmlns:a="http://schemas.openxmlformats.org/drawingml/2006/main">
            <a:off x="6829425" y="53244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515"/>
          </a:bodyPr>
          <a:lstStyle xmlns:a="http://schemas.openxmlformats.org/drawingml/2006/main"/>
          <a:p xmlns:a="http://schemas.openxmlformats.org/drawingml/2006/main">
            <a:pPr algn="ctr">
              <a:lnSpc>
                <a:spcPct val="105000"/>
              </a:lnSpc>
              <a:buNone/>
              <a:defRPr sz="750" b="1">
                <a:solidFill>
                  <a:srgbClr val="142735"/>
                </a:solidFill>
                <a:latin typeface="Hiragino Sans GB"/>
                <a:ea typeface="Hiragino Sans GB"/>
                <a:cs typeface="Hiragino Sans GB"/>
              </a:defRPr>
            </a:pPr>
            <a:r>
              <a:rPr sz="750" b="1">
                <a:solidFill>
                  <a:srgbClr val="142735"/>
                </a:solidFill>
                <a:latin typeface="Hiragino Sans GB"/>
                <a:ea typeface="Hiragino Sans GB"/>
                <a:cs typeface="Hiragino Sans GB"/>
              </a:rPr>
              <a:t>配置 OLLAMA_BASE_URL</a:t>
            </a:r>
          </a:p>
        </p:txBody>
      </p:sp>
      <p:sp>
        <p:nvSpPr>
          <p:cNvPr id="98" name="">
            <a:extLst xmlns:a="http://schemas.openxmlformats.org/drawingml/2006/main">
              <a:ext uri="{FF2B5EF4-FFF2-40B4-BE49-F238E27FC236}">
                <a16:creationId xmlns:a16="http://schemas.microsoft.com/office/drawing/2014/main" id="{5F745151-F536-45DA-87DF-B795C85F02BA}"/>
              </a:ext>
            </a:extLst>
          </p:cNvPr>
          <p:cNvSpPr>
            <a:spLocks xmlns:a="http://schemas.openxmlformats.org/drawingml/2006/main" noGrp="1"/>
          </p:cNvSpPr>
          <p:nvPr/>
        </p:nvSpPr>
        <p:spPr>
          <a:xfrm xmlns:a="http://schemas.openxmlformats.org/drawingml/2006/main">
            <a:off x="8286750" y="5086350"/>
            <a:ext cx="1352550" cy="495300"/>
          </a:xfrm>
          <a:prstGeom xmlns:a="http://schemas.openxmlformats.org/drawingml/2006/main" prst="roundRect">
            <a:avLst>
              <a:gd name="adj" fmla="val 19231"/>
            </a:avLst>
          </a:prstGeom>
          <a:solidFill xmlns:a="http://schemas.openxmlformats.org/drawingml/2006/main">
            <a:srgbClr val="FFF0F0"/>
          </a:solidFill>
          <a:ln xmlns:a="http://schemas.openxmlformats.org/drawingml/2006/main" w="11430">
            <a:solidFill>
              <a:srgbClr val="E34A4A"/>
            </a:solidFill>
            <a:prstDash val="solid"/>
          </a:ln>
        </p:spPr>
      </p:sp>
      <p:sp>
        <p:nvSpPr>
          <p:cNvPr id="99" name="">
            <a:extLst xmlns:a="http://schemas.openxmlformats.org/drawingml/2006/main">
              <a:ext uri="{FF2B5EF4-FFF2-40B4-BE49-F238E27FC236}">
                <a16:creationId xmlns:a16="http://schemas.microsoft.com/office/drawing/2014/main" id="{5C2D7E10-57F2-4662-A895-8F603ABB19BC}"/>
              </a:ext>
            </a:extLst>
          </p:cNvPr>
          <p:cNvSpPr>
            <a:spLocks xmlns:a="http://schemas.openxmlformats.org/drawingml/2006/main" noGrp="1"/>
          </p:cNvSpPr>
          <p:nvPr/>
        </p:nvSpPr>
        <p:spPr>
          <a:xfrm xmlns:a="http://schemas.openxmlformats.org/drawingml/2006/main">
            <a:off x="8391525" y="5153025"/>
            <a:ext cx="1143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E34A4A"/>
                </a:solidFill>
                <a:latin typeface="Hiragino Sans GB"/>
                <a:ea typeface="Hiragino Sans GB"/>
                <a:cs typeface="Hiragino Sans GB"/>
              </a:defRPr>
            </a:pPr>
            <a:r>
              <a:rPr sz="750" b="1">
                <a:solidFill>
                  <a:srgbClr val="E34A4A"/>
                </a:solidFill>
                <a:latin typeface="Hiragino Sans GB"/>
                <a:ea typeface="Hiragino Sans GB"/>
                <a:cs typeface="Hiragino Sans GB"/>
              </a:rPr>
              <a:t>Risk</a:t>
            </a:r>
          </a:p>
        </p:txBody>
      </p:sp>
      <p:sp>
        <p:nvSpPr>
          <p:cNvPr id="100" name="">
            <a:extLst xmlns:a="http://schemas.openxmlformats.org/drawingml/2006/main">
              <a:ext uri="{FF2B5EF4-FFF2-40B4-BE49-F238E27FC236}">
                <a16:creationId xmlns:a16="http://schemas.microsoft.com/office/drawing/2014/main" id="{4247EDB2-FFDA-452A-8A3C-9E48FF9110E3}"/>
              </a:ext>
            </a:extLst>
          </p:cNvPr>
          <p:cNvSpPr>
            <a:spLocks xmlns:a="http://schemas.openxmlformats.org/drawingml/2006/main" noGrp="1"/>
          </p:cNvSpPr>
          <p:nvPr/>
        </p:nvSpPr>
        <p:spPr>
          <a:xfrm xmlns:a="http://schemas.openxmlformats.org/drawingml/2006/main">
            <a:off x="8391525" y="53244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修改前保留原值</a:t>
            </a:r>
          </a:p>
        </p:txBody>
      </p:sp>
      <p:sp>
        <p:nvSpPr>
          <p:cNvPr id="101" name="">
            <a:extLst xmlns:a="http://schemas.openxmlformats.org/drawingml/2006/main">
              <a:ext uri="{FF2B5EF4-FFF2-40B4-BE49-F238E27FC236}">
                <a16:creationId xmlns:a16="http://schemas.microsoft.com/office/drawing/2014/main" id="{9181894F-0E01-45A2-8528-643670A540F4}"/>
              </a:ext>
            </a:extLst>
          </p:cNvPr>
          <p:cNvSpPr>
            <a:spLocks xmlns:a="http://schemas.openxmlformats.org/drawingml/2006/main" noGrp="1"/>
          </p:cNvSpPr>
          <p:nvPr/>
        </p:nvSpPr>
        <p:spPr>
          <a:xfrm xmlns:a="http://schemas.openxmlformats.org/drawingml/2006/main">
            <a:off x="9848850" y="5086350"/>
            <a:ext cx="1428750" cy="495300"/>
          </a:xfrm>
          <a:prstGeom xmlns:a="http://schemas.openxmlformats.org/drawingml/2006/main" prst="roundRect">
            <a:avLst>
              <a:gd name="adj" fmla="val 19231"/>
            </a:avLst>
          </a:prstGeom>
          <a:solidFill xmlns:a="http://schemas.openxmlformats.org/drawingml/2006/main">
            <a:srgbClr val="F4F7FA"/>
          </a:solidFill>
          <a:ln xmlns:a="http://schemas.openxmlformats.org/drawingml/2006/main" w="11430">
            <a:solidFill>
              <a:srgbClr val="91A1B4"/>
            </a:solidFill>
            <a:prstDash val="solid"/>
          </a:ln>
        </p:spPr>
      </p:sp>
      <p:sp>
        <p:nvSpPr>
          <p:cNvPr id="102" name="">
            <a:extLst xmlns:a="http://schemas.openxmlformats.org/drawingml/2006/main">
              <a:ext uri="{FF2B5EF4-FFF2-40B4-BE49-F238E27FC236}">
                <a16:creationId xmlns:a16="http://schemas.microsoft.com/office/drawing/2014/main" id="{FDCC1215-F0A7-45A6-85D5-FF0774EBEC32}"/>
              </a:ext>
            </a:extLst>
          </p:cNvPr>
          <p:cNvSpPr>
            <a:spLocks xmlns:a="http://schemas.openxmlformats.org/drawingml/2006/main" noGrp="1"/>
          </p:cNvSpPr>
          <p:nvPr/>
        </p:nvSpPr>
        <p:spPr>
          <a:xfrm xmlns:a="http://schemas.openxmlformats.org/drawingml/2006/main">
            <a:off x="9953625" y="5153025"/>
            <a:ext cx="1219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91A1B4"/>
                </a:solidFill>
                <a:latin typeface="Hiragino Sans GB"/>
                <a:ea typeface="Hiragino Sans GB"/>
                <a:cs typeface="Hiragino Sans GB"/>
              </a:defRPr>
            </a:pPr>
            <a:r>
              <a:rPr sz="750" b="1">
                <a:solidFill>
                  <a:srgbClr val="91A1B4"/>
                </a:solidFill>
                <a:latin typeface="Hiragino Sans GB"/>
                <a:ea typeface="Hiragino Sans GB"/>
                <a:cs typeface="Hiragino Sans GB"/>
              </a:rPr>
              <a:t>DocumentSource</a:t>
            </a:r>
          </a:p>
        </p:txBody>
      </p:sp>
      <p:sp>
        <p:nvSpPr>
          <p:cNvPr id="103" name="">
            <a:extLst xmlns:a="http://schemas.openxmlformats.org/drawingml/2006/main">
              <a:ext uri="{FF2B5EF4-FFF2-40B4-BE49-F238E27FC236}">
                <a16:creationId xmlns:a16="http://schemas.microsoft.com/office/drawing/2014/main" id="{6F362D1A-172E-4174-A8F0-10F1C7CE882C}"/>
              </a:ext>
            </a:extLst>
          </p:cNvPr>
          <p:cNvSpPr>
            <a:spLocks xmlns:a="http://schemas.openxmlformats.org/drawingml/2006/main" noGrp="1"/>
          </p:cNvSpPr>
          <p:nvPr/>
        </p:nvSpPr>
        <p:spPr>
          <a:xfrm xmlns:a="http://schemas.openxmlformats.org/drawingml/2006/main">
            <a:off x="9953625" y="5324475"/>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825" b="1">
                <a:solidFill>
                  <a:srgbClr val="142735"/>
                </a:solidFill>
                <a:latin typeface="Hiragino Sans GB"/>
                <a:ea typeface="Hiragino Sans GB"/>
                <a:cs typeface="Hiragino Sans GB"/>
              </a:defRPr>
            </a:pPr>
            <a:r>
              <a:rPr sz="825" b="1">
                <a:solidFill>
                  <a:srgbClr val="142735"/>
                </a:solidFill>
                <a:latin typeface="Hiragino Sans GB"/>
                <a:ea typeface="Hiragino Sans GB"/>
                <a:cs typeface="Hiragino Sans GB"/>
              </a:rPr>
              <a:t>官方文档</a:t>
            </a:r>
          </a:p>
        </p:txBody>
      </p:sp>
      <p:sp>
        <p:nvSpPr>
          <p:cNvPr id="104" name="">
            <a:extLst xmlns:a="http://schemas.openxmlformats.org/drawingml/2006/main">
              <a:ext uri="{FF2B5EF4-FFF2-40B4-BE49-F238E27FC236}">
                <a16:creationId xmlns:a16="http://schemas.microsoft.com/office/drawing/2014/main" id="{DB866FEF-F316-47C7-9865-CE2998832067}"/>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最终原因确定后，图谱沿部署环境展开检查、修复、风险和来源；大模型只负责整理表达</a:t>
            </a:r>
          </a:p>
        </p:txBody>
      </p:sp>
    </p:spTree>
    <p:extLst>
      <p:ext uri="{BB962C8B-B14F-4D97-AF65-F5344CB8AC3E}">
        <p14:creationId xmlns:p14="http://schemas.microsoft.com/office/powerpoint/2010/main" val="5276337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548CE3C-CD1B-4E62-A337-24571296D3A6}"/>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BD8C00C3-3480-4064-A648-C3EAE8BCC1F3}"/>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两项优化分别带来了什么</a:t>
            </a:r>
          </a:p>
        </p:txBody>
      </p:sp>
      <p:sp>
        <p:nvSpPr>
          <p:cNvPr id="3" name="">
            <a:extLst xmlns:a="http://schemas.openxmlformats.org/drawingml/2006/main">
              <a:ext uri="{FF2B5EF4-FFF2-40B4-BE49-F238E27FC236}">
                <a16:creationId xmlns:a16="http://schemas.microsoft.com/office/drawing/2014/main" id="{EC49F3DF-32E5-4462-A55C-0FAA9C21B814}"/>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09</a:t>
            </a:r>
          </a:p>
        </p:txBody>
      </p:sp>
      <p:sp>
        <p:nvSpPr>
          <p:cNvPr id="4" name="">
            <a:extLst xmlns:a="http://schemas.openxmlformats.org/drawingml/2006/main">
              <a:ext uri="{FF2B5EF4-FFF2-40B4-BE49-F238E27FC236}">
                <a16:creationId xmlns:a16="http://schemas.microsoft.com/office/drawing/2014/main" id="{8BAF5E61-B676-451E-AFE6-1DEDD52225D6}"/>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60488E78-35C2-4FEE-9FAE-878332577F80}"/>
              </a:ext>
            </a:extLst>
          </p:cNvPr>
          <p:cNvSpPr>
            <a:spLocks xmlns:a="http://schemas.openxmlformats.org/drawingml/2006/main" noGrp="1"/>
          </p:cNvSpPr>
          <p:nvPr/>
        </p:nvSpPr>
        <p:spPr>
          <a:xfrm xmlns:a="http://schemas.openxmlformats.org/drawingml/2006/main">
            <a:off x="685800" y="14668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5B6B78"/>
                </a:solidFill>
                <a:latin typeface="Hiragino Sans GB"/>
                <a:ea typeface="Hiragino Sans GB"/>
                <a:cs typeface="Hiragino Sans GB"/>
              </a:defRPr>
            </a:pPr>
            <a:r>
              <a:rPr sz="1350" b="1">
                <a:solidFill>
                  <a:srgbClr val="5B6B78"/>
                </a:solidFill>
                <a:latin typeface="Hiragino Sans GB"/>
                <a:ea typeface="Hiragino Sans GB"/>
                <a:cs typeface="Hiragino Sans GB"/>
              </a:rPr>
              <a:t>4条新增确认记录，依次关闭或启用两项优化</a:t>
            </a:r>
          </a:p>
        </p:txBody>
      </p:sp>
      <p:sp>
        <p:nvSpPr>
          <p:cNvPr id="6" name="">
            <a:extLst xmlns:a="http://schemas.openxmlformats.org/drawingml/2006/main">
              <a:ext uri="{FF2B5EF4-FFF2-40B4-BE49-F238E27FC236}">
                <a16:creationId xmlns:a16="http://schemas.microsoft.com/office/drawing/2014/main" id="{3914B067-4FE5-4868-8EF0-FF620B1E35B0}"/>
              </a:ext>
            </a:extLst>
          </p:cNvPr>
          <p:cNvSpPr>
            <a:spLocks xmlns:a="http://schemas.openxmlformats.org/drawingml/2006/main" noGrp="1"/>
          </p:cNvSpPr>
          <p:nvPr/>
        </p:nvSpPr>
        <p:spPr>
          <a:xfrm xmlns:a="http://schemas.openxmlformats.org/drawingml/2006/main">
            <a:off x="685800" y="20383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正确原因的平均概率</a:t>
            </a:r>
          </a:p>
        </p:txBody>
      </p:sp>
      <p:sp>
        <p:nvSpPr>
          <p:cNvPr id="7" name="">
            <a:extLst xmlns:a="http://schemas.openxmlformats.org/drawingml/2006/main">
              <a:ext uri="{FF2B5EF4-FFF2-40B4-BE49-F238E27FC236}">
                <a16:creationId xmlns:a16="http://schemas.microsoft.com/office/drawing/2014/main" id="{FBCABA3C-98A2-4DF8-B094-6A0FEA21FC66}"/>
              </a:ext>
            </a:extLst>
          </p:cNvPr>
          <p:cNvSpPr>
            <a:spLocks xmlns:a="http://schemas.openxmlformats.org/drawingml/2006/main" noGrp="1"/>
          </p:cNvSpPr>
          <p:nvPr/>
        </p:nvSpPr>
        <p:spPr>
          <a:xfrm xmlns:a="http://schemas.openxmlformats.org/drawingml/2006/main">
            <a:off x="685800" y="25146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142735"/>
                </a:solidFill>
                <a:latin typeface="Hiragino Sans GB"/>
                <a:ea typeface="Hiragino Sans GB"/>
                <a:cs typeface="Hiragino Sans GB"/>
              </a:defRPr>
            </a:pPr>
            <a:r>
              <a:rPr sz="1350" b="0">
                <a:solidFill>
                  <a:srgbClr val="142735"/>
                </a:solidFill>
                <a:latin typeface="Hiragino Sans GB"/>
                <a:ea typeface="Hiragino Sans GB"/>
                <a:cs typeface="Hiragino Sans GB"/>
              </a:rPr>
              <a:t>基础版本</a:t>
            </a:r>
          </a:p>
        </p:txBody>
      </p:sp>
      <p:sp>
        <p:nvSpPr>
          <p:cNvPr id="8" name="">
            <a:extLst xmlns:a="http://schemas.openxmlformats.org/drawingml/2006/main">
              <a:ext uri="{FF2B5EF4-FFF2-40B4-BE49-F238E27FC236}">
                <a16:creationId xmlns:a16="http://schemas.microsoft.com/office/drawing/2014/main" id="{370784B2-2ADD-4298-957D-E4947C155FD5}"/>
              </a:ext>
            </a:extLst>
          </p:cNvPr>
          <p:cNvSpPr>
            <a:spLocks xmlns:a="http://schemas.openxmlformats.org/drawingml/2006/main" noGrp="1"/>
          </p:cNvSpPr>
          <p:nvPr/>
        </p:nvSpPr>
        <p:spPr>
          <a:xfrm xmlns:a="http://schemas.openxmlformats.org/drawingml/2006/main">
            <a:off x="2457450" y="2533650"/>
            <a:ext cx="4038600" cy="209550"/>
          </a:xfrm>
          <a:prstGeom xmlns:a="http://schemas.openxmlformats.org/drawingml/2006/main" prst="roundRect">
            <a:avLst>
              <a:gd name="adj" fmla="val 50000"/>
            </a:avLst>
          </a:prstGeom>
          <a:solidFill xmlns:a="http://schemas.openxmlformats.org/drawingml/2006/main">
            <a:srgbClr val="F4F7FA"/>
          </a:solidFill>
          <a:ln xmlns:a="http://schemas.openxmlformats.org/drawingml/2006/main" w="11430">
            <a:solidFill>
              <a:srgbClr val="F4F7FA"/>
            </a:solidFill>
            <a:prstDash val="solid"/>
          </a:ln>
        </p:spPr>
      </p:sp>
      <p:sp>
        <p:nvSpPr>
          <p:cNvPr id="9" name="">
            <a:extLst xmlns:a="http://schemas.openxmlformats.org/drawingml/2006/main">
              <a:ext uri="{FF2B5EF4-FFF2-40B4-BE49-F238E27FC236}">
                <a16:creationId xmlns:a16="http://schemas.microsoft.com/office/drawing/2014/main" id="{937A7A42-E750-4BA7-A262-D01FBEB6D9C8}"/>
              </a:ext>
            </a:extLst>
          </p:cNvPr>
          <p:cNvSpPr>
            <a:spLocks xmlns:a="http://schemas.openxmlformats.org/drawingml/2006/main" noGrp="1"/>
          </p:cNvSpPr>
          <p:nvPr/>
        </p:nvSpPr>
        <p:spPr>
          <a:xfrm xmlns:a="http://schemas.openxmlformats.org/drawingml/2006/main">
            <a:off x="2457450" y="2533650"/>
            <a:ext cx="2281809" cy="209550"/>
          </a:xfrm>
          <a:prstGeom xmlns:a="http://schemas.openxmlformats.org/drawingml/2006/main" prst="roundRect">
            <a:avLst>
              <a:gd name="adj" fmla="val 50000"/>
            </a:avLst>
          </a:prstGeom>
          <a:solidFill xmlns:a="http://schemas.openxmlformats.org/drawingml/2006/main">
            <a:srgbClr val="AAB6C0"/>
          </a:solidFill>
          <a:ln xmlns:a="http://schemas.openxmlformats.org/drawingml/2006/main" w="11430">
            <a:solidFill>
              <a:srgbClr val="AAB6C0"/>
            </a:solidFill>
            <a:prstDash val="solid"/>
          </a:ln>
        </p:spPr>
      </p:sp>
      <p:sp>
        <p:nvSpPr>
          <p:cNvPr id="10" name="">
            <a:extLst xmlns:a="http://schemas.openxmlformats.org/drawingml/2006/main">
              <a:ext uri="{FF2B5EF4-FFF2-40B4-BE49-F238E27FC236}">
                <a16:creationId xmlns:a16="http://schemas.microsoft.com/office/drawing/2014/main" id="{C7D28F60-5769-4FC9-8143-0F30A743263E}"/>
              </a:ext>
            </a:extLst>
          </p:cNvPr>
          <p:cNvSpPr>
            <a:spLocks xmlns:a="http://schemas.openxmlformats.org/drawingml/2006/main" noGrp="1"/>
          </p:cNvSpPr>
          <p:nvPr/>
        </p:nvSpPr>
        <p:spPr>
          <a:xfrm xmlns:a="http://schemas.openxmlformats.org/drawingml/2006/main">
            <a:off x="6686550" y="2476500"/>
            <a:ext cx="81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00" b="1">
                <a:solidFill>
                  <a:srgbClr val="AAB6C0"/>
                </a:solidFill>
                <a:latin typeface="Hiragino Sans GB"/>
                <a:ea typeface="Hiragino Sans GB"/>
                <a:cs typeface="Hiragino Sans GB"/>
              </a:defRPr>
            </a:pPr>
            <a:r>
              <a:rPr sz="1500" b="1">
                <a:solidFill>
                  <a:srgbClr val="AAB6C0"/>
                </a:solidFill>
                <a:latin typeface="Hiragino Sans GB"/>
                <a:ea typeface="Hiragino Sans GB"/>
                <a:cs typeface="Hiragino Sans GB"/>
              </a:rPr>
              <a:t>56.5%</a:t>
            </a:r>
          </a:p>
        </p:txBody>
      </p:sp>
      <p:sp>
        <p:nvSpPr>
          <p:cNvPr id="11" name="">
            <a:extLst xmlns:a="http://schemas.openxmlformats.org/drawingml/2006/main">
              <a:ext uri="{FF2B5EF4-FFF2-40B4-BE49-F238E27FC236}">
                <a16:creationId xmlns:a16="http://schemas.microsoft.com/office/drawing/2014/main" id="{807C0244-CCAD-49B3-B56B-9C0107CFFC44}"/>
              </a:ext>
            </a:extLst>
          </p:cNvPr>
          <p:cNvSpPr>
            <a:spLocks xmlns:a="http://schemas.openxmlformats.org/drawingml/2006/main" noGrp="1"/>
          </p:cNvSpPr>
          <p:nvPr/>
        </p:nvSpPr>
        <p:spPr>
          <a:xfrm xmlns:a="http://schemas.openxmlformats.org/drawingml/2006/main">
            <a:off x="685800" y="32956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142735"/>
                </a:solidFill>
                <a:latin typeface="Hiragino Sans GB"/>
                <a:ea typeface="Hiragino Sans GB"/>
                <a:cs typeface="Hiragino Sans GB"/>
              </a:defRPr>
            </a:pPr>
            <a:r>
              <a:rPr sz="1350" b="0">
                <a:solidFill>
                  <a:srgbClr val="142735"/>
                </a:solidFill>
                <a:latin typeface="Hiragino Sans GB"/>
                <a:ea typeface="Hiragino Sans GB"/>
                <a:cs typeface="Hiragino Sans GB"/>
              </a:rPr>
              <a:t>增加参数校准</a:t>
            </a:r>
          </a:p>
        </p:txBody>
      </p:sp>
      <p:sp>
        <p:nvSpPr>
          <p:cNvPr id="12" name="">
            <a:extLst xmlns:a="http://schemas.openxmlformats.org/drawingml/2006/main">
              <a:ext uri="{FF2B5EF4-FFF2-40B4-BE49-F238E27FC236}">
                <a16:creationId xmlns:a16="http://schemas.microsoft.com/office/drawing/2014/main" id="{764CB4F2-CC85-4C27-87DF-7901CA97BACC}"/>
              </a:ext>
            </a:extLst>
          </p:cNvPr>
          <p:cNvSpPr>
            <a:spLocks xmlns:a="http://schemas.openxmlformats.org/drawingml/2006/main" noGrp="1"/>
          </p:cNvSpPr>
          <p:nvPr/>
        </p:nvSpPr>
        <p:spPr>
          <a:xfrm xmlns:a="http://schemas.openxmlformats.org/drawingml/2006/main">
            <a:off x="2457450" y="3314700"/>
            <a:ext cx="4038600" cy="209550"/>
          </a:xfrm>
          <a:prstGeom xmlns:a="http://schemas.openxmlformats.org/drawingml/2006/main" prst="roundRect">
            <a:avLst>
              <a:gd name="adj" fmla="val 50000"/>
            </a:avLst>
          </a:prstGeom>
          <a:solidFill xmlns:a="http://schemas.openxmlformats.org/drawingml/2006/main">
            <a:srgbClr val="F4F7FA"/>
          </a:solidFill>
          <a:ln xmlns:a="http://schemas.openxmlformats.org/drawingml/2006/main" w="11430">
            <a:solidFill>
              <a:srgbClr val="F4F7FA"/>
            </a:solidFill>
            <a:prstDash val="solid"/>
          </a:ln>
        </p:spPr>
      </p:sp>
      <p:sp>
        <p:nvSpPr>
          <p:cNvPr id="13" name="">
            <a:extLst xmlns:a="http://schemas.openxmlformats.org/drawingml/2006/main">
              <a:ext uri="{FF2B5EF4-FFF2-40B4-BE49-F238E27FC236}">
                <a16:creationId xmlns:a16="http://schemas.microsoft.com/office/drawing/2014/main" id="{94B54115-6362-41DA-906B-84EA2D889A14}"/>
              </a:ext>
            </a:extLst>
          </p:cNvPr>
          <p:cNvSpPr>
            <a:spLocks xmlns:a="http://schemas.openxmlformats.org/drawingml/2006/main" noGrp="1"/>
          </p:cNvSpPr>
          <p:nvPr/>
        </p:nvSpPr>
        <p:spPr>
          <a:xfrm xmlns:a="http://schemas.openxmlformats.org/drawingml/2006/main">
            <a:off x="2457450" y="3314700"/>
            <a:ext cx="2677592" cy="2095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1430">
            <a:solidFill>
              <a:srgbClr val="F59E0B"/>
            </a:solidFill>
            <a:prstDash val="solid"/>
          </a:ln>
        </p:spPr>
      </p:sp>
      <p:sp>
        <p:nvSpPr>
          <p:cNvPr id="14" name="">
            <a:extLst xmlns:a="http://schemas.openxmlformats.org/drawingml/2006/main">
              <a:ext uri="{FF2B5EF4-FFF2-40B4-BE49-F238E27FC236}">
                <a16:creationId xmlns:a16="http://schemas.microsoft.com/office/drawing/2014/main" id="{4700822D-A020-423F-8181-F203B5539446}"/>
              </a:ext>
            </a:extLst>
          </p:cNvPr>
          <p:cNvSpPr>
            <a:spLocks xmlns:a="http://schemas.openxmlformats.org/drawingml/2006/main" noGrp="1"/>
          </p:cNvSpPr>
          <p:nvPr/>
        </p:nvSpPr>
        <p:spPr>
          <a:xfrm xmlns:a="http://schemas.openxmlformats.org/drawingml/2006/main">
            <a:off x="6686550" y="3257550"/>
            <a:ext cx="81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00" b="1">
                <a:solidFill>
                  <a:srgbClr val="F59E0B"/>
                </a:solidFill>
                <a:latin typeface="Hiragino Sans GB"/>
                <a:ea typeface="Hiragino Sans GB"/>
                <a:cs typeface="Hiragino Sans GB"/>
              </a:defRPr>
            </a:pPr>
            <a:r>
              <a:rPr sz="1500" b="1">
                <a:solidFill>
                  <a:srgbClr val="F59E0B"/>
                </a:solidFill>
                <a:latin typeface="Hiragino Sans GB"/>
                <a:ea typeface="Hiragino Sans GB"/>
                <a:cs typeface="Hiragino Sans GB"/>
              </a:rPr>
              <a:t>66.3%</a:t>
            </a:r>
          </a:p>
        </p:txBody>
      </p:sp>
      <p:sp>
        <p:nvSpPr>
          <p:cNvPr id="15" name="">
            <a:extLst xmlns:a="http://schemas.openxmlformats.org/drawingml/2006/main">
              <a:ext uri="{FF2B5EF4-FFF2-40B4-BE49-F238E27FC236}">
                <a16:creationId xmlns:a16="http://schemas.microsoft.com/office/drawing/2014/main" id="{1BF3D611-4B4B-4B57-B386-028D94FB79B4}"/>
              </a:ext>
            </a:extLst>
          </p:cNvPr>
          <p:cNvSpPr>
            <a:spLocks xmlns:a="http://schemas.openxmlformats.org/drawingml/2006/main" noGrp="1"/>
          </p:cNvSpPr>
          <p:nvPr/>
        </p:nvSpPr>
        <p:spPr>
          <a:xfrm xmlns:a="http://schemas.openxmlformats.org/drawingml/2006/main">
            <a:off x="685800" y="40767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142735"/>
                </a:solidFill>
                <a:latin typeface="Hiragino Sans GB"/>
                <a:ea typeface="Hiragino Sans GB"/>
                <a:cs typeface="Hiragino Sans GB"/>
              </a:defRPr>
            </a:pPr>
            <a:r>
              <a:rPr sz="1350" b="0">
                <a:solidFill>
                  <a:srgbClr val="142735"/>
                </a:solidFill>
                <a:latin typeface="Hiragino Sans GB"/>
                <a:ea typeface="Hiragino Sans GB"/>
                <a:cs typeface="Hiragino Sans GB"/>
              </a:rPr>
              <a:t>增加区分性问题</a:t>
            </a:r>
          </a:p>
        </p:txBody>
      </p:sp>
      <p:sp>
        <p:nvSpPr>
          <p:cNvPr id="16" name="">
            <a:extLst xmlns:a="http://schemas.openxmlformats.org/drawingml/2006/main">
              <a:ext uri="{FF2B5EF4-FFF2-40B4-BE49-F238E27FC236}">
                <a16:creationId xmlns:a16="http://schemas.microsoft.com/office/drawing/2014/main" id="{67D47505-5838-4390-AC0B-203ACB47CA66}"/>
              </a:ext>
            </a:extLst>
          </p:cNvPr>
          <p:cNvSpPr>
            <a:spLocks xmlns:a="http://schemas.openxmlformats.org/drawingml/2006/main" noGrp="1"/>
          </p:cNvSpPr>
          <p:nvPr/>
        </p:nvSpPr>
        <p:spPr>
          <a:xfrm xmlns:a="http://schemas.openxmlformats.org/drawingml/2006/main">
            <a:off x="2457450" y="4095750"/>
            <a:ext cx="4038600" cy="209550"/>
          </a:xfrm>
          <a:prstGeom xmlns:a="http://schemas.openxmlformats.org/drawingml/2006/main" prst="roundRect">
            <a:avLst>
              <a:gd name="adj" fmla="val 50000"/>
            </a:avLst>
          </a:prstGeom>
          <a:solidFill xmlns:a="http://schemas.openxmlformats.org/drawingml/2006/main">
            <a:srgbClr val="F4F7FA"/>
          </a:solidFill>
          <a:ln xmlns:a="http://schemas.openxmlformats.org/drawingml/2006/main" w="11430">
            <a:solidFill>
              <a:srgbClr val="F4F7FA"/>
            </a:solidFill>
            <a:prstDash val="solid"/>
          </a:ln>
        </p:spPr>
      </p:sp>
      <p:sp>
        <p:nvSpPr>
          <p:cNvPr id="17" name="">
            <a:extLst xmlns:a="http://schemas.openxmlformats.org/drawingml/2006/main">
              <a:ext uri="{FF2B5EF4-FFF2-40B4-BE49-F238E27FC236}">
                <a16:creationId xmlns:a16="http://schemas.microsoft.com/office/drawing/2014/main" id="{586102D2-1144-43CE-9EC7-122AB3AC0799}"/>
              </a:ext>
            </a:extLst>
          </p:cNvPr>
          <p:cNvSpPr>
            <a:spLocks xmlns:a="http://schemas.openxmlformats.org/drawingml/2006/main" noGrp="1"/>
          </p:cNvSpPr>
          <p:nvPr/>
        </p:nvSpPr>
        <p:spPr>
          <a:xfrm xmlns:a="http://schemas.openxmlformats.org/drawingml/2006/main">
            <a:off x="2457450" y="4095750"/>
            <a:ext cx="2851252" cy="209550"/>
          </a:xfrm>
          <a:prstGeom xmlns:a="http://schemas.openxmlformats.org/drawingml/2006/main" prst="roundRect">
            <a:avLst>
              <a:gd name="adj" fmla="val 50000"/>
            </a:avLst>
          </a:prstGeom>
          <a:solidFill xmlns:a="http://schemas.openxmlformats.org/drawingml/2006/main">
            <a:srgbClr val="1F5FBF"/>
          </a:solidFill>
          <a:ln xmlns:a="http://schemas.openxmlformats.org/drawingml/2006/main" w="11430">
            <a:solidFill>
              <a:srgbClr val="1F5FBF"/>
            </a:solidFill>
            <a:prstDash val="solid"/>
          </a:ln>
        </p:spPr>
      </p:sp>
      <p:sp>
        <p:nvSpPr>
          <p:cNvPr id="18" name="">
            <a:extLst xmlns:a="http://schemas.openxmlformats.org/drawingml/2006/main">
              <a:ext uri="{FF2B5EF4-FFF2-40B4-BE49-F238E27FC236}">
                <a16:creationId xmlns:a16="http://schemas.microsoft.com/office/drawing/2014/main" id="{4CA1276E-B521-4F5D-8D5D-60EDFEC7496C}"/>
              </a:ext>
            </a:extLst>
          </p:cNvPr>
          <p:cNvSpPr>
            <a:spLocks xmlns:a="http://schemas.openxmlformats.org/drawingml/2006/main" noGrp="1"/>
          </p:cNvSpPr>
          <p:nvPr/>
        </p:nvSpPr>
        <p:spPr>
          <a:xfrm xmlns:a="http://schemas.openxmlformats.org/drawingml/2006/main">
            <a:off x="6686550" y="4038600"/>
            <a:ext cx="81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00" b="1">
                <a:solidFill>
                  <a:srgbClr val="1F5FBF"/>
                </a:solidFill>
                <a:latin typeface="Hiragino Sans GB"/>
                <a:ea typeface="Hiragino Sans GB"/>
                <a:cs typeface="Hiragino Sans GB"/>
              </a:defRPr>
            </a:pPr>
            <a:r>
              <a:rPr sz="1500" b="1">
                <a:solidFill>
                  <a:srgbClr val="1F5FBF"/>
                </a:solidFill>
                <a:latin typeface="Hiragino Sans GB"/>
                <a:ea typeface="Hiragino Sans GB"/>
                <a:cs typeface="Hiragino Sans GB"/>
              </a:rPr>
              <a:t>70.6%</a:t>
            </a:r>
          </a:p>
        </p:txBody>
      </p:sp>
      <p:sp>
        <p:nvSpPr>
          <p:cNvPr id="19" name="">
            <a:extLst xmlns:a="http://schemas.openxmlformats.org/drawingml/2006/main">
              <a:ext uri="{FF2B5EF4-FFF2-40B4-BE49-F238E27FC236}">
                <a16:creationId xmlns:a16="http://schemas.microsoft.com/office/drawing/2014/main" id="{E67AA4EF-EE63-41DE-AE0D-CC73A47CE443}"/>
              </a:ext>
            </a:extLst>
          </p:cNvPr>
          <p:cNvSpPr>
            <a:spLocks xmlns:a="http://schemas.openxmlformats.org/drawingml/2006/main" noGrp="1"/>
          </p:cNvSpPr>
          <p:nvPr/>
        </p:nvSpPr>
        <p:spPr>
          <a:xfrm xmlns:a="http://schemas.openxmlformats.org/drawingml/2006/main">
            <a:off x="685800" y="48577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42735"/>
                </a:solidFill>
                <a:latin typeface="Hiragino Sans GB"/>
                <a:ea typeface="Hiragino Sans GB"/>
                <a:cs typeface="Hiragino Sans GB"/>
              </a:defRPr>
            </a:pPr>
            <a:r>
              <a:rPr sz="1350" b="1">
                <a:solidFill>
                  <a:srgbClr val="142735"/>
                </a:solidFill>
                <a:latin typeface="Hiragino Sans GB"/>
                <a:ea typeface="Hiragino Sans GB"/>
                <a:cs typeface="Hiragino Sans GB"/>
              </a:rPr>
              <a:t>两项都增加</a:t>
            </a:r>
          </a:p>
        </p:txBody>
      </p:sp>
      <p:sp>
        <p:nvSpPr>
          <p:cNvPr id="20" name="">
            <a:extLst xmlns:a="http://schemas.openxmlformats.org/drawingml/2006/main">
              <a:ext uri="{FF2B5EF4-FFF2-40B4-BE49-F238E27FC236}">
                <a16:creationId xmlns:a16="http://schemas.microsoft.com/office/drawing/2014/main" id="{485399DC-A64A-46D5-BF8A-8F7132B4D8E9}"/>
              </a:ext>
            </a:extLst>
          </p:cNvPr>
          <p:cNvSpPr>
            <a:spLocks xmlns:a="http://schemas.openxmlformats.org/drawingml/2006/main" noGrp="1"/>
          </p:cNvSpPr>
          <p:nvPr/>
        </p:nvSpPr>
        <p:spPr>
          <a:xfrm xmlns:a="http://schemas.openxmlformats.org/drawingml/2006/main">
            <a:off x="2457450" y="4876800"/>
            <a:ext cx="4038600" cy="209550"/>
          </a:xfrm>
          <a:prstGeom xmlns:a="http://schemas.openxmlformats.org/drawingml/2006/main" prst="roundRect">
            <a:avLst>
              <a:gd name="adj" fmla="val 50000"/>
            </a:avLst>
          </a:prstGeom>
          <a:solidFill xmlns:a="http://schemas.openxmlformats.org/drawingml/2006/main">
            <a:srgbClr val="F4F7FA"/>
          </a:solidFill>
          <a:ln xmlns:a="http://schemas.openxmlformats.org/drawingml/2006/main" w="11430">
            <a:solidFill>
              <a:srgbClr val="F4F7FA"/>
            </a:solidFill>
            <a:prstDash val="solid"/>
          </a:ln>
        </p:spPr>
      </p:sp>
      <p:sp>
        <p:nvSpPr>
          <p:cNvPr id="21" name="">
            <a:extLst xmlns:a="http://schemas.openxmlformats.org/drawingml/2006/main">
              <a:ext uri="{FF2B5EF4-FFF2-40B4-BE49-F238E27FC236}">
                <a16:creationId xmlns:a16="http://schemas.microsoft.com/office/drawing/2014/main" id="{52521A25-5BE0-4AA9-B65E-9B5FEF9FAF54}"/>
              </a:ext>
            </a:extLst>
          </p:cNvPr>
          <p:cNvSpPr>
            <a:spLocks xmlns:a="http://schemas.openxmlformats.org/drawingml/2006/main" noGrp="1"/>
          </p:cNvSpPr>
          <p:nvPr/>
        </p:nvSpPr>
        <p:spPr>
          <a:xfrm xmlns:a="http://schemas.openxmlformats.org/drawingml/2006/main">
            <a:off x="2457450" y="4876800"/>
            <a:ext cx="3247034" cy="209550"/>
          </a:xfrm>
          <a:prstGeom xmlns:a="http://schemas.openxmlformats.org/drawingml/2006/main" prst="roundRect">
            <a:avLst>
              <a:gd name="adj" fmla="val 50000"/>
            </a:avLst>
          </a:prstGeom>
          <a:solidFill xmlns:a="http://schemas.openxmlformats.org/drawingml/2006/main">
            <a:srgbClr val="168B6B"/>
          </a:solidFill>
          <a:ln xmlns:a="http://schemas.openxmlformats.org/drawingml/2006/main" w="11430">
            <a:solidFill>
              <a:srgbClr val="168B6B"/>
            </a:solidFill>
            <a:prstDash val="solid"/>
          </a:ln>
        </p:spPr>
      </p:sp>
      <p:sp>
        <p:nvSpPr>
          <p:cNvPr id="22" name="">
            <a:extLst xmlns:a="http://schemas.openxmlformats.org/drawingml/2006/main">
              <a:ext uri="{FF2B5EF4-FFF2-40B4-BE49-F238E27FC236}">
                <a16:creationId xmlns:a16="http://schemas.microsoft.com/office/drawing/2014/main" id="{EF0C61E1-0B29-45DF-BC85-E7E31198A5BB}"/>
              </a:ext>
            </a:extLst>
          </p:cNvPr>
          <p:cNvSpPr>
            <a:spLocks xmlns:a="http://schemas.openxmlformats.org/drawingml/2006/main" noGrp="1"/>
          </p:cNvSpPr>
          <p:nvPr/>
        </p:nvSpPr>
        <p:spPr>
          <a:xfrm xmlns:a="http://schemas.openxmlformats.org/drawingml/2006/main">
            <a:off x="6686550" y="4819650"/>
            <a:ext cx="81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00" b="1">
                <a:solidFill>
                  <a:srgbClr val="168B6B"/>
                </a:solidFill>
                <a:latin typeface="Hiragino Sans GB"/>
                <a:ea typeface="Hiragino Sans GB"/>
                <a:cs typeface="Hiragino Sans GB"/>
              </a:defRPr>
            </a:pPr>
            <a:r>
              <a:rPr sz="1500" b="1">
                <a:solidFill>
                  <a:srgbClr val="168B6B"/>
                </a:solidFill>
                <a:latin typeface="Hiragino Sans GB"/>
                <a:ea typeface="Hiragino Sans GB"/>
                <a:cs typeface="Hiragino Sans GB"/>
              </a:rPr>
              <a:t>80.4%</a:t>
            </a:r>
          </a:p>
        </p:txBody>
      </p:sp>
      <p:sp>
        <p:nvSpPr>
          <p:cNvPr id="23" name="">
            <a:extLst xmlns:a="http://schemas.openxmlformats.org/drawingml/2006/main">
              <a:ext uri="{FF2B5EF4-FFF2-40B4-BE49-F238E27FC236}">
                <a16:creationId xmlns:a16="http://schemas.microsoft.com/office/drawing/2014/main" id="{7BA23709-7A17-418F-9E76-85B7D212B688}"/>
              </a:ext>
            </a:extLst>
          </p:cNvPr>
          <p:cNvSpPr>
            <a:spLocks xmlns:a="http://schemas.openxmlformats.org/drawingml/2006/main" noGrp="1"/>
          </p:cNvSpPr>
          <p:nvPr/>
        </p:nvSpPr>
        <p:spPr>
          <a:xfrm xmlns:a="http://schemas.openxmlformats.org/drawingml/2006/main">
            <a:off x="7867650" y="2057400"/>
            <a:ext cx="0" cy="3181350"/>
          </a:xfrm>
          <a:prstGeom xmlns:a="http://schemas.openxmlformats.org/drawingml/2006/main" prst="line">
            <a:avLst/>
          </a:prstGeom>
          <a:noFill xmlns:a="http://schemas.openxmlformats.org/drawingml/2006/main"/>
          <a:ln xmlns:a="http://schemas.openxmlformats.org/drawingml/2006/main" w="11430">
            <a:solidFill>
              <a:srgbClr val="D8E0E7"/>
            </a:solidFill>
            <a:prstDash val="solid"/>
          </a:ln>
        </p:spPr>
      </p:sp>
      <p:sp>
        <p:nvSpPr>
          <p:cNvPr id="24" name="">
            <a:extLst xmlns:a="http://schemas.openxmlformats.org/drawingml/2006/main">
              <a:ext uri="{FF2B5EF4-FFF2-40B4-BE49-F238E27FC236}">
                <a16:creationId xmlns:a16="http://schemas.microsoft.com/office/drawing/2014/main" id="{6F27A88B-3425-4EF9-A0D1-9BE10D818DEC}"/>
              </a:ext>
            </a:extLst>
          </p:cNvPr>
          <p:cNvSpPr>
            <a:spLocks xmlns:a="http://schemas.openxmlformats.org/drawingml/2006/main" noGrp="1"/>
          </p:cNvSpPr>
          <p:nvPr/>
        </p:nvSpPr>
        <p:spPr>
          <a:xfrm xmlns:a="http://schemas.openxmlformats.org/drawingml/2006/main">
            <a:off x="8324850" y="20383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两项优化的作用不同</a:t>
            </a:r>
          </a:p>
        </p:txBody>
      </p:sp>
      <p:sp>
        <p:nvSpPr>
          <p:cNvPr id="25" name="">
            <a:extLst xmlns:a="http://schemas.openxmlformats.org/drawingml/2006/main">
              <a:ext uri="{FF2B5EF4-FFF2-40B4-BE49-F238E27FC236}">
                <a16:creationId xmlns:a16="http://schemas.microsoft.com/office/drawing/2014/main" id="{F30D53F0-841F-4CF0-A947-326F5D06BA58}"/>
              </a:ext>
            </a:extLst>
          </p:cNvPr>
          <p:cNvSpPr>
            <a:spLocks xmlns:a="http://schemas.openxmlformats.org/drawingml/2006/main" noGrp="1"/>
          </p:cNvSpPr>
          <p:nvPr/>
        </p:nvSpPr>
        <p:spPr>
          <a:xfrm xmlns:a="http://schemas.openxmlformats.org/drawingml/2006/main">
            <a:off x="8324850" y="2533650"/>
            <a:ext cx="1009650" cy="285750"/>
          </a:xfrm>
          <a:prstGeom xmlns:a="http://schemas.openxmlformats.org/drawingml/2006/main" prst="roundRect">
            <a:avLst>
              <a:gd name="adj" fmla="val 50000"/>
            </a:avLst>
          </a:prstGeom>
          <a:solidFill xmlns:a="http://schemas.openxmlformats.org/drawingml/2006/main">
            <a:srgbClr val="FFF7E8"/>
          </a:solidFill>
          <a:ln xmlns:a="http://schemas.openxmlformats.org/drawingml/2006/main" w="11430">
            <a:solidFill>
              <a:srgbClr val="FFF7E8"/>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F59E0B"/>
                </a:solidFill>
                <a:latin typeface="Hiragino Sans GB"/>
                <a:ea typeface="Hiragino Sans GB"/>
                <a:cs typeface="Hiragino Sans GB"/>
              </a:defRPr>
            </a:pPr>
            <a:r>
              <a:rPr sz="1050" b="1">
                <a:solidFill>
                  <a:srgbClr val="F59E0B"/>
                </a:solidFill>
                <a:latin typeface="Hiragino Sans GB"/>
                <a:ea typeface="Hiragino Sans GB"/>
                <a:cs typeface="Hiragino Sans GB"/>
              </a:rPr>
              <a:t>参数校准</a:t>
            </a:r>
          </a:p>
        </p:txBody>
      </p:sp>
      <p:sp>
        <p:nvSpPr>
          <p:cNvPr id="26" name="">
            <a:extLst xmlns:a="http://schemas.openxmlformats.org/drawingml/2006/main">
              <a:ext uri="{FF2B5EF4-FFF2-40B4-BE49-F238E27FC236}">
                <a16:creationId xmlns:a16="http://schemas.microsoft.com/office/drawing/2014/main" id="{9272CFBE-3B22-4A52-A909-2115AC30F47A}"/>
              </a:ext>
            </a:extLst>
          </p:cNvPr>
          <p:cNvSpPr>
            <a:spLocks xmlns:a="http://schemas.openxmlformats.org/drawingml/2006/main" noGrp="1"/>
          </p:cNvSpPr>
          <p:nvPr/>
        </p:nvSpPr>
        <p:spPr>
          <a:xfrm xmlns:a="http://schemas.openxmlformats.org/drawingml/2006/main">
            <a:off x="8324850" y="29337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F59E0B"/>
                </a:solidFill>
                <a:latin typeface="Hiragino Sans GB"/>
                <a:ea typeface="Hiragino Sans GB"/>
                <a:cs typeface="Hiragino Sans GB"/>
              </a:defRPr>
            </a:pPr>
            <a:r>
              <a:rPr sz="1875" b="1">
                <a:solidFill>
                  <a:srgbClr val="F59E0B"/>
                </a:solidFill>
                <a:latin typeface="Hiragino Sans GB"/>
                <a:ea typeface="Hiragino Sans GB"/>
                <a:cs typeface="Hiragino Sans GB"/>
              </a:rPr>
              <a:t>概率更集中</a:t>
            </a:r>
          </a:p>
        </p:txBody>
      </p:sp>
      <p:sp>
        <p:nvSpPr>
          <p:cNvPr id="27" name="">
            <a:extLst xmlns:a="http://schemas.openxmlformats.org/drawingml/2006/main">
              <a:ext uri="{FF2B5EF4-FFF2-40B4-BE49-F238E27FC236}">
                <a16:creationId xmlns:a16="http://schemas.microsoft.com/office/drawing/2014/main" id="{55A595B7-15FF-4230-8FF7-F344B0FEC5CE}"/>
              </a:ext>
            </a:extLst>
          </p:cNvPr>
          <p:cNvSpPr>
            <a:spLocks xmlns:a="http://schemas.openxmlformats.org/drawingml/2006/main" noGrp="1"/>
          </p:cNvSpPr>
          <p:nvPr/>
        </p:nvSpPr>
        <p:spPr>
          <a:xfrm xmlns:a="http://schemas.openxmlformats.org/drawingml/2006/main">
            <a:off x="8324850" y="33147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减少版本不兼容原因的概率低估</a:t>
            </a:r>
          </a:p>
        </p:txBody>
      </p:sp>
      <p:sp>
        <p:nvSpPr>
          <p:cNvPr id="28" name="">
            <a:extLst xmlns:a="http://schemas.openxmlformats.org/drawingml/2006/main">
              <a:ext uri="{FF2B5EF4-FFF2-40B4-BE49-F238E27FC236}">
                <a16:creationId xmlns:a16="http://schemas.microsoft.com/office/drawing/2014/main" id="{F12A0808-0B7B-41ED-8AD3-7CEB53A3514F}"/>
              </a:ext>
            </a:extLst>
          </p:cNvPr>
          <p:cNvSpPr>
            <a:spLocks xmlns:a="http://schemas.openxmlformats.org/drawingml/2006/main" noGrp="1"/>
          </p:cNvSpPr>
          <p:nvPr/>
        </p:nvSpPr>
        <p:spPr>
          <a:xfrm xmlns:a="http://schemas.openxmlformats.org/drawingml/2006/main">
            <a:off x="8324850" y="3829050"/>
            <a:ext cx="1009650" cy="285750"/>
          </a:xfrm>
          <a:prstGeom xmlns:a="http://schemas.openxmlformats.org/drawingml/2006/main" prst="roundRect">
            <a:avLst>
              <a:gd name="adj" fmla="val 50000"/>
            </a:avLst>
          </a:prstGeom>
          <a:solidFill xmlns:a="http://schemas.openxmlformats.org/drawingml/2006/main">
            <a:srgbClr val="EEF5FF"/>
          </a:solidFill>
          <a:ln xmlns:a="http://schemas.openxmlformats.org/drawingml/2006/main" w="11430">
            <a:solidFill>
              <a:srgbClr val="EEF5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新增问题</a:t>
            </a:r>
          </a:p>
        </p:txBody>
      </p:sp>
      <p:sp>
        <p:nvSpPr>
          <p:cNvPr id="29" name="">
            <a:extLst xmlns:a="http://schemas.openxmlformats.org/drawingml/2006/main">
              <a:ext uri="{FF2B5EF4-FFF2-40B4-BE49-F238E27FC236}">
                <a16:creationId xmlns:a16="http://schemas.microsoft.com/office/drawing/2014/main" id="{49CEE133-6B3F-43E7-91DF-BD99ADE08C16}"/>
              </a:ext>
            </a:extLst>
          </p:cNvPr>
          <p:cNvSpPr>
            <a:spLocks xmlns:a="http://schemas.openxmlformats.org/drawingml/2006/main" noGrp="1"/>
          </p:cNvSpPr>
          <p:nvPr/>
        </p:nvSpPr>
        <p:spPr>
          <a:xfrm xmlns:a="http://schemas.openxmlformats.org/drawingml/2006/main">
            <a:off x="8324850" y="42291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1F5FBF"/>
                </a:solidFill>
                <a:latin typeface="Hiragino Sans GB"/>
                <a:ea typeface="Hiragino Sans GB"/>
                <a:cs typeface="Hiragino Sans GB"/>
              </a:defRPr>
            </a:pPr>
            <a:r>
              <a:rPr sz="1875" b="1">
                <a:solidFill>
                  <a:srgbClr val="1F5FBF"/>
                </a:solidFill>
                <a:latin typeface="Hiragino Sans GB"/>
                <a:ea typeface="Hiragino Sans GB"/>
                <a:cs typeface="Hiragino Sans GB"/>
              </a:rPr>
              <a:t>原因升至第一</a:t>
            </a:r>
          </a:p>
        </p:txBody>
      </p:sp>
      <p:sp>
        <p:nvSpPr>
          <p:cNvPr id="30" name="">
            <a:extLst xmlns:a="http://schemas.openxmlformats.org/drawingml/2006/main">
              <a:ext uri="{FF2B5EF4-FFF2-40B4-BE49-F238E27FC236}">
                <a16:creationId xmlns:a16="http://schemas.microsoft.com/office/drawing/2014/main" id="{E4275497-C4A3-494C-93A3-F24AE541430C}"/>
              </a:ext>
            </a:extLst>
          </p:cNvPr>
          <p:cNvSpPr>
            <a:spLocks xmlns:a="http://schemas.openxmlformats.org/drawingml/2006/main" noGrp="1"/>
          </p:cNvSpPr>
          <p:nvPr/>
        </p:nvSpPr>
        <p:spPr>
          <a:xfrm xmlns:a="http://schemas.openxmlformats.org/drawingml/2006/main">
            <a:off x="8324850" y="46101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解决容器地址与相近原因的混淆</a:t>
            </a:r>
          </a:p>
        </p:txBody>
      </p:sp>
      <p:sp>
        <p:nvSpPr>
          <p:cNvPr id="31" name="">
            <a:extLst xmlns:a="http://schemas.openxmlformats.org/drawingml/2006/main">
              <a:ext uri="{FF2B5EF4-FFF2-40B4-BE49-F238E27FC236}">
                <a16:creationId xmlns:a16="http://schemas.microsoft.com/office/drawing/2014/main" id="{CCB3BF73-84C7-4B45-B17E-B09432514AD7}"/>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oundRect">
            <a:avLst>
              <a:gd name="adj" fmla="val 22222"/>
            </a:avLst>
          </a:prstGeom>
          <a:solidFill xmlns:a="http://schemas.openxmlformats.org/drawingml/2006/main">
            <a:srgbClr val="EAF8F3"/>
          </a:solidFill>
          <a:ln xmlns:a="http://schemas.openxmlformats.org/drawingml/2006/main" w="11430">
            <a:solidFill>
              <a:srgbClr val="168B6B"/>
            </a:solidFill>
            <a:prstDash val="solid"/>
          </a:ln>
        </p:spPr>
      </p:sp>
      <p:sp>
        <p:nvSpPr>
          <p:cNvPr id="32" name="">
            <a:extLst xmlns:a="http://schemas.openxmlformats.org/drawingml/2006/main">
              <a:ext uri="{FF2B5EF4-FFF2-40B4-BE49-F238E27FC236}">
                <a16:creationId xmlns:a16="http://schemas.microsoft.com/office/drawing/2014/main" id="{D7FBF02F-6C4F-4BAA-BFE6-3CCFF269773D}"/>
              </a:ext>
            </a:extLst>
          </p:cNvPr>
          <p:cNvSpPr>
            <a:spLocks xmlns:a="http://schemas.openxmlformats.org/drawingml/2006/main" noGrp="1"/>
          </p:cNvSpPr>
          <p:nvPr/>
        </p:nvSpPr>
        <p:spPr>
          <a:xfrm xmlns:a="http://schemas.openxmlformats.org/drawingml/2006/main">
            <a:off x="914400" y="5762625"/>
            <a:ext cx="1200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68B6B"/>
                </a:solidFill>
                <a:latin typeface="Hiragino Sans GB"/>
                <a:ea typeface="Hiragino Sans GB"/>
                <a:cs typeface="Hiragino Sans GB"/>
              </a:defRPr>
            </a:pPr>
            <a:r>
              <a:rPr sz="1200" b="1">
                <a:solidFill>
                  <a:srgbClr val="168B6B"/>
                </a:solidFill>
                <a:latin typeface="Hiragino Sans GB"/>
                <a:ea typeface="Hiragino Sans GB"/>
                <a:cs typeface="Hiragino Sans GB"/>
              </a:rPr>
              <a:t>两项结合</a:t>
            </a:r>
          </a:p>
        </p:txBody>
      </p:sp>
      <p:sp>
        <p:nvSpPr>
          <p:cNvPr id="33" name="">
            <a:extLst xmlns:a="http://schemas.openxmlformats.org/drawingml/2006/main">
              <a:ext uri="{FF2B5EF4-FFF2-40B4-BE49-F238E27FC236}">
                <a16:creationId xmlns:a16="http://schemas.microsoft.com/office/drawing/2014/main" id="{EEF6F338-9ED2-4590-9096-BE2D7AEFBC50}"/>
              </a:ext>
            </a:extLst>
          </p:cNvPr>
          <p:cNvSpPr>
            <a:spLocks xmlns:a="http://schemas.openxmlformats.org/drawingml/2006/main" noGrp="1"/>
          </p:cNvSpPr>
          <p:nvPr/>
        </p:nvSpPr>
        <p:spPr>
          <a:xfrm xmlns:a="http://schemas.openxmlformats.org/drawingml/2006/main">
            <a:off x="2266950" y="57150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168B6B"/>
                </a:solidFill>
                <a:latin typeface="Hiragino Sans GB"/>
                <a:ea typeface="Hiragino Sans GB"/>
                <a:cs typeface="Hiragino Sans GB"/>
              </a:defRPr>
            </a:pPr>
            <a:r>
              <a:rPr sz="1575" b="1">
                <a:solidFill>
                  <a:srgbClr val="168B6B"/>
                </a:solidFill>
                <a:latin typeface="Hiragino Sans GB"/>
                <a:ea typeface="Hiragino Sans GB"/>
                <a:cs typeface="Hiragino Sans GB"/>
              </a:rPr>
              <a:t>4 / 4 个目标案例的正确原因排在第一位</a:t>
            </a:r>
          </a:p>
        </p:txBody>
      </p:sp>
      <p:sp>
        <p:nvSpPr>
          <p:cNvPr id="34" name="">
            <a:extLst xmlns:a="http://schemas.openxmlformats.org/drawingml/2006/main">
              <a:ext uri="{FF2B5EF4-FFF2-40B4-BE49-F238E27FC236}">
                <a16:creationId xmlns:a16="http://schemas.microsoft.com/office/drawing/2014/main" id="{F6168C46-D1E0-4E78-BB04-065E80A45523}"/>
              </a:ext>
            </a:extLst>
          </p:cNvPr>
          <p:cNvSpPr>
            <a:spLocks xmlns:a="http://schemas.openxmlformats.org/drawingml/2006/main" noGrp="1"/>
          </p:cNvSpPr>
          <p:nvPr/>
        </p:nvSpPr>
        <p:spPr>
          <a:xfrm xmlns:a="http://schemas.openxmlformats.org/drawingml/2006/main">
            <a:off x="9429750" y="57531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小规模机制验证</a:t>
            </a:r>
          </a:p>
        </p:txBody>
      </p:sp>
      <p:sp>
        <p:nvSpPr>
          <p:cNvPr id="35" name="">
            <a:extLst xmlns:a="http://schemas.openxmlformats.org/drawingml/2006/main">
              <a:ext uri="{FF2B5EF4-FFF2-40B4-BE49-F238E27FC236}">
                <a16:creationId xmlns:a16="http://schemas.microsoft.com/office/drawing/2014/main" id="{0B815769-60C8-4C11-9D57-86C7A7169B2C}"/>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主讲只说明作用差异；MRR、Brier和数据划分保留在备用页回答追问</a:t>
            </a:r>
          </a:p>
        </p:txBody>
      </p:sp>
    </p:spTree>
    <p:extLst>
      <p:ext uri="{BB962C8B-B14F-4D97-AF65-F5344CB8AC3E}">
        <p14:creationId xmlns:p14="http://schemas.microsoft.com/office/powerpoint/2010/main" val="18187802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8282A6E-5D19-4C56-BABB-1DE85405B876}"/>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F05B88BA-C04F-481B-B282-38F37387B170}"/>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备用：主动询问如何完成一次概率更新</a:t>
            </a:r>
          </a:p>
        </p:txBody>
      </p:sp>
      <p:sp>
        <p:nvSpPr>
          <p:cNvPr id="3" name="">
            <a:extLst xmlns:a="http://schemas.openxmlformats.org/drawingml/2006/main">
              <a:ext uri="{FF2B5EF4-FFF2-40B4-BE49-F238E27FC236}">
                <a16:creationId xmlns:a16="http://schemas.microsoft.com/office/drawing/2014/main" id="{DF0CF356-FFCF-4CEF-8787-2D32D12C5E7F}"/>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10</a:t>
            </a:r>
          </a:p>
        </p:txBody>
      </p:sp>
      <p:sp>
        <p:nvSpPr>
          <p:cNvPr id="4" name="">
            <a:extLst xmlns:a="http://schemas.openxmlformats.org/drawingml/2006/main">
              <a:ext uri="{FF2B5EF4-FFF2-40B4-BE49-F238E27FC236}">
                <a16:creationId xmlns:a16="http://schemas.microsoft.com/office/drawing/2014/main" id="{BB8F0F1C-998A-4327-B73F-7B730B8591BE}"/>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96EFD8C5-BC0A-45BD-9EC2-65AC1C3D047D}"/>
              </a:ext>
            </a:extLst>
          </p:cNvPr>
          <p:cNvSpPr>
            <a:spLocks xmlns:a="http://schemas.openxmlformats.org/drawingml/2006/main" noGrp="1"/>
          </p:cNvSpPr>
          <p:nvPr/>
        </p:nvSpPr>
        <p:spPr>
          <a:xfrm xmlns:a="http://schemas.openxmlformats.org/drawingml/2006/main">
            <a:off x="685800" y="1466850"/>
            <a:ext cx="12954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答辩追问备用</a:t>
            </a:r>
          </a:p>
        </p:txBody>
      </p:sp>
      <p:sp>
        <p:nvSpPr>
          <p:cNvPr id="6" name="">
            <a:extLst xmlns:a="http://schemas.openxmlformats.org/drawingml/2006/main">
              <a:ext uri="{FF2B5EF4-FFF2-40B4-BE49-F238E27FC236}">
                <a16:creationId xmlns:a16="http://schemas.microsoft.com/office/drawing/2014/main" id="{B39FE571-4909-4B9F-9EC5-F68C24ACAEF1}"/>
              </a:ext>
            </a:extLst>
          </p:cNvPr>
          <p:cNvSpPr>
            <a:spLocks xmlns:a="http://schemas.openxmlformats.org/drawingml/2006/main" noGrp="1"/>
          </p:cNvSpPr>
          <p:nvPr/>
        </p:nvSpPr>
        <p:spPr>
          <a:xfrm xmlns:a="http://schemas.openxmlformats.org/drawingml/2006/main">
            <a:off x="2171700" y="14859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42735"/>
                </a:solidFill>
                <a:latin typeface="Hiragino Sans GB"/>
                <a:ea typeface="Hiragino Sans GB"/>
                <a:cs typeface="Hiragino Sans GB"/>
              </a:defRPr>
            </a:pPr>
            <a:r>
              <a:rPr sz="1500" b="1">
                <a:solidFill>
                  <a:srgbClr val="142735"/>
                </a:solidFill>
                <a:latin typeface="Hiragino Sans GB"/>
                <a:ea typeface="Hiragino Sans GB"/>
                <a:cs typeface="Hiragino Sans GB"/>
              </a:rPr>
              <a:t>从选择问题到停止诊断，共有三个计算环节</a:t>
            </a:r>
          </a:p>
        </p:txBody>
      </p:sp>
      <p:sp>
        <p:nvSpPr>
          <p:cNvPr id="7" name="">
            <a:extLst xmlns:a="http://schemas.openxmlformats.org/drawingml/2006/main">
              <a:ext uri="{FF2B5EF4-FFF2-40B4-BE49-F238E27FC236}">
                <a16:creationId xmlns:a16="http://schemas.microsoft.com/office/drawing/2014/main" id="{B3625C0E-E895-4D8B-9D5C-72587283D00B}"/>
              </a:ext>
            </a:extLst>
          </p:cNvPr>
          <p:cNvSpPr>
            <a:spLocks xmlns:a="http://schemas.openxmlformats.org/drawingml/2006/main" noGrp="1"/>
          </p:cNvSpPr>
          <p:nvPr/>
        </p:nvSpPr>
        <p:spPr>
          <a:xfrm xmlns:a="http://schemas.openxmlformats.org/drawingml/2006/main">
            <a:off x="685800" y="21526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F5FBF"/>
                </a:solidFill>
                <a:latin typeface="Hiragino Sans GB"/>
                <a:ea typeface="Hiragino Sans GB"/>
                <a:cs typeface="Hiragino Sans GB"/>
              </a:defRPr>
            </a:pPr>
            <a:r>
              <a:rPr sz="1425" b="1">
                <a:solidFill>
                  <a:srgbClr val="1F5FBF"/>
                </a:solidFill>
                <a:latin typeface="Hiragino Sans GB"/>
                <a:ea typeface="Hiragino Sans GB"/>
                <a:cs typeface="Hiragino Sans GB"/>
              </a:rPr>
              <a:t>1  选择最有价值的问题</a:t>
            </a:r>
          </a:p>
        </p:txBody>
      </p:sp>
      <p:sp>
        <p:nvSpPr>
          <p:cNvPr id="8" name="">
            <a:extLst xmlns:a="http://schemas.openxmlformats.org/drawingml/2006/main">
              <a:ext uri="{FF2B5EF4-FFF2-40B4-BE49-F238E27FC236}">
                <a16:creationId xmlns:a16="http://schemas.microsoft.com/office/drawing/2014/main" id="{16190663-FC9F-456E-8A8B-563FFAA59642}"/>
              </a:ext>
            </a:extLst>
          </p:cNvPr>
          <p:cNvSpPr>
            <a:spLocks xmlns:a="http://schemas.openxmlformats.org/drawingml/2006/main" noGrp="1"/>
          </p:cNvSpPr>
          <p:nvPr/>
        </p:nvSpPr>
        <p:spPr>
          <a:xfrm xmlns:a="http://schemas.openxmlformats.org/drawingml/2006/main">
            <a:off x="685800" y="2590800"/>
            <a:ext cx="4953000" cy="1123950"/>
          </a:xfrm>
          <a:prstGeom xmlns:a="http://schemas.openxmlformats.org/drawingml/2006/main" prst="roundRect">
            <a:avLst>
              <a:gd name="adj" fmla="val 10169"/>
            </a:avLst>
          </a:prstGeom>
          <a:solidFill xmlns:a="http://schemas.openxmlformats.org/drawingml/2006/main">
            <a:srgbClr val="F4F7FA"/>
          </a:solidFill>
          <a:ln xmlns:a="http://schemas.openxmlformats.org/drawingml/2006/main" w="11430">
            <a:solidFill>
              <a:srgbClr val="D8E0E7"/>
            </a:solidFill>
            <a:prstDash val="solid"/>
          </a:ln>
        </p:spPr>
      </p:sp>
      <p:sp>
        <p:nvSpPr>
          <p:cNvPr id="9" name="">
            <a:extLst xmlns:a="http://schemas.openxmlformats.org/drawingml/2006/main">
              <a:ext uri="{FF2B5EF4-FFF2-40B4-BE49-F238E27FC236}">
                <a16:creationId xmlns:a16="http://schemas.microsoft.com/office/drawing/2014/main" id="{E625C7BA-575A-4706-BD50-8133A83439F4}"/>
              </a:ext>
            </a:extLst>
          </p:cNvPr>
          <p:cNvSpPr>
            <a:spLocks xmlns:a="http://schemas.openxmlformats.org/drawingml/2006/main" noGrp="1"/>
          </p:cNvSpPr>
          <p:nvPr/>
        </p:nvSpPr>
        <p:spPr>
          <a:xfrm xmlns:a="http://schemas.openxmlformats.org/drawingml/2006/main">
            <a:off x="933450" y="2800350"/>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725" b="1">
                <a:solidFill>
                  <a:srgbClr val="142735"/>
                </a:solidFill>
                <a:latin typeface="Hiragino Sans GB"/>
                <a:ea typeface="Hiragino Sans GB"/>
                <a:cs typeface="Hiragino Sans GB"/>
              </a:defRPr>
            </a:pPr>
            <a:r>
              <a:rPr sz="1725" b="1">
                <a:solidFill>
                  <a:srgbClr val="142735"/>
                </a:solidFill>
                <a:latin typeface="Hiragino Sans GB"/>
                <a:ea typeface="Hiragino Sans GB"/>
                <a:cs typeface="Hiragino Sans GB"/>
              </a:rPr>
              <a:t>IG(q) = H(C) − 𝔼[H(C｜answer)]</a:t>
            </a:r>
          </a:p>
        </p:txBody>
      </p:sp>
      <p:sp>
        <p:nvSpPr>
          <p:cNvPr id="10" name="">
            <a:extLst xmlns:a="http://schemas.openxmlformats.org/drawingml/2006/main">
              <a:ext uri="{FF2B5EF4-FFF2-40B4-BE49-F238E27FC236}">
                <a16:creationId xmlns:a16="http://schemas.microsoft.com/office/drawing/2014/main" id="{C495AA80-D9B0-4545-AEF7-37306FD4BDEA}"/>
              </a:ext>
            </a:extLst>
          </p:cNvPr>
          <p:cNvSpPr>
            <a:spLocks xmlns:a="http://schemas.openxmlformats.org/drawingml/2006/main" noGrp="1"/>
          </p:cNvSpPr>
          <p:nvPr/>
        </p:nvSpPr>
        <p:spPr>
          <a:xfrm xmlns:a="http://schemas.openxmlformats.org/drawingml/2006/main">
            <a:off x="933450" y="3257550"/>
            <a:ext cx="4457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候选原因越混乱，熵越大；问题使期望熵下降得越多，信息增益越高。</a:t>
            </a:r>
          </a:p>
        </p:txBody>
      </p:sp>
      <p:sp>
        <p:nvSpPr>
          <p:cNvPr id="11" name="">
            <a:extLst xmlns:a="http://schemas.openxmlformats.org/drawingml/2006/main">
              <a:ext uri="{FF2B5EF4-FFF2-40B4-BE49-F238E27FC236}">
                <a16:creationId xmlns:a16="http://schemas.microsoft.com/office/drawing/2014/main" id="{4E813132-FFB5-4B89-BB21-30EB5288F818}"/>
              </a:ext>
            </a:extLst>
          </p:cNvPr>
          <p:cNvSpPr>
            <a:spLocks xmlns:a="http://schemas.openxmlformats.org/drawingml/2006/main" noGrp="1"/>
          </p:cNvSpPr>
          <p:nvPr/>
        </p:nvSpPr>
        <p:spPr>
          <a:xfrm xmlns:a="http://schemas.openxmlformats.org/drawingml/2006/main">
            <a:off x="685800" y="40576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E34A4A"/>
                </a:solidFill>
                <a:latin typeface="Hiragino Sans GB"/>
                <a:ea typeface="Hiragino Sans GB"/>
                <a:cs typeface="Hiragino Sans GB"/>
              </a:defRPr>
            </a:pPr>
            <a:r>
              <a:rPr sz="1425" b="1">
                <a:solidFill>
                  <a:srgbClr val="E34A4A"/>
                </a:solidFill>
                <a:latin typeface="Hiragino Sans GB"/>
                <a:ea typeface="Hiragino Sans GB"/>
                <a:cs typeface="Hiragino Sans GB"/>
              </a:rPr>
              <a:t>2  用户回答后更新原因概率</a:t>
            </a:r>
          </a:p>
        </p:txBody>
      </p:sp>
      <p:sp>
        <p:nvSpPr>
          <p:cNvPr id="12" name="">
            <a:extLst xmlns:a="http://schemas.openxmlformats.org/drawingml/2006/main">
              <a:ext uri="{FF2B5EF4-FFF2-40B4-BE49-F238E27FC236}">
                <a16:creationId xmlns:a16="http://schemas.microsoft.com/office/drawing/2014/main" id="{A736B8B9-A291-49E5-A9F9-F2EFC67453C7}"/>
              </a:ext>
            </a:extLst>
          </p:cNvPr>
          <p:cNvSpPr>
            <a:spLocks xmlns:a="http://schemas.openxmlformats.org/drawingml/2006/main" noGrp="1"/>
          </p:cNvSpPr>
          <p:nvPr/>
        </p:nvSpPr>
        <p:spPr>
          <a:xfrm xmlns:a="http://schemas.openxmlformats.org/drawingml/2006/main">
            <a:off x="685800" y="4495800"/>
            <a:ext cx="4953000" cy="1123950"/>
          </a:xfrm>
          <a:prstGeom xmlns:a="http://schemas.openxmlformats.org/drawingml/2006/main" prst="roundRect">
            <a:avLst>
              <a:gd name="adj" fmla="val 10169"/>
            </a:avLst>
          </a:prstGeom>
          <a:solidFill xmlns:a="http://schemas.openxmlformats.org/drawingml/2006/main">
            <a:srgbClr val="FFF0F0"/>
          </a:solidFill>
          <a:ln xmlns:a="http://schemas.openxmlformats.org/drawingml/2006/main" w="11430">
            <a:solidFill>
              <a:srgbClr val="E34A4A"/>
            </a:solidFill>
            <a:prstDash val="solid"/>
          </a:ln>
        </p:spPr>
      </p:sp>
      <p:sp>
        <p:nvSpPr>
          <p:cNvPr id="13" name="">
            <a:extLst xmlns:a="http://schemas.openxmlformats.org/drawingml/2006/main">
              <a:ext uri="{FF2B5EF4-FFF2-40B4-BE49-F238E27FC236}">
                <a16:creationId xmlns:a16="http://schemas.microsoft.com/office/drawing/2014/main" id="{3A9BEC07-F6A3-4283-9DAD-97A86D6879DD}"/>
              </a:ext>
            </a:extLst>
          </p:cNvPr>
          <p:cNvSpPr>
            <a:spLocks xmlns:a="http://schemas.openxmlformats.org/drawingml/2006/main" noGrp="1"/>
          </p:cNvSpPr>
          <p:nvPr/>
        </p:nvSpPr>
        <p:spPr>
          <a:xfrm xmlns:a="http://schemas.openxmlformats.org/drawingml/2006/main">
            <a:off x="876300" y="47053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142735"/>
                </a:solidFill>
                <a:latin typeface="Hiragino Sans GB"/>
                <a:ea typeface="Hiragino Sans GB"/>
                <a:cs typeface="Hiragino Sans GB"/>
              </a:defRPr>
            </a:pPr>
            <a:r>
              <a:rPr sz="1500" b="1">
                <a:solidFill>
                  <a:srgbClr val="142735"/>
                </a:solidFill>
                <a:latin typeface="Hiragino Sans GB"/>
                <a:ea typeface="Hiragino Sans GB"/>
                <a:cs typeface="Hiragino Sans GB"/>
              </a:rPr>
              <a:t>P(Cᵢ｜o) = P(o｜Cᵢ)P(Cᵢ) ÷ ΣⱼP(o｜Cⱼ)P(Cⱼ)</a:t>
            </a:r>
          </a:p>
        </p:txBody>
      </p:sp>
      <p:sp>
        <p:nvSpPr>
          <p:cNvPr id="14" name="">
            <a:extLst xmlns:a="http://schemas.openxmlformats.org/drawingml/2006/main">
              <a:ext uri="{FF2B5EF4-FFF2-40B4-BE49-F238E27FC236}">
                <a16:creationId xmlns:a16="http://schemas.microsoft.com/office/drawing/2014/main" id="{CD08270B-D01C-4628-9368-4144901C4774}"/>
              </a:ext>
            </a:extLst>
          </p:cNvPr>
          <p:cNvSpPr>
            <a:spLocks xmlns:a="http://schemas.openxmlformats.org/drawingml/2006/main" noGrp="1"/>
          </p:cNvSpPr>
          <p:nvPr/>
        </p:nvSpPr>
        <p:spPr>
          <a:xfrm xmlns:a="http://schemas.openxmlformats.org/drawingml/2006/main">
            <a:off x="914400" y="5200650"/>
            <a:ext cx="449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656"/>
          </a:bodyPr>
          <a:lstStyle xmlns:a="http://schemas.openxmlformats.org/drawingml/2006/main"/>
          <a:p xmlns:a="http://schemas.openxmlformats.org/drawingml/2006/main">
            <a:pPr algn="ctr">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图谱中的 OBSERVATION_SUPPORTS 边保存 P(o｜Cᵢ)，回答进入后完成贝叶斯归一化。</a:t>
            </a:r>
          </a:p>
        </p:txBody>
      </p:sp>
      <p:sp>
        <p:nvSpPr>
          <p:cNvPr id="15" name="">
            <a:extLst xmlns:a="http://schemas.openxmlformats.org/drawingml/2006/main">
              <a:ext uri="{FF2B5EF4-FFF2-40B4-BE49-F238E27FC236}">
                <a16:creationId xmlns:a16="http://schemas.microsoft.com/office/drawing/2014/main" id="{BE13602D-7E78-4C0F-BC08-C073E6377FF1}"/>
              </a:ext>
            </a:extLst>
          </p:cNvPr>
          <p:cNvSpPr>
            <a:spLocks xmlns:a="http://schemas.openxmlformats.org/drawingml/2006/main" noGrp="1"/>
          </p:cNvSpPr>
          <p:nvPr/>
        </p:nvSpPr>
        <p:spPr>
          <a:xfrm xmlns:a="http://schemas.openxmlformats.org/drawingml/2006/main">
            <a:off x="6286500" y="21526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68B6B"/>
                </a:solidFill>
                <a:latin typeface="Hiragino Sans GB"/>
                <a:ea typeface="Hiragino Sans GB"/>
                <a:cs typeface="Hiragino Sans GB"/>
              </a:defRPr>
            </a:pPr>
            <a:r>
              <a:rPr sz="1425" b="1">
                <a:solidFill>
                  <a:srgbClr val="168B6B"/>
                </a:solidFill>
                <a:latin typeface="Hiragino Sans GB"/>
                <a:ea typeface="Hiragino Sans GB"/>
                <a:cs typeface="Hiragino Sans GB"/>
              </a:rPr>
              <a:t>固定案例的一次更新</a:t>
            </a:r>
          </a:p>
        </p:txBody>
      </p:sp>
      <p:sp>
        <p:nvSpPr>
          <p:cNvPr id="16" name="">
            <a:extLst xmlns:a="http://schemas.openxmlformats.org/drawingml/2006/main">
              <a:ext uri="{FF2B5EF4-FFF2-40B4-BE49-F238E27FC236}">
                <a16:creationId xmlns:a16="http://schemas.microsoft.com/office/drawing/2014/main" id="{42E33AA0-3E4D-4095-A0C4-A7BBA76AC254}"/>
              </a:ext>
            </a:extLst>
          </p:cNvPr>
          <p:cNvSpPr>
            <a:spLocks xmlns:a="http://schemas.openxmlformats.org/drawingml/2006/main" noGrp="1"/>
          </p:cNvSpPr>
          <p:nvPr/>
        </p:nvSpPr>
        <p:spPr>
          <a:xfrm xmlns:a="http://schemas.openxmlformats.org/drawingml/2006/main">
            <a:off x="6286500" y="2667000"/>
            <a:ext cx="1809750" cy="819150"/>
          </a:xfrm>
          <a:prstGeom xmlns:a="http://schemas.openxmlformats.org/drawingml/2006/main" prst="roundRect">
            <a:avLst>
              <a:gd name="adj" fmla="val 11628"/>
            </a:avLst>
          </a:prstGeom>
          <a:solidFill xmlns:a="http://schemas.openxmlformats.org/drawingml/2006/main">
            <a:srgbClr val="EEF5FF"/>
          </a:solidFill>
          <a:ln xmlns:a="http://schemas.openxmlformats.org/drawingml/2006/main" w="11430">
            <a:solidFill>
              <a:srgbClr val="1F5FBF"/>
            </a:solidFill>
            <a:prstDash val="solid"/>
          </a:ln>
        </p:spPr>
      </p:sp>
      <p:sp>
        <p:nvSpPr>
          <p:cNvPr id="17" name="">
            <a:extLst xmlns:a="http://schemas.openxmlformats.org/drawingml/2006/main">
              <a:ext uri="{FF2B5EF4-FFF2-40B4-BE49-F238E27FC236}">
                <a16:creationId xmlns:a16="http://schemas.microsoft.com/office/drawing/2014/main" id="{77628AD7-6D53-437E-AA8B-F5FF68742D27}"/>
              </a:ext>
            </a:extLst>
          </p:cNvPr>
          <p:cNvSpPr>
            <a:spLocks xmlns:a="http://schemas.openxmlformats.org/drawingml/2006/main" noGrp="1"/>
          </p:cNvSpPr>
          <p:nvPr/>
        </p:nvSpPr>
        <p:spPr>
          <a:xfrm xmlns:a="http://schemas.openxmlformats.org/drawingml/2006/main">
            <a:off x="6391275" y="2733675"/>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F5FBF"/>
                </a:solidFill>
                <a:latin typeface="Hiragino Sans GB"/>
                <a:ea typeface="Hiragino Sans GB"/>
                <a:cs typeface="Hiragino Sans GB"/>
              </a:defRPr>
            </a:pPr>
            <a:r>
              <a:rPr sz="750" b="1">
                <a:solidFill>
                  <a:srgbClr val="1F5FBF"/>
                </a:solidFill>
                <a:latin typeface="Hiragino Sans GB"/>
                <a:ea typeface="Hiragino Sans GB"/>
                <a:cs typeface="Hiragino Sans GB"/>
              </a:rPr>
              <a:t>更新前</a:t>
            </a:r>
          </a:p>
        </p:txBody>
      </p:sp>
      <p:sp>
        <p:nvSpPr>
          <p:cNvPr id="18" name="">
            <a:extLst xmlns:a="http://schemas.openxmlformats.org/drawingml/2006/main">
              <a:ext uri="{FF2B5EF4-FFF2-40B4-BE49-F238E27FC236}">
                <a16:creationId xmlns:a16="http://schemas.microsoft.com/office/drawing/2014/main" id="{D6DC29E8-1A4A-48AD-A014-40D31B2EC1AB}"/>
              </a:ext>
            </a:extLst>
          </p:cNvPr>
          <p:cNvSpPr>
            <a:spLocks xmlns:a="http://schemas.openxmlformats.org/drawingml/2006/main" noGrp="1"/>
          </p:cNvSpPr>
          <p:nvPr/>
        </p:nvSpPr>
        <p:spPr>
          <a:xfrm xmlns:a="http://schemas.openxmlformats.org/drawingml/2006/main">
            <a:off x="6391275" y="29051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Top-1  56.0%</a:t>
            </a:r>
          </a:p>
          <a:p xmlns:a="http://schemas.openxmlformats.org/drawingml/2006/main">
            <a:pPr algn="ctr">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熵  1.850 bit</a:t>
            </a:r>
          </a:p>
        </p:txBody>
      </p:sp>
      <p:sp>
        <p:nvSpPr>
          <p:cNvPr id="19" name="">
            <a:extLst xmlns:a="http://schemas.openxmlformats.org/drawingml/2006/main">
              <a:ext uri="{FF2B5EF4-FFF2-40B4-BE49-F238E27FC236}">
                <a16:creationId xmlns:a16="http://schemas.microsoft.com/office/drawing/2014/main" id="{E0A29FD7-F6F5-48DF-9B96-74E7D3E04F60}"/>
              </a:ext>
            </a:extLst>
          </p:cNvPr>
          <p:cNvSpPr>
            <a:spLocks xmlns:a="http://schemas.openxmlformats.org/drawingml/2006/main" noGrp="1"/>
          </p:cNvSpPr>
          <p:nvPr/>
        </p:nvSpPr>
        <p:spPr>
          <a:xfrm xmlns:a="http://schemas.openxmlformats.org/drawingml/2006/main">
            <a:off x="8343900" y="3076575"/>
            <a:ext cx="876300" cy="0"/>
          </a:xfrm>
          <a:prstGeom xmlns:a="http://schemas.openxmlformats.org/drawingml/2006/main" prst="line">
            <a:avLst/>
          </a:prstGeom>
          <a:noFill xmlns:a="http://schemas.openxmlformats.org/drawingml/2006/main"/>
          <a:ln xmlns:a="http://schemas.openxmlformats.org/drawingml/2006/main" w="22860">
            <a:solidFill>
              <a:srgbClr val="E34A4A"/>
            </a:solidFill>
            <a:prstDash val="solid"/>
          </a:ln>
        </p:spPr>
      </p:sp>
      <p:sp>
        <p:nvSpPr>
          <p:cNvPr id="20" name="">
            <a:extLst xmlns:a="http://schemas.openxmlformats.org/drawingml/2006/main">
              <a:ext uri="{FF2B5EF4-FFF2-40B4-BE49-F238E27FC236}">
                <a16:creationId xmlns:a16="http://schemas.microsoft.com/office/drawing/2014/main" id="{0BEAE1DD-2B07-4E95-BCFB-7F70CFA2A795}"/>
              </a:ext>
            </a:extLst>
          </p:cNvPr>
          <p:cNvSpPr>
            <a:spLocks xmlns:a="http://schemas.openxmlformats.org/drawingml/2006/main" noGrp="1"/>
          </p:cNvSpPr>
          <p:nvPr/>
        </p:nvSpPr>
        <p:spPr>
          <a:xfrm xmlns:a="http://schemas.openxmlformats.org/drawingml/2006/main">
            <a:off x="8324850" y="2714625"/>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E34A4A"/>
                </a:solidFill>
                <a:latin typeface="Hiragino Sans GB"/>
                <a:ea typeface="Hiragino Sans GB"/>
                <a:cs typeface="Hiragino Sans GB"/>
              </a:defRPr>
            </a:pPr>
            <a:r>
              <a:rPr sz="1050" b="1">
                <a:solidFill>
                  <a:srgbClr val="E34A4A"/>
                </a:solidFill>
                <a:latin typeface="Hiragino Sans GB"/>
                <a:ea typeface="Hiragino Sans GB"/>
                <a:cs typeface="Hiragino Sans GB"/>
              </a:rPr>
              <a:t>回答：是</a:t>
            </a:r>
          </a:p>
        </p:txBody>
      </p:sp>
      <p:sp>
        <p:nvSpPr>
          <p:cNvPr id="21" name="">
            <a:extLst xmlns:a="http://schemas.openxmlformats.org/drawingml/2006/main">
              <a:ext uri="{FF2B5EF4-FFF2-40B4-BE49-F238E27FC236}">
                <a16:creationId xmlns:a16="http://schemas.microsoft.com/office/drawing/2014/main" id="{933CA9D5-685B-4B11-920F-8924781FD73A}"/>
              </a:ext>
            </a:extLst>
          </p:cNvPr>
          <p:cNvSpPr>
            <a:spLocks xmlns:a="http://schemas.openxmlformats.org/drawingml/2006/main" noGrp="1"/>
          </p:cNvSpPr>
          <p:nvPr/>
        </p:nvSpPr>
        <p:spPr>
          <a:xfrm xmlns:a="http://schemas.openxmlformats.org/drawingml/2006/main">
            <a:off x="9467850" y="2667000"/>
            <a:ext cx="1809750" cy="819150"/>
          </a:xfrm>
          <a:prstGeom xmlns:a="http://schemas.openxmlformats.org/drawingml/2006/main" prst="roundRect">
            <a:avLst>
              <a:gd name="adj" fmla="val 11628"/>
            </a:avLst>
          </a:prstGeom>
          <a:solidFill xmlns:a="http://schemas.openxmlformats.org/drawingml/2006/main">
            <a:srgbClr val="EAF8F3"/>
          </a:solidFill>
          <a:ln xmlns:a="http://schemas.openxmlformats.org/drawingml/2006/main" w="11430">
            <a:solidFill>
              <a:srgbClr val="168B6B"/>
            </a:solidFill>
            <a:prstDash val="solid"/>
          </a:ln>
        </p:spPr>
      </p:sp>
      <p:sp>
        <p:nvSpPr>
          <p:cNvPr id="22" name="">
            <a:extLst xmlns:a="http://schemas.openxmlformats.org/drawingml/2006/main">
              <a:ext uri="{FF2B5EF4-FFF2-40B4-BE49-F238E27FC236}">
                <a16:creationId xmlns:a16="http://schemas.microsoft.com/office/drawing/2014/main" id="{6F6C077D-0CF3-4EF5-860F-678EB2A49063}"/>
              </a:ext>
            </a:extLst>
          </p:cNvPr>
          <p:cNvSpPr>
            <a:spLocks xmlns:a="http://schemas.openxmlformats.org/drawingml/2006/main" noGrp="1"/>
          </p:cNvSpPr>
          <p:nvPr/>
        </p:nvSpPr>
        <p:spPr>
          <a:xfrm xmlns:a="http://schemas.openxmlformats.org/drawingml/2006/main">
            <a:off x="9572625" y="2733675"/>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a:solidFill>
                  <a:srgbClr val="168B6B"/>
                </a:solidFill>
                <a:latin typeface="Hiragino Sans GB"/>
                <a:ea typeface="Hiragino Sans GB"/>
                <a:cs typeface="Hiragino Sans GB"/>
              </a:defRPr>
            </a:pPr>
            <a:r>
              <a:rPr sz="750" b="1">
                <a:solidFill>
                  <a:srgbClr val="168B6B"/>
                </a:solidFill>
                <a:latin typeface="Hiragino Sans GB"/>
                <a:ea typeface="Hiragino Sans GB"/>
                <a:cs typeface="Hiragino Sans GB"/>
              </a:rPr>
              <a:t>更新后</a:t>
            </a:r>
          </a:p>
        </p:txBody>
      </p:sp>
      <p:sp>
        <p:nvSpPr>
          <p:cNvPr id="23" name="">
            <a:extLst xmlns:a="http://schemas.openxmlformats.org/drawingml/2006/main">
              <a:ext uri="{FF2B5EF4-FFF2-40B4-BE49-F238E27FC236}">
                <a16:creationId xmlns:a16="http://schemas.microsoft.com/office/drawing/2014/main" id="{5B7E9869-4A02-4317-81A9-AF22F225B1FC}"/>
              </a:ext>
            </a:extLst>
          </p:cNvPr>
          <p:cNvSpPr>
            <a:spLocks xmlns:a="http://schemas.openxmlformats.org/drawingml/2006/main" noGrp="1"/>
          </p:cNvSpPr>
          <p:nvPr/>
        </p:nvSpPr>
        <p:spPr>
          <a:xfrm xmlns:a="http://schemas.openxmlformats.org/drawingml/2006/main">
            <a:off x="9572625" y="29051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Top-1  95.2%</a:t>
            </a:r>
          </a:p>
          <a:p xmlns:a="http://schemas.openxmlformats.org/drawingml/2006/main">
            <a:pPr algn="ctr">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熵  0.364 bit</a:t>
            </a:r>
          </a:p>
        </p:txBody>
      </p:sp>
      <p:sp>
        <p:nvSpPr>
          <p:cNvPr id="24" name="">
            <a:extLst xmlns:a="http://schemas.openxmlformats.org/drawingml/2006/main">
              <a:ext uri="{FF2B5EF4-FFF2-40B4-BE49-F238E27FC236}">
                <a16:creationId xmlns:a16="http://schemas.microsoft.com/office/drawing/2014/main" id="{08BE3848-C38E-41C5-B6E1-E4C3AD10245B}"/>
              </a:ext>
            </a:extLst>
          </p:cNvPr>
          <p:cNvSpPr>
            <a:spLocks xmlns:a="http://schemas.openxmlformats.org/drawingml/2006/main" noGrp="1"/>
          </p:cNvSpPr>
          <p:nvPr/>
        </p:nvSpPr>
        <p:spPr>
          <a:xfrm xmlns:a="http://schemas.openxmlformats.org/drawingml/2006/main">
            <a:off x="6286500" y="3962400"/>
            <a:ext cx="4991100" cy="1657350"/>
          </a:xfrm>
          <a:prstGeom xmlns:a="http://schemas.openxmlformats.org/drawingml/2006/main" prst="roundRect">
            <a:avLst>
              <a:gd name="adj" fmla="val 6897"/>
            </a:avLst>
          </a:prstGeom>
          <a:solidFill xmlns:a="http://schemas.openxmlformats.org/drawingml/2006/main">
            <a:srgbClr val="FFF7E8"/>
          </a:solidFill>
          <a:ln xmlns:a="http://schemas.openxmlformats.org/drawingml/2006/main" w="11430">
            <a:solidFill>
              <a:srgbClr val="F59E0B"/>
            </a:solidFill>
            <a:prstDash val="solid"/>
          </a:ln>
        </p:spPr>
      </p:sp>
      <p:sp>
        <p:nvSpPr>
          <p:cNvPr id="25" name="">
            <a:extLst xmlns:a="http://schemas.openxmlformats.org/drawingml/2006/main">
              <a:ext uri="{FF2B5EF4-FFF2-40B4-BE49-F238E27FC236}">
                <a16:creationId xmlns:a16="http://schemas.microsoft.com/office/drawing/2014/main" id="{55566E7B-21BE-417A-AA20-07903EF81491}"/>
              </a:ext>
            </a:extLst>
          </p:cNvPr>
          <p:cNvSpPr>
            <a:spLocks xmlns:a="http://schemas.openxmlformats.org/drawingml/2006/main" noGrp="1"/>
          </p:cNvSpPr>
          <p:nvPr/>
        </p:nvSpPr>
        <p:spPr>
          <a:xfrm xmlns:a="http://schemas.openxmlformats.org/drawingml/2006/main">
            <a:off x="6534150" y="41719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9A5A00"/>
                </a:solidFill>
                <a:latin typeface="Hiragino Sans GB"/>
                <a:ea typeface="Hiragino Sans GB"/>
                <a:cs typeface="Hiragino Sans GB"/>
              </a:defRPr>
            </a:pPr>
            <a:r>
              <a:rPr sz="1425" b="1">
                <a:solidFill>
                  <a:srgbClr val="9A5A00"/>
                </a:solidFill>
                <a:latin typeface="Hiragino Sans GB"/>
                <a:ea typeface="Hiragino Sans GB"/>
                <a:cs typeface="Hiragino Sans GB"/>
              </a:rPr>
              <a:t>3  同时满足三个条件才停止</a:t>
            </a:r>
          </a:p>
        </p:txBody>
      </p:sp>
      <p:sp>
        <p:nvSpPr>
          <p:cNvPr id="26" name="">
            <a:extLst xmlns:a="http://schemas.openxmlformats.org/drawingml/2006/main">
              <a:ext uri="{FF2B5EF4-FFF2-40B4-BE49-F238E27FC236}">
                <a16:creationId xmlns:a16="http://schemas.microsoft.com/office/drawing/2014/main" id="{5952CB99-27A7-4AAE-8DBE-854C2F0AC9FE}"/>
              </a:ext>
            </a:extLst>
          </p:cNvPr>
          <p:cNvSpPr>
            <a:spLocks xmlns:a="http://schemas.openxmlformats.org/drawingml/2006/main" noGrp="1"/>
          </p:cNvSpPr>
          <p:nvPr/>
        </p:nvSpPr>
        <p:spPr>
          <a:xfrm xmlns:a="http://schemas.openxmlformats.org/drawingml/2006/main">
            <a:off x="6534150" y="4667250"/>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最高概率</a:t>
            </a:r>
          </a:p>
        </p:txBody>
      </p:sp>
      <p:sp>
        <p:nvSpPr>
          <p:cNvPr id="27" name="">
            <a:extLst xmlns:a="http://schemas.openxmlformats.org/drawingml/2006/main">
              <a:ext uri="{FF2B5EF4-FFF2-40B4-BE49-F238E27FC236}">
                <a16:creationId xmlns:a16="http://schemas.microsoft.com/office/drawing/2014/main" id="{9FDA91FB-3A29-42C7-9BDB-6FB5273AA0EB}"/>
              </a:ext>
            </a:extLst>
          </p:cNvPr>
          <p:cNvSpPr>
            <a:spLocks xmlns:a="http://schemas.openxmlformats.org/drawingml/2006/main" noGrp="1"/>
          </p:cNvSpPr>
          <p:nvPr/>
        </p:nvSpPr>
        <p:spPr>
          <a:xfrm xmlns:a="http://schemas.openxmlformats.org/drawingml/2006/main">
            <a:off x="6534150" y="4972050"/>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9A5A00"/>
                </a:solidFill>
                <a:latin typeface="Hiragino Sans GB"/>
                <a:ea typeface="Hiragino Sans GB"/>
                <a:cs typeface="Hiragino Sans GB"/>
              </a:defRPr>
            </a:pPr>
            <a:r>
              <a:rPr sz="1650" b="1">
                <a:solidFill>
                  <a:srgbClr val="9A5A00"/>
                </a:solidFill>
                <a:latin typeface="Hiragino Sans GB"/>
                <a:ea typeface="Hiragino Sans GB"/>
                <a:cs typeface="Hiragino Sans GB"/>
              </a:rPr>
              <a:t>≥ 78%</a:t>
            </a:r>
          </a:p>
        </p:txBody>
      </p:sp>
      <p:sp>
        <p:nvSpPr>
          <p:cNvPr id="28" name="">
            <a:extLst xmlns:a="http://schemas.openxmlformats.org/drawingml/2006/main">
              <a:ext uri="{FF2B5EF4-FFF2-40B4-BE49-F238E27FC236}">
                <a16:creationId xmlns:a16="http://schemas.microsoft.com/office/drawing/2014/main" id="{D8E680DC-7483-444D-97DB-E4FF0383FC51}"/>
              </a:ext>
            </a:extLst>
          </p:cNvPr>
          <p:cNvSpPr>
            <a:spLocks xmlns:a="http://schemas.openxmlformats.org/drawingml/2006/main" noGrp="1"/>
          </p:cNvSpPr>
          <p:nvPr/>
        </p:nvSpPr>
        <p:spPr>
          <a:xfrm xmlns:a="http://schemas.openxmlformats.org/drawingml/2006/main">
            <a:off x="8020050" y="4667250"/>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第一名领先</a:t>
            </a:r>
          </a:p>
        </p:txBody>
      </p:sp>
      <p:sp>
        <p:nvSpPr>
          <p:cNvPr id="29" name="">
            <a:extLst xmlns:a="http://schemas.openxmlformats.org/drawingml/2006/main">
              <a:ext uri="{FF2B5EF4-FFF2-40B4-BE49-F238E27FC236}">
                <a16:creationId xmlns:a16="http://schemas.microsoft.com/office/drawing/2014/main" id="{5ED4A0A5-9BB4-49BA-90A3-4D0888655EE1}"/>
              </a:ext>
            </a:extLst>
          </p:cNvPr>
          <p:cNvSpPr>
            <a:spLocks xmlns:a="http://schemas.openxmlformats.org/drawingml/2006/main" noGrp="1"/>
          </p:cNvSpPr>
          <p:nvPr/>
        </p:nvSpPr>
        <p:spPr>
          <a:xfrm xmlns:a="http://schemas.openxmlformats.org/drawingml/2006/main">
            <a:off x="8020050" y="4972050"/>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9A5A00"/>
                </a:solidFill>
                <a:latin typeface="Hiragino Sans GB"/>
                <a:ea typeface="Hiragino Sans GB"/>
                <a:cs typeface="Hiragino Sans GB"/>
              </a:defRPr>
            </a:pPr>
            <a:r>
              <a:rPr sz="1650" b="1">
                <a:solidFill>
                  <a:srgbClr val="9A5A00"/>
                </a:solidFill>
                <a:latin typeface="Hiragino Sans GB"/>
                <a:ea typeface="Hiragino Sans GB"/>
                <a:cs typeface="Hiragino Sans GB"/>
              </a:rPr>
              <a:t>≥ 20%</a:t>
            </a:r>
          </a:p>
        </p:txBody>
      </p:sp>
      <p:sp>
        <p:nvSpPr>
          <p:cNvPr id="30" name="">
            <a:extLst xmlns:a="http://schemas.openxmlformats.org/drawingml/2006/main">
              <a:ext uri="{FF2B5EF4-FFF2-40B4-BE49-F238E27FC236}">
                <a16:creationId xmlns:a16="http://schemas.microsoft.com/office/drawing/2014/main" id="{5411772A-49C8-4480-BFE6-AE5AC7763A39}"/>
              </a:ext>
            </a:extLst>
          </p:cNvPr>
          <p:cNvSpPr>
            <a:spLocks xmlns:a="http://schemas.openxmlformats.org/drawingml/2006/main" noGrp="1"/>
          </p:cNvSpPr>
          <p:nvPr/>
        </p:nvSpPr>
        <p:spPr>
          <a:xfrm xmlns:a="http://schemas.openxmlformats.org/drawingml/2006/main">
            <a:off x="9505950" y="4667250"/>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0">
                <a:solidFill>
                  <a:srgbClr val="5B6B78"/>
                </a:solidFill>
                <a:latin typeface="Hiragino Sans GB"/>
                <a:ea typeface="Hiragino Sans GB"/>
                <a:cs typeface="Hiragino Sans GB"/>
              </a:defRPr>
            </a:pPr>
            <a:r>
              <a:rPr sz="1050" b="0">
                <a:solidFill>
                  <a:srgbClr val="5B6B78"/>
                </a:solidFill>
                <a:latin typeface="Hiragino Sans GB"/>
                <a:ea typeface="Hiragino Sans GB"/>
                <a:cs typeface="Hiragino Sans GB"/>
              </a:rPr>
              <a:t>有效回答</a:t>
            </a:r>
          </a:p>
        </p:txBody>
      </p:sp>
      <p:sp>
        <p:nvSpPr>
          <p:cNvPr id="31" name="">
            <a:extLst xmlns:a="http://schemas.openxmlformats.org/drawingml/2006/main">
              <a:ext uri="{FF2B5EF4-FFF2-40B4-BE49-F238E27FC236}">
                <a16:creationId xmlns:a16="http://schemas.microsoft.com/office/drawing/2014/main" id="{ABC6510D-9E3E-4E59-A0FA-C835E0A77D4C}"/>
              </a:ext>
            </a:extLst>
          </p:cNvPr>
          <p:cNvSpPr>
            <a:spLocks xmlns:a="http://schemas.openxmlformats.org/drawingml/2006/main" noGrp="1"/>
          </p:cNvSpPr>
          <p:nvPr/>
        </p:nvSpPr>
        <p:spPr>
          <a:xfrm xmlns:a="http://schemas.openxmlformats.org/drawingml/2006/main">
            <a:off x="9505950" y="4972050"/>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9A5A00"/>
                </a:solidFill>
                <a:latin typeface="Hiragino Sans GB"/>
                <a:ea typeface="Hiragino Sans GB"/>
                <a:cs typeface="Hiragino Sans GB"/>
              </a:defRPr>
            </a:pPr>
            <a:r>
              <a:rPr sz="1650" b="1">
                <a:solidFill>
                  <a:srgbClr val="9A5A00"/>
                </a:solidFill>
                <a:latin typeface="Hiragino Sans GB"/>
                <a:ea typeface="Hiragino Sans GB"/>
                <a:cs typeface="Hiragino Sans GB"/>
              </a:rPr>
              <a:t>≥ 2个</a:t>
            </a:r>
          </a:p>
        </p:txBody>
      </p:sp>
      <p:sp>
        <p:nvSpPr>
          <p:cNvPr id="32" name="">
            <a:extLst xmlns:a="http://schemas.openxmlformats.org/drawingml/2006/main">
              <a:ext uri="{FF2B5EF4-FFF2-40B4-BE49-F238E27FC236}">
                <a16:creationId xmlns:a16="http://schemas.microsoft.com/office/drawing/2014/main" id="{1989DA7D-B20A-4785-8CA7-DBDC7AB74B5F}"/>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这页不进入五分钟主讲；老师追问公式、概率更新或停止条件时再展示</a:t>
            </a:r>
          </a:p>
        </p:txBody>
      </p:sp>
    </p:spTree>
    <p:extLst>
      <p:ext uri="{BB962C8B-B14F-4D97-AF65-F5344CB8AC3E}">
        <p14:creationId xmlns:p14="http://schemas.microsoft.com/office/powerpoint/2010/main" val="13055824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D6AE04-3ACE-4177-84EE-FCC2D06CA654}"/>
              </a:ext>
            </a:extLst>
          </p:cNvPr>
          <p:cNvSpPr>
            <a:spLocks xmlns:a="http://schemas.openxmlformats.org/drawingml/2006/main" noGrp="1"/>
          </p:cNvSpPr>
          <p:nvPr/>
        </p:nvSpPr>
        <p:spPr>
          <a:xfrm xmlns:a="http://schemas.openxmlformats.org/drawingml/2006/main">
            <a:off x="647700" y="3619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DEBUGPATH</a:t>
            </a:r>
          </a:p>
        </p:txBody>
      </p:sp>
      <p:sp>
        <p:nvSpPr>
          <p:cNvPr id="2" name="">
            <a:extLst xmlns:a="http://schemas.openxmlformats.org/drawingml/2006/main">
              <a:ext uri="{FF2B5EF4-FFF2-40B4-BE49-F238E27FC236}">
                <a16:creationId xmlns:a16="http://schemas.microsoft.com/office/drawing/2014/main" id="{14BA52D8-CD70-4AEB-8A78-CDE8C1154A92}"/>
              </a:ext>
            </a:extLst>
          </p:cNvPr>
          <p:cNvSpPr>
            <a:spLocks xmlns:a="http://schemas.openxmlformats.org/drawingml/2006/main" noGrp="1"/>
          </p:cNvSpPr>
          <p:nvPr/>
        </p:nvSpPr>
        <p:spPr>
          <a:xfrm xmlns:a="http://schemas.openxmlformats.org/drawingml/2006/main">
            <a:off x="647700" y="666750"/>
            <a:ext cx="1009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142735"/>
                </a:solidFill>
                <a:latin typeface="Hiragino Sans GB"/>
                <a:ea typeface="Hiragino Sans GB"/>
                <a:cs typeface="Hiragino Sans GB"/>
              </a:defRPr>
            </a:pPr>
            <a:r>
              <a:rPr sz="2550" b="1">
                <a:solidFill>
                  <a:srgbClr val="142735"/>
                </a:solidFill>
                <a:latin typeface="Hiragino Sans GB"/>
                <a:ea typeface="Hiragino Sans GB"/>
                <a:cs typeface="Hiragino Sans GB"/>
              </a:rPr>
              <a:t>备用：实验数据划分与指标口径</a:t>
            </a:r>
          </a:p>
        </p:txBody>
      </p:sp>
      <p:sp>
        <p:nvSpPr>
          <p:cNvPr id="3" name="">
            <a:extLst xmlns:a="http://schemas.openxmlformats.org/drawingml/2006/main">
              <a:ext uri="{FF2B5EF4-FFF2-40B4-BE49-F238E27FC236}">
                <a16:creationId xmlns:a16="http://schemas.microsoft.com/office/drawing/2014/main" id="{DC794095-64CE-430F-B97E-48A4B3D34AA7}"/>
              </a:ext>
            </a:extLst>
          </p:cNvPr>
          <p:cNvSpPr>
            <a:spLocks xmlns:a="http://schemas.openxmlformats.org/drawingml/2006/main" noGrp="1"/>
          </p:cNvSpPr>
          <p:nvPr/>
        </p:nvSpPr>
        <p:spPr>
          <a:xfrm xmlns:a="http://schemas.openxmlformats.org/drawingml/2006/main">
            <a:off x="11144250" y="4000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1">
                <a:solidFill>
                  <a:srgbClr val="5B6B78"/>
                </a:solidFill>
                <a:latin typeface="Hiragino Sans GB"/>
                <a:ea typeface="Hiragino Sans GB"/>
                <a:cs typeface="Hiragino Sans GB"/>
              </a:defRPr>
            </a:pPr>
            <a:r>
              <a:rPr sz="1200" b="1">
                <a:solidFill>
                  <a:srgbClr val="5B6B78"/>
                </a:solidFill>
                <a:latin typeface="Hiragino Sans GB"/>
                <a:ea typeface="Hiragino Sans GB"/>
                <a:cs typeface="Hiragino Sans GB"/>
              </a:rPr>
              <a:t>11</a:t>
            </a:r>
          </a:p>
        </p:txBody>
      </p:sp>
      <p:sp>
        <p:nvSpPr>
          <p:cNvPr id="4" name="">
            <a:extLst xmlns:a="http://schemas.openxmlformats.org/drawingml/2006/main">
              <a:ext uri="{FF2B5EF4-FFF2-40B4-BE49-F238E27FC236}">
                <a16:creationId xmlns:a16="http://schemas.microsoft.com/office/drawing/2014/main" id="{12F2648D-1377-4F4A-9898-1AC946B1D0C5}"/>
              </a:ext>
            </a:extLst>
          </p:cNvPr>
          <p:cNvSpPr>
            <a:spLocks xmlns:a="http://schemas.openxmlformats.org/drawingml/2006/main" noGrp="1"/>
          </p:cNvSpPr>
          <p:nvPr/>
        </p:nvSpPr>
        <p:spPr>
          <a:xfrm xmlns:a="http://schemas.openxmlformats.org/drawingml/2006/main">
            <a:off x="647700" y="1257300"/>
            <a:ext cx="10896600" cy="0"/>
          </a:xfrm>
          <a:prstGeom xmlns:a="http://schemas.openxmlformats.org/drawingml/2006/main" prst="line">
            <a:avLst/>
          </a:prstGeom>
          <a:noFill xmlns:a="http://schemas.openxmlformats.org/drawingml/2006/main"/>
          <a:ln xmlns:a="http://schemas.openxmlformats.org/drawingml/2006/main" w="9525">
            <a:solidFill>
              <a:srgbClr val="D8E0E7"/>
            </a:solidFill>
            <a:prstDash val="solid"/>
          </a:ln>
        </p:spPr>
      </p:sp>
      <p:sp>
        <p:nvSpPr>
          <p:cNvPr id="5" name="">
            <a:extLst xmlns:a="http://schemas.openxmlformats.org/drawingml/2006/main">
              <a:ext uri="{FF2B5EF4-FFF2-40B4-BE49-F238E27FC236}">
                <a16:creationId xmlns:a16="http://schemas.microsoft.com/office/drawing/2014/main" id="{220B300D-8088-4A89-9C63-DABA97ABB6AB}"/>
              </a:ext>
            </a:extLst>
          </p:cNvPr>
          <p:cNvSpPr>
            <a:spLocks xmlns:a="http://schemas.openxmlformats.org/drawingml/2006/main" noGrp="1"/>
          </p:cNvSpPr>
          <p:nvPr/>
        </p:nvSpPr>
        <p:spPr>
          <a:xfrm xmlns:a="http://schemas.openxmlformats.org/drawingml/2006/main">
            <a:off x="685800" y="1466850"/>
            <a:ext cx="1295400" cy="285750"/>
          </a:xfrm>
          <a:prstGeom xmlns:a="http://schemas.openxmlformats.org/drawingml/2006/main" prst="roundRect">
            <a:avLst>
              <a:gd name="adj" fmla="val 50000"/>
            </a:avLst>
          </a:prstGeom>
          <a:solidFill xmlns:a="http://schemas.openxmlformats.org/drawingml/2006/main">
            <a:srgbClr val="DCEAFF"/>
          </a:solidFill>
          <a:ln xmlns:a="http://schemas.openxmlformats.org/drawingml/2006/main" w="11430">
            <a:solidFill>
              <a:srgbClr val="DCEA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1050" b="1">
                <a:solidFill>
                  <a:srgbClr val="1F5FBF"/>
                </a:solidFill>
                <a:latin typeface="Hiragino Sans GB"/>
                <a:ea typeface="Hiragino Sans GB"/>
                <a:cs typeface="Hiragino Sans GB"/>
              </a:defRPr>
            </a:pPr>
            <a:r>
              <a:rPr sz="1050" b="1">
                <a:solidFill>
                  <a:srgbClr val="1F5FBF"/>
                </a:solidFill>
                <a:latin typeface="Hiragino Sans GB"/>
                <a:ea typeface="Hiragino Sans GB"/>
                <a:cs typeface="Hiragino Sans GB"/>
              </a:rPr>
              <a:t>答辩追问备用</a:t>
            </a:r>
          </a:p>
        </p:txBody>
      </p:sp>
      <p:sp>
        <p:nvSpPr>
          <p:cNvPr id="6" name="">
            <a:extLst xmlns:a="http://schemas.openxmlformats.org/drawingml/2006/main">
              <a:ext uri="{FF2B5EF4-FFF2-40B4-BE49-F238E27FC236}">
                <a16:creationId xmlns:a16="http://schemas.microsoft.com/office/drawing/2014/main" id="{379E682C-91AA-49BD-A26A-50C47B89F5FF}"/>
              </a:ext>
            </a:extLst>
          </p:cNvPr>
          <p:cNvSpPr>
            <a:spLocks xmlns:a="http://schemas.openxmlformats.org/drawingml/2006/main" noGrp="1"/>
          </p:cNvSpPr>
          <p:nvPr/>
        </p:nvSpPr>
        <p:spPr>
          <a:xfrm xmlns:a="http://schemas.openxmlformats.org/drawingml/2006/main">
            <a:off x="2171700" y="14859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42735"/>
                </a:solidFill>
                <a:latin typeface="Hiragino Sans GB"/>
                <a:ea typeface="Hiragino Sans GB"/>
                <a:cs typeface="Hiragino Sans GB"/>
              </a:defRPr>
            </a:pPr>
            <a:r>
              <a:rPr sz="1500" b="1">
                <a:solidFill>
                  <a:srgbClr val="142735"/>
                </a:solidFill>
                <a:latin typeface="Hiragino Sans GB"/>
                <a:ea typeface="Hiragino Sans GB"/>
                <a:cs typeface="Hiragino Sans GB"/>
              </a:rPr>
              <a:t>开发调优与独立验证分开，避免用同一批案例反复证明自己</a:t>
            </a:r>
          </a:p>
        </p:txBody>
      </p:sp>
      <p:sp>
        <p:nvSpPr>
          <p:cNvPr id="7" name="">
            <a:extLst xmlns:a="http://schemas.openxmlformats.org/drawingml/2006/main">
              <a:ext uri="{FF2B5EF4-FFF2-40B4-BE49-F238E27FC236}">
                <a16:creationId xmlns:a16="http://schemas.microsoft.com/office/drawing/2014/main" id="{4FA8C218-C9BE-478B-B17C-A728C5B4E8F6}"/>
              </a:ext>
            </a:extLst>
          </p:cNvPr>
          <p:cNvSpPr>
            <a:spLocks xmlns:a="http://schemas.openxmlformats.org/drawingml/2006/main" noGrp="1"/>
          </p:cNvSpPr>
          <p:nvPr/>
        </p:nvSpPr>
        <p:spPr>
          <a:xfrm xmlns:a="http://schemas.openxmlformats.org/drawingml/2006/main">
            <a:off x="685800" y="2190750"/>
            <a:ext cx="3257550" cy="2133600"/>
          </a:xfrm>
          <a:prstGeom xmlns:a="http://schemas.openxmlformats.org/drawingml/2006/main" prst="roundRect">
            <a:avLst>
              <a:gd name="adj" fmla="val 6250"/>
            </a:avLst>
          </a:prstGeom>
          <a:solidFill xmlns:a="http://schemas.openxmlformats.org/drawingml/2006/main">
            <a:srgbClr val="FFF7E8"/>
          </a:solidFill>
          <a:ln xmlns:a="http://schemas.openxmlformats.org/drawingml/2006/main" w="11430">
            <a:solidFill>
              <a:srgbClr val="F59E0B"/>
            </a:solidFill>
            <a:prstDash val="solid"/>
          </a:ln>
        </p:spPr>
      </p:sp>
      <p:sp>
        <p:nvSpPr>
          <p:cNvPr id="8" name="">
            <a:extLst xmlns:a="http://schemas.openxmlformats.org/drawingml/2006/main">
              <a:ext uri="{FF2B5EF4-FFF2-40B4-BE49-F238E27FC236}">
                <a16:creationId xmlns:a16="http://schemas.microsoft.com/office/drawing/2014/main" id="{CCD76089-CBF3-47A2-A0D1-83E3A40C7E77}"/>
              </a:ext>
            </a:extLst>
          </p:cNvPr>
          <p:cNvSpPr>
            <a:spLocks xmlns:a="http://schemas.openxmlformats.org/drawingml/2006/main" noGrp="1"/>
          </p:cNvSpPr>
          <p:nvPr/>
        </p:nvSpPr>
        <p:spPr>
          <a:xfrm xmlns:a="http://schemas.openxmlformats.org/drawingml/2006/main">
            <a:off x="895350" y="239077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F59E0B"/>
                </a:solidFill>
                <a:latin typeface="Hiragino Sans GB"/>
                <a:ea typeface="Hiragino Sans GB"/>
                <a:cs typeface="Hiragino Sans GB"/>
              </a:defRPr>
            </a:pPr>
            <a:r>
              <a:rPr sz="1350" b="1">
                <a:solidFill>
                  <a:srgbClr val="F59E0B"/>
                </a:solidFill>
                <a:latin typeface="Hiragino Sans GB"/>
                <a:ea typeface="Hiragino Sans GB"/>
                <a:cs typeface="Hiragino Sans GB"/>
              </a:rPr>
              <a:t>开发集</a:t>
            </a:r>
          </a:p>
        </p:txBody>
      </p:sp>
      <p:sp>
        <p:nvSpPr>
          <p:cNvPr id="9" name="">
            <a:extLst xmlns:a="http://schemas.openxmlformats.org/drawingml/2006/main">
              <a:ext uri="{FF2B5EF4-FFF2-40B4-BE49-F238E27FC236}">
                <a16:creationId xmlns:a16="http://schemas.microsoft.com/office/drawing/2014/main" id="{7A3B5267-EDE3-46D6-A681-800CFCA93B79}"/>
              </a:ext>
            </a:extLst>
          </p:cNvPr>
          <p:cNvSpPr>
            <a:spLocks xmlns:a="http://schemas.openxmlformats.org/drawingml/2006/main" noGrp="1"/>
          </p:cNvSpPr>
          <p:nvPr/>
        </p:nvSpPr>
        <p:spPr>
          <a:xfrm xmlns:a="http://schemas.openxmlformats.org/drawingml/2006/main">
            <a:off x="895350" y="28003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142735"/>
                </a:solidFill>
                <a:latin typeface="Hiragino Sans GB"/>
                <a:ea typeface="Hiragino Sans GB"/>
                <a:cs typeface="Hiragino Sans GB"/>
              </a:defRPr>
            </a:pPr>
            <a:r>
              <a:rPr sz="1800" b="1">
                <a:solidFill>
                  <a:srgbClr val="142735"/>
                </a:solidFill>
                <a:latin typeface="Hiragino Sans GB"/>
                <a:ea typeface="Hiragino Sans GB"/>
                <a:cs typeface="Hiragino Sans GB"/>
              </a:rPr>
              <a:t>28条确认根因案例</a:t>
            </a:r>
          </a:p>
        </p:txBody>
      </p:sp>
      <p:sp>
        <p:nvSpPr>
          <p:cNvPr id="10" name="">
            <a:extLst xmlns:a="http://schemas.openxmlformats.org/drawingml/2006/main">
              <a:ext uri="{FF2B5EF4-FFF2-40B4-BE49-F238E27FC236}">
                <a16:creationId xmlns:a16="http://schemas.microsoft.com/office/drawing/2014/main" id="{F3341CFA-DEF2-4375-9726-EB9C38495819}"/>
              </a:ext>
            </a:extLst>
          </p:cNvPr>
          <p:cNvSpPr>
            <a:spLocks xmlns:a="http://schemas.openxmlformats.org/drawingml/2006/main" noGrp="1"/>
          </p:cNvSpPr>
          <p:nvPr/>
        </p:nvSpPr>
        <p:spPr>
          <a:xfrm xmlns:a="http://schemas.openxmlformats.org/drawingml/2006/main">
            <a:off x="895350" y="3314700"/>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14个原因，每个原因2条</a:t>
            </a:r>
          </a:p>
        </p:txBody>
      </p:sp>
      <p:sp>
        <p:nvSpPr>
          <p:cNvPr id="11" name="">
            <a:extLst xmlns:a="http://schemas.openxmlformats.org/drawingml/2006/main">
              <a:ext uri="{FF2B5EF4-FFF2-40B4-BE49-F238E27FC236}">
                <a16:creationId xmlns:a16="http://schemas.microsoft.com/office/drawing/2014/main" id="{F222ABDE-69B8-4AD1-BAE0-E4AAAAE6FCDF}"/>
              </a:ext>
            </a:extLst>
          </p:cNvPr>
          <p:cNvSpPr>
            <a:spLocks xmlns:a="http://schemas.openxmlformats.org/drawingml/2006/main" noGrp="1"/>
          </p:cNvSpPr>
          <p:nvPr/>
        </p:nvSpPr>
        <p:spPr>
          <a:xfrm xmlns:a="http://schemas.openxmlformats.org/drawingml/2006/main">
            <a:off x="895350" y="37528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Hiragino Sans GB"/>
                <a:ea typeface="Hiragino Sans GB"/>
                <a:cs typeface="Hiragino Sans GB"/>
              </a:defRPr>
            </a:pPr>
            <a:r>
              <a:rPr sz="1125" b="1">
                <a:solidFill>
                  <a:srgbClr val="142735"/>
                </a:solidFill>
                <a:latin typeface="Hiragino Sans GB"/>
                <a:ea typeface="Hiragino Sans GB"/>
                <a:cs typeface="Hiragino Sans GB"/>
              </a:rPr>
              <a:t>用于校准条件概率、增加区分性问题</a:t>
            </a:r>
          </a:p>
        </p:txBody>
      </p:sp>
      <p:sp>
        <p:nvSpPr>
          <p:cNvPr id="12" name="">
            <a:extLst xmlns:a="http://schemas.openxmlformats.org/drawingml/2006/main">
              <a:ext uri="{FF2B5EF4-FFF2-40B4-BE49-F238E27FC236}">
                <a16:creationId xmlns:a16="http://schemas.microsoft.com/office/drawing/2014/main" id="{665752AF-394F-4B5D-AFDC-BA9C38ED70EB}"/>
              </a:ext>
            </a:extLst>
          </p:cNvPr>
          <p:cNvSpPr>
            <a:spLocks xmlns:a="http://schemas.openxmlformats.org/drawingml/2006/main" noGrp="1"/>
          </p:cNvSpPr>
          <p:nvPr/>
        </p:nvSpPr>
        <p:spPr>
          <a:xfrm xmlns:a="http://schemas.openxmlformats.org/drawingml/2006/main">
            <a:off x="4324350" y="2190750"/>
            <a:ext cx="3257550" cy="2133600"/>
          </a:xfrm>
          <a:prstGeom xmlns:a="http://schemas.openxmlformats.org/drawingml/2006/main" prst="roundRect">
            <a:avLst>
              <a:gd name="adj" fmla="val 6250"/>
            </a:avLst>
          </a:prstGeom>
          <a:solidFill xmlns:a="http://schemas.openxmlformats.org/drawingml/2006/main">
            <a:srgbClr val="EEF5FF"/>
          </a:solidFill>
          <a:ln xmlns:a="http://schemas.openxmlformats.org/drawingml/2006/main" w="11430">
            <a:solidFill>
              <a:srgbClr val="1F5FBF"/>
            </a:solidFill>
            <a:prstDash val="solid"/>
          </a:ln>
        </p:spPr>
      </p:sp>
      <p:sp>
        <p:nvSpPr>
          <p:cNvPr id="13" name="">
            <a:extLst xmlns:a="http://schemas.openxmlformats.org/drawingml/2006/main">
              <a:ext uri="{FF2B5EF4-FFF2-40B4-BE49-F238E27FC236}">
                <a16:creationId xmlns:a16="http://schemas.microsoft.com/office/drawing/2014/main" id="{ADB5B956-685F-488C-A376-D551BD00883D}"/>
              </a:ext>
            </a:extLst>
          </p:cNvPr>
          <p:cNvSpPr>
            <a:spLocks xmlns:a="http://schemas.openxmlformats.org/drawingml/2006/main" noGrp="1"/>
          </p:cNvSpPr>
          <p:nvPr/>
        </p:nvSpPr>
        <p:spPr>
          <a:xfrm xmlns:a="http://schemas.openxmlformats.org/drawingml/2006/main">
            <a:off x="4533900" y="239077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F5FBF"/>
                </a:solidFill>
                <a:latin typeface="Hiragino Sans GB"/>
                <a:ea typeface="Hiragino Sans GB"/>
                <a:cs typeface="Hiragino Sans GB"/>
              </a:defRPr>
            </a:pPr>
            <a:r>
              <a:rPr sz="1350" b="1">
                <a:solidFill>
                  <a:srgbClr val="1F5FBF"/>
                </a:solidFill>
                <a:latin typeface="Hiragino Sans GB"/>
                <a:ea typeface="Hiragino Sans GB"/>
                <a:cs typeface="Hiragino Sans GB"/>
              </a:rPr>
              <a:t>首次冻结测试</a:t>
            </a:r>
          </a:p>
        </p:txBody>
      </p:sp>
      <p:sp>
        <p:nvSpPr>
          <p:cNvPr id="14" name="">
            <a:extLst xmlns:a="http://schemas.openxmlformats.org/drawingml/2006/main">
              <a:ext uri="{FF2B5EF4-FFF2-40B4-BE49-F238E27FC236}">
                <a16:creationId xmlns:a16="http://schemas.microsoft.com/office/drawing/2014/main" id="{F90C17BA-7604-4701-B7BD-347A7455CC2A}"/>
              </a:ext>
            </a:extLst>
          </p:cNvPr>
          <p:cNvSpPr>
            <a:spLocks xmlns:a="http://schemas.openxmlformats.org/drawingml/2006/main" noGrp="1"/>
          </p:cNvSpPr>
          <p:nvPr/>
        </p:nvSpPr>
        <p:spPr>
          <a:xfrm xmlns:a="http://schemas.openxmlformats.org/drawingml/2006/main">
            <a:off x="4533900" y="28003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142735"/>
                </a:solidFill>
                <a:latin typeface="Hiragino Sans GB"/>
                <a:ea typeface="Hiragino Sans GB"/>
                <a:cs typeface="Hiragino Sans GB"/>
              </a:defRPr>
            </a:pPr>
            <a:r>
              <a:rPr sz="1800" b="1">
                <a:solidFill>
                  <a:srgbClr val="142735"/>
                </a:solidFill>
                <a:latin typeface="Hiragino Sans GB"/>
                <a:ea typeface="Hiragino Sans GB"/>
                <a:cs typeface="Hiragino Sans GB"/>
              </a:rPr>
              <a:t>14条未见案例</a:t>
            </a:r>
          </a:p>
        </p:txBody>
      </p:sp>
      <p:sp>
        <p:nvSpPr>
          <p:cNvPr id="15" name="">
            <a:extLst xmlns:a="http://schemas.openxmlformats.org/drawingml/2006/main">
              <a:ext uri="{FF2B5EF4-FFF2-40B4-BE49-F238E27FC236}">
                <a16:creationId xmlns:a16="http://schemas.microsoft.com/office/drawing/2014/main" id="{917A4427-6D24-41D2-AD7D-BDD83E1ABEB0}"/>
              </a:ext>
            </a:extLst>
          </p:cNvPr>
          <p:cNvSpPr>
            <a:spLocks xmlns:a="http://schemas.openxmlformats.org/drawingml/2006/main" noGrp="1"/>
          </p:cNvSpPr>
          <p:nvPr/>
        </p:nvSpPr>
        <p:spPr>
          <a:xfrm xmlns:a="http://schemas.openxmlformats.org/drawingml/2006/main">
            <a:off x="4533900" y="3314700"/>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14个原因，每个原因1条</a:t>
            </a:r>
          </a:p>
        </p:txBody>
      </p:sp>
      <p:sp>
        <p:nvSpPr>
          <p:cNvPr id="16" name="">
            <a:extLst xmlns:a="http://schemas.openxmlformats.org/drawingml/2006/main">
              <a:ext uri="{FF2B5EF4-FFF2-40B4-BE49-F238E27FC236}">
                <a16:creationId xmlns:a16="http://schemas.microsoft.com/office/drawing/2014/main" id="{F4804BA6-0808-4190-9FE7-363287FA162B}"/>
              </a:ext>
            </a:extLst>
          </p:cNvPr>
          <p:cNvSpPr>
            <a:spLocks xmlns:a="http://schemas.openxmlformats.org/drawingml/2006/main" noGrp="1"/>
          </p:cNvSpPr>
          <p:nvPr/>
        </p:nvSpPr>
        <p:spPr>
          <a:xfrm xmlns:a="http://schemas.openxmlformats.org/drawingml/2006/main">
            <a:off x="4533900" y="37528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Hiragino Sans GB"/>
                <a:ea typeface="Hiragino Sans GB"/>
                <a:cs typeface="Hiragino Sans GB"/>
              </a:defRPr>
            </a:pPr>
            <a:r>
              <a:rPr sz="1125" b="1">
                <a:solidFill>
                  <a:srgbClr val="142735"/>
                </a:solidFill>
                <a:latin typeface="Hiragino Sans GB"/>
                <a:ea typeface="Hiragino Sans GB"/>
                <a:cs typeface="Hiragino Sans GB"/>
              </a:rPr>
              <a:t>模型与测试集封存后只运行一次</a:t>
            </a:r>
          </a:p>
        </p:txBody>
      </p:sp>
      <p:sp>
        <p:nvSpPr>
          <p:cNvPr id="17" name="">
            <a:extLst xmlns:a="http://schemas.openxmlformats.org/drawingml/2006/main">
              <a:ext uri="{FF2B5EF4-FFF2-40B4-BE49-F238E27FC236}">
                <a16:creationId xmlns:a16="http://schemas.microsoft.com/office/drawing/2014/main" id="{4A12A0A7-D7CD-454D-9882-FE58C8D071AB}"/>
              </a:ext>
            </a:extLst>
          </p:cNvPr>
          <p:cNvSpPr>
            <a:spLocks xmlns:a="http://schemas.openxmlformats.org/drawingml/2006/main" noGrp="1"/>
          </p:cNvSpPr>
          <p:nvPr/>
        </p:nvSpPr>
        <p:spPr>
          <a:xfrm xmlns:a="http://schemas.openxmlformats.org/drawingml/2006/main">
            <a:off x="7962900" y="2190750"/>
            <a:ext cx="3257550" cy="2133600"/>
          </a:xfrm>
          <a:prstGeom xmlns:a="http://schemas.openxmlformats.org/drawingml/2006/main" prst="roundRect">
            <a:avLst>
              <a:gd name="adj" fmla="val 6250"/>
            </a:avLst>
          </a:prstGeom>
          <a:solidFill xmlns:a="http://schemas.openxmlformats.org/drawingml/2006/main">
            <a:srgbClr val="EAF8F3"/>
          </a:solidFill>
          <a:ln xmlns:a="http://schemas.openxmlformats.org/drawingml/2006/main" w="11430">
            <a:solidFill>
              <a:srgbClr val="168B6B"/>
            </a:solidFill>
            <a:prstDash val="solid"/>
          </a:ln>
        </p:spPr>
      </p:sp>
      <p:sp>
        <p:nvSpPr>
          <p:cNvPr id="18" name="">
            <a:extLst xmlns:a="http://schemas.openxmlformats.org/drawingml/2006/main">
              <a:ext uri="{FF2B5EF4-FFF2-40B4-BE49-F238E27FC236}">
                <a16:creationId xmlns:a16="http://schemas.microsoft.com/office/drawing/2014/main" id="{519A8737-A9D6-48EF-B99C-3FFC4724C8F5}"/>
              </a:ext>
            </a:extLst>
          </p:cNvPr>
          <p:cNvSpPr>
            <a:spLocks xmlns:a="http://schemas.openxmlformats.org/drawingml/2006/main" noGrp="1"/>
          </p:cNvSpPr>
          <p:nvPr/>
        </p:nvSpPr>
        <p:spPr>
          <a:xfrm xmlns:a="http://schemas.openxmlformats.org/drawingml/2006/main">
            <a:off x="8172450" y="2390775"/>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68B6B"/>
                </a:solidFill>
                <a:latin typeface="Hiragino Sans GB"/>
                <a:ea typeface="Hiragino Sans GB"/>
                <a:cs typeface="Hiragino Sans GB"/>
              </a:defRPr>
            </a:pPr>
            <a:r>
              <a:rPr sz="1350" b="1">
                <a:solidFill>
                  <a:srgbClr val="168B6B"/>
                </a:solidFill>
                <a:latin typeface="Hiragino Sans GB"/>
                <a:ea typeface="Hiragino Sans GB"/>
                <a:cs typeface="Hiragino Sans GB"/>
              </a:rPr>
              <a:t>针对性验证</a:t>
            </a:r>
          </a:p>
        </p:txBody>
      </p:sp>
      <p:sp>
        <p:nvSpPr>
          <p:cNvPr id="19" name="">
            <a:extLst xmlns:a="http://schemas.openxmlformats.org/drawingml/2006/main">
              <a:ext uri="{FF2B5EF4-FFF2-40B4-BE49-F238E27FC236}">
                <a16:creationId xmlns:a16="http://schemas.microsoft.com/office/drawing/2014/main" id="{4B9170D9-1364-469B-9D21-0AA5852DAE14}"/>
              </a:ext>
            </a:extLst>
          </p:cNvPr>
          <p:cNvSpPr>
            <a:spLocks xmlns:a="http://schemas.openxmlformats.org/drawingml/2006/main" noGrp="1"/>
          </p:cNvSpPr>
          <p:nvPr/>
        </p:nvSpPr>
        <p:spPr>
          <a:xfrm xmlns:a="http://schemas.openxmlformats.org/drawingml/2006/main">
            <a:off x="8172450" y="28003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142735"/>
                </a:solidFill>
                <a:latin typeface="Hiragino Sans GB"/>
                <a:ea typeface="Hiragino Sans GB"/>
                <a:cs typeface="Hiragino Sans GB"/>
              </a:defRPr>
            </a:pPr>
            <a:r>
              <a:rPr sz="1800" b="1">
                <a:solidFill>
                  <a:srgbClr val="142735"/>
                </a:solidFill>
                <a:latin typeface="Hiragino Sans GB"/>
                <a:ea typeface="Hiragino Sans GB"/>
                <a:cs typeface="Hiragino Sans GB"/>
              </a:rPr>
              <a:t>4条新增确认记录</a:t>
            </a:r>
          </a:p>
        </p:txBody>
      </p:sp>
      <p:sp>
        <p:nvSpPr>
          <p:cNvPr id="20" name="">
            <a:extLst xmlns:a="http://schemas.openxmlformats.org/drawingml/2006/main">
              <a:ext uri="{FF2B5EF4-FFF2-40B4-BE49-F238E27FC236}">
                <a16:creationId xmlns:a16="http://schemas.microsoft.com/office/drawing/2014/main" id="{3AF97EAC-C7F3-41CD-BAC5-4769A29582C5}"/>
              </a:ext>
            </a:extLst>
          </p:cNvPr>
          <p:cNvSpPr>
            <a:spLocks xmlns:a="http://schemas.openxmlformats.org/drawingml/2006/main" noGrp="1"/>
          </p:cNvSpPr>
          <p:nvPr/>
        </p:nvSpPr>
        <p:spPr>
          <a:xfrm xmlns:a="http://schemas.openxmlformats.org/drawingml/2006/main">
            <a:off x="8172450" y="3314700"/>
            <a:ext cx="283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版本不兼容2条，容器地址2条</a:t>
            </a:r>
          </a:p>
        </p:txBody>
      </p:sp>
      <p:sp>
        <p:nvSpPr>
          <p:cNvPr id="21" name="">
            <a:extLst xmlns:a="http://schemas.openxmlformats.org/drawingml/2006/main">
              <a:ext uri="{FF2B5EF4-FFF2-40B4-BE49-F238E27FC236}">
                <a16:creationId xmlns:a16="http://schemas.microsoft.com/office/drawing/2014/main" id="{FECF2383-81E0-4229-BCAA-93CA9C9A629C}"/>
              </a:ext>
            </a:extLst>
          </p:cNvPr>
          <p:cNvSpPr>
            <a:spLocks xmlns:a="http://schemas.openxmlformats.org/drawingml/2006/main" noGrp="1"/>
          </p:cNvSpPr>
          <p:nvPr/>
        </p:nvSpPr>
        <p:spPr>
          <a:xfrm xmlns:a="http://schemas.openxmlformats.org/drawingml/2006/main">
            <a:off x="8172450" y="375285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Hiragino Sans GB"/>
                <a:ea typeface="Hiragino Sans GB"/>
                <a:cs typeface="Hiragino Sans GB"/>
              </a:defRPr>
            </a:pPr>
            <a:r>
              <a:rPr sz="1125" b="1">
                <a:solidFill>
                  <a:srgbClr val="142735"/>
                </a:solidFill>
                <a:latin typeface="Hiragino Sans GB"/>
                <a:ea typeface="Hiragino Sans GB"/>
                <a:cs typeface="Hiragino Sans GB"/>
              </a:rPr>
              <a:t>参数固定后验证两项优化的目标机制</a:t>
            </a:r>
          </a:p>
        </p:txBody>
      </p:sp>
      <p:sp>
        <p:nvSpPr>
          <p:cNvPr id="22" name="">
            <a:extLst xmlns:a="http://schemas.openxmlformats.org/drawingml/2006/main">
              <a:ext uri="{FF2B5EF4-FFF2-40B4-BE49-F238E27FC236}">
                <a16:creationId xmlns:a16="http://schemas.microsoft.com/office/drawing/2014/main" id="{5A35DF95-E837-4E11-BC56-B0F3D4095F0A}"/>
              </a:ext>
            </a:extLst>
          </p:cNvPr>
          <p:cNvSpPr>
            <a:spLocks xmlns:a="http://schemas.openxmlformats.org/drawingml/2006/main" noGrp="1"/>
          </p:cNvSpPr>
          <p:nvPr/>
        </p:nvSpPr>
        <p:spPr>
          <a:xfrm xmlns:a="http://schemas.openxmlformats.org/drawingml/2006/main">
            <a:off x="68580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a:solidFill>
                  <a:srgbClr val="1F5FBF"/>
                </a:solidFill>
                <a:latin typeface="Hiragino Sans GB"/>
                <a:ea typeface="Hiragino Sans GB"/>
                <a:cs typeface="Hiragino Sans GB"/>
              </a:defRPr>
            </a:pPr>
            <a:r>
              <a:rPr sz="1425" b="1">
                <a:solidFill>
                  <a:srgbClr val="1F5FBF"/>
                </a:solidFill>
                <a:latin typeface="Hiragino Sans GB"/>
                <a:ea typeface="Hiragino Sans GB"/>
                <a:cs typeface="Hiragino Sans GB"/>
              </a:rPr>
              <a:t>两层评价口径</a:t>
            </a:r>
          </a:p>
        </p:txBody>
      </p:sp>
      <p:sp>
        <p:nvSpPr>
          <p:cNvPr id="23" name="">
            <a:extLst xmlns:a="http://schemas.openxmlformats.org/drawingml/2006/main">
              <a:ext uri="{FF2B5EF4-FFF2-40B4-BE49-F238E27FC236}">
                <a16:creationId xmlns:a16="http://schemas.microsoft.com/office/drawing/2014/main" id="{D8BCEDB2-DDF9-48F3-9B5E-C713E97B62E9}"/>
              </a:ext>
            </a:extLst>
          </p:cNvPr>
          <p:cNvSpPr>
            <a:spLocks xmlns:a="http://schemas.openxmlformats.org/drawingml/2006/main" noGrp="1"/>
          </p:cNvSpPr>
          <p:nvPr/>
        </p:nvSpPr>
        <p:spPr>
          <a:xfrm xmlns:a="http://schemas.openxmlformats.org/drawingml/2006/main">
            <a:off x="685800" y="5200650"/>
            <a:ext cx="4991100" cy="742950"/>
          </a:xfrm>
          <a:prstGeom xmlns:a="http://schemas.openxmlformats.org/drawingml/2006/main" prst="roundRect">
            <a:avLst>
              <a:gd name="adj" fmla="val 15385"/>
            </a:avLst>
          </a:prstGeom>
          <a:solidFill xmlns:a="http://schemas.openxmlformats.org/drawingml/2006/main">
            <a:srgbClr val="F4F7FA"/>
          </a:solidFill>
          <a:ln xmlns:a="http://schemas.openxmlformats.org/drawingml/2006/main" w="11430">
            <a:solidFill>
              <a:srgbClr val="D8E0E7"/>
            </a:solidFill>
            <a:prstDash val="solid"/>
          </a:ln>
        </p:spPr>
      </p:sp>
      <p:sp>
        <p:nvSpPr>
          <p:cNvPr id="24" name="">
            <a:extLst xmlns:a="http://schemas.openxmlformats.org/drawingml/2006/main">
              <a:ext uri="{FF2B5EF4-FFF2-40B4-BE49-F238E27FC236}">
                <a16:creationId xmlns:a16="http://schemas.microsoft.com/office/drawing/2014/main" id="{48AE1048-46AB-4EDC-BD2B-2968B2CF3985}"/>
              </a:ext>
            </a:extLst>
          </p:cNvPr>
          <p:cNvSpPr>
            <a:spLocks xmlns:a="http://schemas.openxmlformats.org/drawingml/2006/main" noGrp="1"/>
          </p:cNvSpPr>
          <p:nvPr/>
        </p:nvSpPr>
        <p:spPr>
          <a:xfrm xmlns:a="http://schemas.openxmlformats.org/drawingml/2006/main">
            <a:off x="914400" y="53530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端到端  n = 14</a:t>
            </a:r>
          </a:p>
        </p:txBody>
      </p:sp>
      <p:sp>
        <p:nvSpPr>
          <p:cNvPr id="25" name="">
            <a:extLst xmlns:a="http://schemas.openxmlformats.org/drawingml/2006/main">
              <a:ext uri="{FF2B5EF4-FFF2-40B4-BE49-F238E27FC236}">
                <a16:creationId xmlns:a16="http://schemas.microsoft.com/office/drawing/2014/main" id="{49E88FBA-41F8-4107-94E9-2AD34667F967}"/>
              </a:ext>
            </a:extLst>
          </p:cNvPr>
          <p:cNvSpPr>
            <a:spLocks xmlns:a="http://schemas.openxmlformats.org/drawingml/2006/main" noGrp="1"/>
          </p:cNvSpPr>
          <p:nvPr/>
        </p:nvSpPr>
        <p:spPr>
          <a:xfrm xmlns:a="http://schemas.openxmlformats.org/drawingml/2006/main">
            <a:off x="2724150" y="5353050"/>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包括入口识别失败，反映完整系统表现</a:t>
            </a:r>
          </a:p>
        </p:txBody>
      </p:sp>
      <p:sp>
        <p:nvSpPr>
          <p:cNvPr id="26" name="">
            <a:extLst xmlns:a="http://schemas.openxmlformats.org/drawingml/2006/main">
              <a:ext uri="{FF2B5EF4-FFF2-40B4-BE49-F238E27FC236}">
                <a16:creationId xmlns:a16="http://schemas.microsoft.com/office/drawing/2014/main" id="{7D27A6AB-6DBD-4D55-BD24-AEE763E60C7C}"/>
              </a:ext>
            </a:extLst>
          </p:cNvPr>
          <p:cNvSpPr>
            <a:spLocks xmlns:a="http://schemas.openxmlformats.org/drawingml/2006/main" noGrp="1"/>
          </p:cNvSpPr>
          <p:nvPr/>
        </p:nvSpPr>
        <p:spPr>
          <a:xfrm xmlns:a="http://schemas.openxmlformats.org/drawingml/2006/main">
            <a:off x="5981700" y="5200650"/>
            <a:ext cx="5524500" cy="742950"/>
          </a:xfrm>
          <a:prstGeom xmlns:a="http://schemas.openxmlformats.org/drawingml/2006/main" prst="roundRect">
            <a:avLst>
              <a:gd name="adj" fmla="val 15385"/>
            </a:avLst>
          </a:prstGeom>
          <a:solidFill xmlns:a="http://schemas.openxmlformats.org/drawingml/2006/main">
            <a:srgbClr val="F4F7FA"/>
          </a:solidFill>
          <a:ln xmlns:a="http://schemas.openxmlformats.org/drawingml/2006/main" w="11430">
            <a:solidFill>
              <a:srgbClr val="D8E0E7"/>
            </a:solidFill>
            <a:prstDash val="solid"/>
          </a:ln>
        </p:spPr>
      </p:sp>
      <p:sp>
        <p:nvSpPr>
          <p:cNvPr id="27" name="">
            <a:extLst xmlns:a="http://schemas.openxmlformats.org/drawingml/2006/main">
              <a:ext uri="{FF2B5EF4-FFF2-40B4-BE49-F238E27FC236}">
                <a16:creationId xmlns:a16="http://schemas.microsoft.com/office/drawing/2014/main" id="{F72DF599-0C09-4E0D-AFF8-863C86A00280}"/>
              </a:ext>
            </a:extLst>
          </p:cNvPr>
          <p:cNvSpPr>
            <a:spLocks xmlns:a="http://schemas.openxmlformats.org/drawingml/2006/main" noGrp="1"/>
          </p:cNvSpPr>
          <p:nvPr/>
        </p:nvSpPr>
        <p:spPr>
          <a:xfrm xmlns:a="http://schemas.openxmlformats.org/drawingml/2006/main">
            <a:off x="6210300" y="53530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142735"/>
                </a:solidFill>
                <a:latin typeface="Hiragino Sans GB"/>
                <a:ea typeface="Hiragino Sans GB"/>
                <a:cs typeface="Hiragino Sans GB"/>
              </a:defRPr>
            </a:pPr>
            <a:r>
              <a:rPr sz="1275" b="1">
                <a:solidFill>
                  <a:srgbClr val="142735"/>
                </a:solidFill>
                <a:latin typeface="Hiragino Sans GB"/>
                <a:ea typeface="Hiragino Sans GB"/>
                <a:cs typeface="Hiragino Sans GB"/>
              </a:rPr>
              <a:t>选问算法  n = 9</a:t>
            </a:r>
          </a:p>
        </p:txBody>
      </p:sp>
      <p:sp>
        <p:nvSpPr>
          <p:cNvPr id="28" name="">
            <a:extLst xmlns:a="http://schemas.openxmlformats.org/drawingml/2006/main">
              <a:ext uri="{FF2B5EF4-FFF2-40B4-BE49-F238E27FC236}">
                <a16:creationId xmlns:a16="http://schemas.microsoft.com/office/drawing/2014/main" id="{4C6332D0-76C8-47FB-B935-625D4AEBB2E9}"/>
              </a:ext>
            </a:extLst>
          </p:cNvPr>
          <p:cNvSpPr>
            <a:spLocks xmlns:a="http://schemas.openxmlformats.org/drawingml/2006/main" noGrp="1"/>
          </p:cNvSpPr>
          <p:nvPr/>
        </p:nvSpPr>
        <p:spPr>
          <a:xfrm xmlns:a="http://schemas.openxmlformats.org/drawingml/2006/main">
            <a:off x="8115300" y="52959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B6B78"/>
                </a:solidFill>
                <a:latin typeface="Hiragino Sans GB"/>
                <a:ea typeface="Hiragino Sans GB"/>
                <a:cs typeface="Hiragino Sans GB"/>
              </a:defRPr>
            </a:pPr>
            <a:r>
              <a:rPr sz="1125" b="0">
                <a:solidFill>
                  <a:srgbClr val="5B6B78"/>
                </a:solidFill>
                <a:latin typeface="Hiragino Sans GB"/>
                <a:ea typeface="Hiragino Sans GB"/>
                <a:cs typeface="Hiragino Sans GB"/>
              </a:rPr>
              <a:t>固定顺序3.67问，信息增益3.22问；3问内成功率22.2%与44.4%</a:t>
            </a:r>
          </a:p>
        </p:txBody>
      </p:sp>
      <p:sp>
        <p:nvSpPr>
          <p:cNvPr id="29" name="">
            <a:extLst xmlns:a="http://schemas.openxmlformats.org/drawingml/2006/main">
              <a:ext uri="{FF2B5EF4-FFF2-40B4-BE49-F238E27FC236}">
                <a16:creationId xmlns:a16="http://schemas.microsoft.com/office/drawing/2014/main" id="{0F85CA9B-180E-4734-8071-F8AB6B92CDCA}"/>
              </a:ext>
            </a:extLst>
          </p:cNvPr>
          <p:cNvSpPr>
            <a:spLocks xmlns:a="http://schemas.openxmlformats.org/drawingml/2006/main" noGrp="1"/>
          </p:cNvSpPr>
          <p:nvPr/>
        </p:nvSpPr>
        <p:spPr>
          <a:xfrm xmlns:a="http://schemas.openxmlformats.org/drawingml/2006/main">
            <a:off x="647700" y="64770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0">
                <a:solidFill>
                  <a:srgbClr val="7C8A96"/>
                </a:solidFill>
                <a:latin typeface="Hiragino Sans GB"/>
                <a:ea typeface="Hiragino Sans GB"/>
                <a:cs typeface="Hiragino Sans GB"/>
              </a:defRPr>
            </a:pPr>
            <a:r>
              <a:rPr sz="825" b="0">
                <a:solidFill>
                  <a:srgbClr val="7C8A96"/>
                </a:solidFill>
                <a:latin typeface="Hiragino Sans GB"/>
                <a:ea typeface="Hiragino Sans GB"/>
                <a:cs typeface="Hiragino Sans GB"/>
              </a:rPr>
              <a:t>开发集回答“修改是否有用”，冻结测试回答“未见案例上是否仍然成立”</a:t>
            </a:r>
          </a:p>
        </p:txBody>
      </p:sp>
    </p:spTree>
    <p:extLst>
      <p:ext uri="{BB962C8B-B14F-4D97-AF65-F5344CB8AC3E}">
        <p14:creationId xmlns:p14="http://schemas.microsoft.com/office/powerpoint/2010/main" val="740787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2026-09-13T08:56:44.8810000Z</dcterms:created>
  <dcterms:modified xsi:type="dcterms:W3CDTF">2026-09-13T08:56:44.8810000Z</dcterms:modified>
</coreProperties>
</file>