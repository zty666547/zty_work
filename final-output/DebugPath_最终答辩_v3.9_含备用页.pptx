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5d34fd51194f1f" /><Relationship Type="http://schemas.openxmlformats.org/officeDocument/2006/relationships/extended-properties" Target="/docProps/app.xml" Id="Rf37c140366224417" /><Relationship Type="http://schemas.openxmlformats.org/officeDocument/2006/relationships/officeDocument" Target="/ppt/presentation.xml" Id="Ra71c3fcbcbcd49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2f30cdb5d6477d"/>
  </p:sldMasterIdLst>
  <p:notesMasterIdLst>
    <p:notesMasterId xmlns:r="http://schemas.openxmlformats.org/officeDocument/2006/relationships" r:id="R050632ced17247ed"/>
  </p:notesMasterIdLst>
  <p:sldIdLst>
    <p:sldId xmlns:r="http://schemas.openxmlformats.org/officeDocument/2006/relationships" id="256" r:id="R5039c111649b4d03"/>
    <p:sldId xmlns:r="http://schemas.openxmlformats.org/officeDocument/2006/relationships" id="257" r:id="R1011697c2df74273"/>
    <p:sldId xmlns:r="http://schemas.openxmlformats.org/officeDocument/2006/relationships" id="258" r:id="R93ea230fd3f84c3b"/>
    <p:sldId xmlns:r="http://schemas.openxmlformats.org/officeDocument/2006/relationships" id="259" r:id="Ree5cbcfdf5044d2e"/>
    <p:sldId xmlns:r="http://schemas.openxmlformats.org/officeDocument/2006/relationships" id="260" r:id="Rad5ebf6673cc4c4e"/>
    <p:sldId xmlns:r="http://schemas.openxmlformats.org/officeDocument/2006/relationships" id="261" r:id="R810822dc0b3046f5"/>
    <p:sldId xmlns:r="http://schemas.openxmlformats.org/officeDocument/2006/relationships" id="262" r:id="R000b590600794702"/>
    <p:sldId xmlns:r="http://schemas.openxmlformats.org/officeDocument/2006/relationships" id="263" r:id="R646a806556c0493e"/>
    <p:sldId xmlns:r="http://schemas.openxmlformats.org/officeDocument/2006/relationships" id="264" r:id="Rafc0133608764dae"/>
    <p:sldId xmlns:r="http://schemas.openxmlformats.org/officeDocument/2006/relationships" id="265" r:id="Redadf765ad934239"/>
    <p:sldId xmlns:r="http://schemas.openxmlformats.org/officeDocument/2006/relationships" id="266" r:id="R8a8a92e175cc4ffb"/>
    <p:sldId xmlns:r="http://schemas.openxmlformats.org/officeDocument/2006/relationships" id="267" r:id="R3a46b7696c8f41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687ec05b954bef" /><Relationship Type="http://schemas.openxmlformats.org/officeDocument/2006/relationships/slideMaster" Target="/ppt/slideMasters/slideMaster1.xml" Id="Re82f30cdb5d6477d" /><Relationship Type="http://schemas.openxmlformats.org/officeDocument/2006/relationships/notesMaster" Target="/ppt/notesMasters/notesMaster1.xml" Id="R050632ced17247ed" /><Relationship Type="http://schemas.openxmlformats.org/officeDocument/2006/relationships/presProps" Target="/ppt/presProps.xml" Id="R8e33b1dba0054b41" /><Relationship Type="http://schemas.openxmlformats.org/officeDocument/2006/relationships/viewProps" Target="/ppt/viewProps.xml" Id="R3279e164ccdd4aa4" /><Relationship Type="http://schemas.openxmlformats.org/officeDocument/2006/relationships/tableStyles" Target="/ppt/tableStyles.xml" Id="Rc63d821d85344434" /><Relationship Type="http://schemas.openxmlformats.org/officeDocument/2006/relationships/slide" Target="/ppt/slides/slide1.xml" Id="R5039c111649b4d03" /><Relationship Type="http://schemas.openxmlformats.org/officeDocument/2006/relationships/slide" Target="/ppt/slides/slide2.xml" Id="R1011697c2df74273" /><Relationship Type="http://schemas.openxmlformats.org/officeDocument/2006/relationships/slide" Target="/ppt/slides/slide3.xml" Id="R93ea230fd3f84c3b" /><Relationship Type="http://schemas.openxmlformats.org/officeDocument/2006/relationships/slide" Target="/ppt/slides/slide4.xml" Id="Ree5cbcfdf5044d2e" /><Relationship Type="http://schemas.openxmlformats.org/officeDocument/2006/relationships/slide" Target="/ppt/slides/slide5.xml" Id="Rad5ebf6673cc4c4e" /><Relationship Type="http://schemas.openxmlformats.org/officeDocument/2006/relationships/slide" Target="/ppt/slides/slide6.xml" Id="R810822dc0b3046f5" /><Relationship Type="http://schemas.openxmlformats.org/officeDocument/2006/relationships/slide" Target="/ppt/slides/slide7.xml" Id="R000b590600794702" /><Relationship Type="http://schemas.openxmlformats.org/officeDocument/2006/relationships/slide" Target="/ppt/slides/slide8.xml" Id="R646a806556c0493e" /><Relationship Type="http://schemas.openxmlformats.org/officeDocument/2006/relationships/slide" Target="/ppt/slides/slide9.xml" Id="Rafc0133608764dae" /><Relationship Type="http://schemas.openxmlformats.org/officeDocument/2006/relationships/slide" Target="/ppt/slides/slide10.xml" Id="Redadf765ad934239" /><Relationship Type="http://schemas.openxmlformats.org/officeDocument/2006/relationships/slide" Target="/ppt/slides/slide11.xml" Id="R8a8a92e175cc4ffb" /><Relationship Type="http://schemas.openxmlformats.org/officeDocument/2006/relationships/slide" Target="/ppt/slides/slide12.xml" Id="R3a46b7696c8f41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1524742d934a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91a394ff814653" /><Relationship Type="http://schemas.openxmlformats.org/officeDocument/2006/relationships/notesMaster" Target="/ppt/notesMasters/notesMaster1.xml" Id="R8b0a757b5a5c46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65501491e740e9" /><Relationship Type="http://schemas.openxmlformats.org/officeDocument/2006/relationships/notesMaster" Target="/ppt/notesMasters/notesMaster1.xml" Id="R6f4195dea13d4b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42f67911234e55" /><Relationship Type="http://schemas.openxmlformats.org/officeDocument/2006/relationships/notesMaster" Target="/ppt/notesMasters/notesMaster1.xml" Id="R8068264213444c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9f301242c1479f" /><Relationship Type="http://schemas.openxmlformats.org/officeDocument/2006/relationships/notesMaster" Target="/ppt/notesMasters/notesMaster1.xml" Id="Rdc2aa92d46564a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9e969a666b4bf6" /><Relationship Type="http://schemas.openxmlformats.org/officeDocument/2006/relationships/notesMaster" Target="/ppt/notesMasters/notesMaster1.xml" Id="R56e85b9fd83748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c17f31a87d4f85" /><Relationship Type="http://schemas.openxmlformats.org/officeDocument/2006/relationships/notesMaster" Target="/ppt/notesMasters/notesMaster1.xml" Id="Radb2cbdc1cf642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d9699e1542465c" /><Relationship Type="http://schemas.openxmlformats.org/officeDocument/2006/relationships/notesMaster" Target="/ppt/notesMasters/notesMaster1.xml" Id="R4a8aac42c1db4d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9d4dfeaddc40be" /><Relationship Type="http://schemas.openxmlformats.org/officeDocument/2006/relationships/notesMaster" Target="/ppt/notesMasters/notesMaster1.xml" Id="Reb034a343bb342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b9b87c7fbe43cf" /><Relationship Type="http://schemas.openxmlformats.org/officeDocument/2006/relationships/notesMaster" Target="/ppt/notesMasters/notesMaster1.xml" Id="R134b771c145441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9c9f3cc022491b" /><Relationship Type="http://schemas.openxmlformats.org/officeDocument/2006/relationships/notesMaster" Target="/ppt/notesMasters/notesMaster1.xml" Id="R968330b70b3840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fe7017c81fa48ed" /><Relationship Type="http://schemas.openxmlformats.org/officeDocument/2006/relationships/notesMaster" Target="/ppt/notesMasters/notesMaster1.xml" Id="R73e514582225477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cfb446554f242df" /><Relationship Type="http://schemas.openxmlformats.org/officeDocument/2006/relationships/notesMaster" Target="/ppt/notesMasters/notesMaster1.xml" Id="R8f65b95e501843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开场控制在20秒。先说项目名称，再用一句话说明核心差异：DebugPath不是一次问答，而是在图谱中通过主动询问不断缩小原因范围。资料依据：README.md，docs/architecture.md。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30秒。只讲期中之后新增的三项工作。第一，图谱扩展到15类节点和27类关系，补充服务、端点和部署环境，使原因能够落到具体检查与修复。第二，使用28条确认根因案例校准条件概率并增加区分性问题，同时以置信度、领先差距和有效回答决定何时停止。第三，完成诊断轨迹回放，每轮记录问题、观察、候选概率、熵和候选子图变化。原第4项注入约束不作为最终汇报的主要工作。来源：docs/final-defense-evidenc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图谱部分重点，用55秒。先讲四层：故障与证据、交互推理、环境约束、方案输出。再讲三种边的语义差别。OBSERVATION_SUPPORTS保存P(观察结果|原因)，是动态推理真正使用的概率因果边。来源：docs/graph-explanation.md，src/graph/schema_v2.py，data/demo/open_webui_ollama_trajectory.json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45秒。三种关系沿同一条诊断链依次发挥作用。HAS_POSSIBLE_CAUSE从Issue指向Cause，只负责确定当前故障对应的候选原因范围。CHUNK_SUPPORTS_CAUSE从EvidenceChunk指向Cause，系统先用BM25命中证据，再沿这条关系把证据映射到原因，与图谱先验融合后形成初始概率。OBSERVATION_SUPPORTS从Observation指向Cause，边上保存P（观察结果｜原因）。用户回答后，系统读取这些条件概率进行贝叶斯更新，使不符合观察的原因降权、符合观察的原因升权，候选子图随之重排。底层知识图谱的节点和边没有被删除，变化发生在当前诊断会话的候选子图视图中。来源：docs/final-defense-evidence.md、docs/causal_graph_design.md、docs/data_dictionary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55秒。先明确第二阶段并非只增加可回答性参数。28条确认根因的开发案例暴露出两类稳定混淆。第一，将包可见条件下版本不兼容的条件概率从0.80校准为0.25；第二，增加目标主机本机检查，用于区分服务地址错误和服务停止。可回答率、检查成本和风险只作为信息增益的附加修正，目前不能声称已经独立证明其优势。来源：docs/calibration.md，data/evaluation/calibration_results.json，src/diagnosis/engine.py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45秒。四条新增公开确认记录在两项优化固定后加入。左侧只用正确原因平均概率展示消融路径：基础版本56.5%，只校准条件概率66.3%，只增加区分性问题70.6%，两项结合80.4%。右侧解释作用差异：概率校准主要减少版本不兼容原因的概率低估；新增问题主要解决容器地址错误与相近原因的混淆。两项结合后，四条目标案例的正确原因均排到第一位。样本小且针对性选取，因此只说明目标机制得到验证，不代表总体准确率。MRR、Brier和完整口径放在备用页。结果文件：data/evaluation/targeted_validation_cases.json，data/evaluation/optimization_metrics_exploratory.json。公开记录：https://github.com/openinterpreter/openinterpreter/issues/170；https://github.com/pytorch/pytorch/issues/144757；https://github.com/OpenHands/OpenHands/issues/8318；https://github.com/browser-use/web-ui/issues/164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本页用35秒。用户描述Open WebUI容器无法连接宿主机Ollama。系统先用BM25检索EvidenceChunk，再沿CHUNK_SUPPORTS_CAUSE映射候选原因，融合文本相关性与图谱先验并归一化为初始概率。第一名服务地址配置错误为56.0%，当前熵1.850 bit，仍需追问。系统选择信息增益0.733 bit的问题。来源：data/demo/open_webui_ollama_trajectory.json，src/diagnosis/trajectory_v2.py。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本页用35秒。用户回答是以后，系统增加Observation节点。OBSERVATION_SUPPORTS边同时作用于所有候选原因，服务地址配置错误从56.0%升至95.2%，熵降到0.364 bit。系统随后选择下一问：必需环境变量是否缺失。来源：data/demo/open_webui_ollama_trajectory.json，src/diagnosis/trajectory_v2.py。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50秒。第二问排除环境变量缺失后，Top-1升至96.9%，满足阈值、领先差距和有效证据数三个条件。系统随后沿图谱找到服务上下文、检查、修复、风险与来源。注入层的边界是程序化白名单校验，不应夸大为开放式模型安全。来源：data/demo/open_webui_ollama_trajectory.json，data/evaluation/injection_results.json，src/diagnosis/generator.py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备用页。信息增益比较提问前后的候选原因熵；用户回答后，系统读取图谱条件概率并执行贝叶斯更新。停止诊断同时要求最高概率、首位领先差距和有效回答数达到阈值。示例数值来自Open WebUI连接Ollama诊断轨迹。来源：docs/algorithm-explanation.md，data/demo/open_webui_ollama_trajectory.json，src/diagnosis/engine.py。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页。28条确认根因案例属于开发集，已经参与参数与结构调整，因此100%不能解释为独立测试性能。14条新来源案例组成首次冻结测试集，其中5条在故障族入口失败；端到端指标使用全部14例，选问效率另外报告成功进入图谱的9例。随后补充的4条公开确认记录只针对条件概率校准和新增问题，在参数固定后运行，不代表整体准确率。来源：data/evaluation/real_case_split.json，data/evaluation/model_freeze.json，data/evaluation/frozen_test_results.json，data/evaluation/targeted_validation_cases.json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只在老师追问参数依据时使用。原始0.80是图谱构建阶段的启发式值。开发集中两条Python版本不兼容案例里，目标包都不可见，因此包可见的原始频率是0除以2。由于两条样本不足以支持零概率，我们使用加1拉普拉斯平滑，得到(0+1)/(2+2)=0.25。该数值属于小样本开发集的保守估计，用于诊断排序，不解释为真实故障概率。仅修改这一条件概率的开发集消融中，Top-1从89.3%提升到92.9%，但同一开发集参与了参数选择，因此不能作为无偏测试结论。来源：docs/calibration.md；data/evaluation/calibration_result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520f635b1a4b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114aa78cc2495e" /><Relationship Type="http://schemas.openxmlformats.org/officeDocument/2006/relationships/slideLayout" Target="/ppt/slideLayouts/slideLayout1.xml" Id="R184d407f651e470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4d407f651e47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4f1747a812446d" /><Relationship Type="http://schemas.openxmlformats.org/officeDocument/2006/relationships/notesSlide" Target="/ppt/notesSlides/notesSlide1.xml" Id="R5f9ef6b0abfa4d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4064275f94151" /><Relationship Type="http://schemas.openxmlformats.org/officeDocument/2006/relationships/notesSlide" Target="/ppt/notesSlides/notesSlide2.xml" Id="R7b1222faf0324a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cd79be35d4e87" /><Relationship Type="http://schemas.openxmlformats.org/officeDocument/2006/relationships/image" Target="/ppt/media/image.png" Id="R93dfc9154aaa4360" /><Relationship Type="http://schemas.openxmlformats.org/officeDocument/2006/relationships/notesSlide" Target="/ppt/notesSlides/notesSlide3.xml" Id="Rb15292a3f1cf4a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06b7f90dc491e" /><Relationship Type="http://schemas.openxmlformats.org/officeDocument/2006/relationships/notesSlide" Target="/ppt/notesSlides/notesSlide4.xml" Id="Rff86c0088a2045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e072a00e644f81" /><Relationship Type="http://schemas.openxmlformats.org/officeDocument/2006/relationships/notesSlide" Target="/ppt/notesSlides/notesSlide5.xml" Id="R2fbb340fdbbc4f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abc2db4624811" /><Relationship Type="http://schemas.openxmlformats.org/officeDocument/2006/relationships/notesSlide" Target="/ppt/notesSlides/notesSlide6.xml" Id="Ra980f1bed91441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69c766d344d06" /><Relationship Type="http://schemas.openxmlformats.org/officeDocument/2006/relationships/image" Target="/ppt/media/image2.png" Id="R4453123e4df14ac2" /><Relationship Type="http://schemas.openxmlformats.org/officeDocument/2006/relationships/notesSlide" Target="/ppt/notesSlides/notesSlide7.xml" Id="Rb83c25f02b384c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317bb9709b458e" /><Relationship Type="http://schemas.openxmlformats.org/officeDocument/2006/relationships/image" Target="/ppt/media/image3.png" Id="R791c8e1c9dbd4253" /><Relationship Type="http://schemas.openxmlformats.org/officeDocument/2006/relationships/notesSlide" Target="/ppt/notesSlides/notesSlide8.xml" Id="Rb027a4ca70d448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3f123afa24f86" /><Relationship Type="http://schemas.openxmlformats.org/officeDocument/2006/relationships/image" Target="/ppt/media/image4.png" Id="R422933dd06f543df" /><Relationship Type="http://schemas.openxmlformats.org/officeDocument/2006/relationships/notesSlide" Target="/ppt/notesSlides/notesSlide9.xml" Id="R9fe0b254e4df42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83acc1c434945" /><Relationship Type="http://schemas.openxmlformats.org/officeDocument/2006/relationships/notesSlide" Target="/ppt/notesSlides/notesSlide10.xml" Id="Rd338276115d4464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d1a63c1d74569" /><Relationship Type="http://schemas.openxmlformats.org/officeDocument/2006/relationships/notesSlide" Target="/ppt/notesSlides/notesSlide11.xml" Id="R40572cf5ffbc4d7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2ac7b0b06f41f5" /><Relationship Type="http://schemas.openxmlformats.org/officeDocument/2006/relationships/notesSlide" Target="/ppt/notesSlides/notesSlide12.xml" Id="Rb2d13034301447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3F52E562-9F64-4F2D-BB3E-814229E0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BF"/>
          </a:solidFill>
          <a:ln xmlns:a="http://schemas.openxmlformats.org/drawingml/2006/main" w="0">
            <a:solidFill>
              <a:srgbClr val="1F5FBF"/>
            </a:solidFill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8EB5B72-A7AA-4102-84C3-9DF3C7A6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48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知识工程综合实践｜最终答辩</a:t>
            </a:r>
            <a:endParaRPr sz="120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C8ADFA7-3BFF-4A56-B6CD-A3B1413A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6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6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46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EB709B2-7C44-426E-9E76-971E5933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8096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3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基于因果知识图谱与主动询问的</a:t>
            </a:r>
            <a:endParaRPr sz="23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06000"/>
              </a:lnSpc>
              <a:buNone/>
              <a:defRPr sz="23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AI开发环境故障诊断 Graph RAG</a:t>
            </a:r>
            <a:endParaRPr sz="23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53370903-1620-440B-A8BA-11E32461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34A4A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4E04939-433A-4730-BBFA-E0E0ECCD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从一次性检索，走向可追溯的动态诊断</a:t>
            </a:r>
            <a:endParaRPr sz="16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BE4EF297-F949-4FA1-9661-08DD07A2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25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图谱构建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2240A319-812D-475B-A4DB-A91B7CE1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162550"/>
            <a:ext cx="1219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FF7E8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检索与推理</a:t>
            </a:r>
            <a:endParaRPr sz="1050" b="1">
              <a:solidFill>
                <a:srgbClr val="9A5A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7D404E33-5762-4B3B-BFDB-70E3D4B6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625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EAF8F3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知识注入</a:t>
            </a:r>
            <a:endParaRPr sz="10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7AF5FD5-000E-4EAF-9AB8-76C1A8FF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055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汇报人</a:t>
            </a: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：</a:t>
            </a: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赵天毅｜2026.09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41B2E9C-F304-4895-911D-B4D40BBB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115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FINAL REVIEW</a:t>
            </a:r>
            <a:endParaRPr sz="9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5955535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D987F0-3304-4EF7-A09C-D182F4C4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BF"/>
          </a:solidFill>
          <a:ln xmlns:a="http://schemas.openxmlformats.org/drawingml/2006/main" w="0">
            <a:solidFill>
              <a:srgbClr val="1F5FB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2BDE83-BD0D-45B5-85A1-D831D496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4996B-4F35-4BB3-B005-12DFA8EB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期中之后完成的工作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2611E-0B8A-4295-B4EA-42959E82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E974C6-21AD-495F-9243-D44565D8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DF1543-C93B-4A47-BB90-8B2ACA83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最终版本把“动态诊断”落实为可计算、可回放的完整过程。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AA52A9-4BC0-4818-8627-868DD397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238500" cy="32575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80E022-3671-43FC-9D83-F5C85178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FBF"/>
          </a:solidFill>
          <a:ln xmlns:a="http://schemas.openxmlformats.org/drawingml/2006/main" w="9525">
            <a:solidFill>
              <a:srgbClr val="1F5FB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5BD46E-3757-4867-9F4F-F8BFE675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图谱扩展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42FC6D-FB89-42E4-A048-77A43871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F5FB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AAB8C3-43A6-4A7D-8534-A8DEEBA8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15类节点、27类关系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52317F-E22A-4AF8-AF6D-2127EAF6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补充服务、端点和部署环境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FAEBFE-38C5-4865-AE9F-D8034ABE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原因落到具体检查与修复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530E7B-3DEE-435B-A4AA-E722D7B7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3238500" cy="32575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74079E-E78C-47D6-99E2-5552D10D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62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C9BDBB-783B-4DAB-B046-D2EA563C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参数、选问与停止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C2E0D4-8F48-4E31-94C9-53BD3A93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0045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45858F-9766-43DA-9CB1-F365EC99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862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28条确认根因案例校准条件概率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59F48C-C6ED-425E-8EBF-D3DE1869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5292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增加区分性问题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B3A836-F8C5-461D-A39A-7AE1262C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置信度、领先差距和有效回答决定停止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8B1729-08F4-4B36-9314-01D66A11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33600"/>
            <a:ext cx="3238500" cy="32575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0FD136-0170-46D6-B91B-FAD54990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62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4A4A"/>
          </a:solidFill>
          <a:ln xmlns:a="http://schemas.openxmlformats.org/drawingml/2006/main" w="9525">
            <a:solidFill>
              <a:srgbClr val="E34A4A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E48A11-B7CD-477C-BC3E-809762A3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289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轨迹回放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7BA5E0-AB4B-41AE-BF86-5B8D9794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0045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E34A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9AE79E-4AA4-4A00-A4B4-2BCEFCB4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862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逐轮记录问题与观察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089639-F522-4D5D-85A9-68341738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5292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记录候选概率和熵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B603E7-18C7-4EDA-9D1F-4385FD9F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196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展示候选子图如何变化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EF9230-FE7B-4353-A048-8823DDA0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76237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2D8554-B1B9-4574-BD88-CB6204B0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76237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9A525B-44A4-4787-BD19-9CB9D5EE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3632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42735"/>
          </a:solidFill>
          <a:ln xmlns:a="http://schemas.openxmlformats.org/drawingml/2006/main" w="11430">
            <a:solidFill>
              <a:srgbClr val="14273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1CB6F0-F78B-4168-AC3E-631D6FFA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34075"/>
            <a:ext cx="994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最终汇报重点：图谱如何表达因果，真实案例如何优化参数与选问，回答如何改变候选子图</a:t>
            </a:r>
          </a:p>
        </p:txBody>
      </p:sp>
    </p:spTree>
    <p:extLst>
      <p:ext uri="{BB962C8B-B14F-4D97-AF65-F5344CB8AC3E}">
        <p14:creationId xmlns:p14="http://schemas.microsoft.com/office/powerpoint/2010/main" val="7761968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F1F9496B-777B-4E98-9089-DD11A989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FAA4ACE-5BA5-4101-B092-566C10CF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因果知识图谱：15类节点，四层职责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08EF45A-B41B-4CBE-861B-111D5662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03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12B1D8F3-C320-462F-98A1-1AFD0643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5105028B-3A62-42C1-8EC6-A24BF9E3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95425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147 节点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3D30A2CA-9DA7-4934-A4CD-0FA38ADD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495425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378 关系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5E15C056-4DD1-47C2-9248-A8EE8247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495425"/>
            <a:ext cx="1333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27 类受控关系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pic>
        <p:nvPicPr>
          <p:cNvPr id="108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dfc9154aaa43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958892"/>
            <a:ext cx="7762875" cy="3835566"/>
          </a:xfrm>
          <a:prstGeom xmlns:a="http://schemas.openxmlformats.org/drawingml/2006/main" prst="rect">
            <a:avLst/>
          </a:prstGeom>
        </p:spPr>
      </p:pic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E6392585-A4B7-4490-BA77-6DA72DE2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7762875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3个故障入口：Python模块无法导入　｜　PyTorch无法使用GPU　｜　服务或配置连接失败</a:t>
            </a:r>
            <a:endParaRPr sz="9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7BF599C-70E7-4CB2-BBE1-BA4AE0CD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3357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三种“支持”必须区分</a:t>
            </a:r>
            <a:endParaRPr sz="15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82A2FF2-E16A-48C8-BB32-24A7E972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66975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HAS_POSSIBLE_CAUSE</a:t>
            </a:r>
            <a:endParaRPr sz="120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5CF4307-61A6-4C78-AF30-5B3FB8E5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6225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只表示候选集合，不证明原因成立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50EC1A10-A0BA-4E8F-A728-501ECEEC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7185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CHUNK_SUPPORTS_CAUSE</a:t>
            </a:r>
            <a:endParaRPr sz="120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1D63567-5EF9-4DA6-8CCB-888ACD84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67125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表示证据片段与原因相关，用于初始排序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714F9E0-72CF-45F0-B817-35BA3944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76725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OBSERVATION_SUPPORTS</a:t>
            </a:r>
            <a:endParaRPr sz="120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2DEE60B1-8043-429E-B0DA-3B06A9A0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72000"/>
            <a:ext cx="271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保存条件概率。用户回答后，它真正驱动贝叶斯更新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8E39BF89-AB88-4C3D-99AB-73076313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448300"/>
            <a:ext cx="1238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问题</a:t>
            </a:r>
            <a:endParaRPr sz="13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A126995C-FEC7-404C-81B6-D9163E21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48300"/>
            <a:ext cx="1238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观察</a:t>
            </a:r>
            <a:endParaRPr sz="13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cxnSp>
        <p:nvCxnSpPr>
          <p:cNvPr id="119" name="直接箭头连接符 38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982200" y="56769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34A4A"/>
            </a:solidFill>
            <a:prstDash val="solid"/>
            <a:tailEnd type="triangle" w="sm" len="sm"/>
          </a:ln>
        </p:spPr>
      </p:cxn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0B9C1D0-97C0-43A3-B673-4F4D288C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真正的概率因果闭环：Question → Observation → Cause 概率更新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8336255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8E70B75-C405-4CCC-B9C8-3CE1E62D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BF"/>
          </a:solidFill>
          <a:ln xmlns:a="http://schemas.openxmlformats.org/drawingml/2006/main" w="0">
            <a:solidFill>
              <a:srgbClr val="1F5FB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668123-FA34-4860-B8D9-504670E9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48563E-2164-4106-8AB2-F05313E6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三种关系如何驱动候选子图变化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B54871-369E-4E3E-B47B-6652E898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DC527-09E4-4848-9EC8-03936666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831986-9703-4603-A471-421F0895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底层图谱保持不变，三种关系依次决定候选范围、初始排序和回答后的动态重排。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B33C86-DE28-411A-B5CB-C4036461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8204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355742-EC9B-4037-8F4F-E11D42B2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16002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54232-E8C7-4AC4-ACB7-5A8AC073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1457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Issue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1E0709-0E19-48AF-B70A-2FB0BAEB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466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F5FB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1CCE37-9F46-4671-9E5E-7ED5A329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240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HAS_POSSIBLE_CAUSE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500089-DEC3-43D8-9649-B378D44F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95525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7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112BC3-6B1E-428D-ADF3-F0266335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28850"/>
            <a:ext cx="13716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CF909E-0DC4-4D9A-ADEE-003D353C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1457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Cause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45C4D1-D4FF-45E5-A7CC-D64E32CA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定义候选范围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6EC752-7F97-4905-8173-C8E45A59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00275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从完整图谱中选出当前故障对应的原因，形成候选原因子图。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997C23-D74C-41A3-B593-706183FB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08204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2A12BB-DD36-4094-BD69-70593BC4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16002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D2D169-3FD3-4F71-B4CC-228AFDC6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480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EvidenceChunk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52C4AE-A916-4F43-AEB4-BD22A911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362325"/>
            <a:ext cx="1466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68B6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67C1A3-7A58-484D-81DF-124D349A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575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CHUNK_SUPPORTS_CAUSE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A5BF53-CB95-449F-97A2-542E4AC6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28975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7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727CED-579F-45E9-9BEF-40A3F590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62300"/>
            <a:ext cx="13716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E3A63A-8DA4-4C3A-BC60-E98A0E4E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480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Cause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5C2903-C466-4033-909C-EFEA1016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242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形成初始排序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57CBCD-1247-4DD5-BC34-958D1A81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33725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BM25命中的证据沿关系映射到原因，融合图谱先验后得到初始概率。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8ED407-AEEB-4A02-A187-6844CFB0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8204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34368F-A256-450C-A775-403C173B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16002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737BDB-D952-4E76-AF1A-CD8804D2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8147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Observation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71E8C6-06BC-4498-89CE-9DA447C4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295775"/>
            <a:ext cx="1466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34A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F55C9D-8FFD-42B9-BC87-9F17418E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9909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OBSERVATION_SUPPORTS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D9E98A-559C-4C8F-B740-C8ADB016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62425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7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09F47A-42A3-47A7-9E97-D2C11AD0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95750"/>
            <a:ext cx="13716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3C3EEF-11CF-4199-AF7A-4B29D70A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18147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Cause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EBD6C9-EA88-4D6C-AE0A-89F4A744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576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更新原因概率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059ED7-C80A-4E75-8184-A9DCCACD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67175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读取P（观察｜原因）执行贝叶斯更新，弱原因降权，候选子图重新排序。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4E9E64-6F15-44B5-89AF-832F70D2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22669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5B6B7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420538-542F-40CA-82F0-7DA753DA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57800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完整因果图谱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75B9A2-4C6B-4050-8150-381D38AB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3721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5FB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CC6C00-E99E-493B-A6F8-15759B1E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48275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55DD30-C9E1-43EA-87E9-FBB6257D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124450"/>
            <a:ext cx="22669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806039-61A2-4DED-B1DB-3506E36F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257800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候选原因子图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C629FD8-A860-413D-9AC8-F354E28C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3721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8B6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58383EB-4109-4F86-9836-E1F75FDD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248275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F9531CA-B8C7-484C-A01A-723F683C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24450"/>
            <a:ext cx="22669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5955349-10E9-4CA7-9030-F3D78D2C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257800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带初始概率的子图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CD010C4-C1CC-4B9E-9742-A2F74BE3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3721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4A4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9C5F85F-4A4A-4DF3-ACBB-9E9F6211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248275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64F28B6-2636-421C-BD05-0DA395CB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124450"/>
            <a:ext cx="22669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3A95CDA-71F2-4D46-8596-C7DADB49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257800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回答后的动态子图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8BD3E9A-6940-4AC9-86FF-18EC9BC2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142735"/>
          </a:solidFill>
          <a:ln xmlns:a="http://schemas.openxmlformats.org/drawingml/2006/main" w="11430">
            <a:solidFill>
              <a:srgbClr val="14273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283B230-1229-40A3-B5C0-40424855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81700"/>
            <a:ext cx="1036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关系本身不改变，变化的是本轮候选子图中的节点激活状态、原因概率和排序</a:t>
            </a:r>
          </a:p>
        </p:txBody>
      </p:sp>
    </p:spTree>
    <p:extLst>
      <p:ext uri="{BB962C8B-B14F-4D97-AF65-F5344CB8AC3E}">
        <p14:creationId xmlns:p14="http://schemas.microsoft.com/office/powerpoint/2010/main" val="13566067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F2CBE279-35E5-4FE4-9BC4-CA24E2F7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80B3DFA-EC34-461C-8D1E-1438736A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真实案例驱动的因果参数校准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8FCE500-CAD5-49F6-A933-850BD465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05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FD72F94A-F05F-4E3A-8901-4A79DCC7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909745E-A812-428E-A303-70727432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28条确认根因的开发案例用于发现稳定混淆，再修改图谱中的条件概率与诊断问题。</a:t>
            </a:r>
            <a:endParaRPr sz="15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6223C72-192B-4BE2-8324-3BF0142C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案例暴露的问题</a:t>
            </a:r>
            <a:endParaRPr sz="142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C5FC1A73-BD90-4057-BEA0-5F9DD7E9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171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B829D12-CA0A-4125-B0B3-1FCD3351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5272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版本不兼容被误判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C9EE7BA-2EB3-494F-AC8B-5AC28944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369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原设 P（包可见｜版本不兼容）= 0.80</a:t>
            </a:r>
            <a:endParaRPr sz="127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1C7C9374-8FEF-48E3-9B11-1E5AB8C3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171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7A82327-3A40-44A5-B18C-9F4D87BC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8622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地址错误与服务停止难以区分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244361E-E1AE-471B-BE4F-1B09804C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38650"/>
            <a:ext cx="369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原有健康检查没有表达“目标主机本机是否可达”</a:t>
            </a:r>
            <a:endParaRPr sz="120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8A293423-B55F-4511-AD26-4D2C643C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051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F5FBF"/>
            </a:solidFill>
            <a:prstDash val="solid"/>
          </a:ln>
        </p:spPr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4F8823FC-591E-4427-852F-AB141460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386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F5FBF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167CBF9-53BE-42A7-A69D-CE08A082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051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案例校准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5E3C5054-8580-45CA-BE37-298A0F03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0386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结构扩展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562FDFE-A2D2-4A85-8A0D-6B9EC8FF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33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图谱中的修改</a:t>
            </a:r>
            <a:endParaRPr sz="14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680A2833-8007-4DDC-94F0-4EA859F8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5238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9CF74A2-ADEB-4E32-8F06-B901CE57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81300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0.80</a:t>
            </a:r>
            <a:endParaRPr sz="21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CC29C9B-8A35-4F3D-97C9-7D0AE948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9082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→</a:t>
            </a:r>
            <a:endParaRPr sz="20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7A8CA1E-6D54-4260-9141-A9EBE0B1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813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3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0.25</a:t>
            </a:r>
            <a:endParaRPr sz="23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2540372C-6673-4D13-95BF-8C1A3ADE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194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两条开发观察经拉普拉斯平滑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11800138-491C-4B12-AF8E-52D8D533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05250"/>
            <a:ext cx="5238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6A79C08F-5E5F-447B-9E6C-93559B03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9575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新增问题</a:t>
            </a:r>
            <a:endParaRPr sz="1125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F3200969-57A2-40E2-9846-06477A4E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57650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目标主机本机检查是否成功？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D07C180F-201A-42D8-A1B2-ED78F097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7675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观察结果通过条件概率边重新区分地址错误、服务停止等原因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F6EA84DB-5EDD-4CE8-AC70-F51CE8F7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B8A6D97E-7C35-4901-97B2-176A413E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05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选问仍以信息增益为核心</a:t>
            </a:r>
            <a:endParaRPr sz="12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3794A00D-88B0-4548-9540-BC9AC6AA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4768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Utility(q) = IG(q) × 可回答率 − 成本惩罚 − 风险惩罚</a:t>
            </a:r>
            <a:endParaRPr sz="15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1DEC4D0A-133B-416E-A414-BD81A017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5054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附加修正</a:t>
            </a:r>
            <a:endParaRPr sz="105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CA6FC0C-C26E-4959-ADE5-92251BFD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第二阶段的主要优化：用案例纠正因果参数，并补充能够消除稳定混淆的问题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21388965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48AE326A-00E8-48E1-B865-F2EA72FE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FD3ED9D-BF44-46B7-B56B-B90640A7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两项优化分别带来了什么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B895A7E-2E36-470E-ACBA-A95073D1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09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C41821C3-EC0E-4AEC-995C-90892681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0D6C013-D1A8-4028-8FB5-51BE9C94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28</a:t>
            </a:r>
            <a:r>
              <a: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条新增确认记录，依次关闭或启用两项优化</a:t>
            </a:r>
            <a:endParaRPr sz="135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C15154C-A1EA-4F98-8692-4FFECDBB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正确原因的平均概率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2E0C8B0-CC92-4181-9E55-C4039B9D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基础版本</a:t>
            </a:r>
            <a:endParaRPr sz="13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0B4DB958-EBA1-4C2B-85A7-819A89D6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33650"/>
            <a:ext cx="40386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C3E0A5D4-BE11-482A-8A34-FEDC0D53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33650"/>
            <a:ext cx="2281809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AB6C0"/>
          </a:solidFill>
          <a:ln xmlns:a="http://schemas.openxmlformats.org/drawingml/2006/main" w="11430">
            <a:solidFill>
              <a:srgbClr val="AAB6C0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A2CBCCC-7C6E-42E0-ABD5-251E3B03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AAB6C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AAB6C0"/>
                </a:solidFill>
                <a:latin typeface="Hiragino Sans GB"/>
                <a:ea typeface="Hiragino Sans GB"/>
                <a:cs typeface="Hiragino Sans GB"/>
              </a:rPr>
              <a:t>56.5%</a:t>
            </a:r>
            <a:endParaRPr sz="1500" b="1">
              <a:solidFill>
                <a:srgbClr val="AAB6C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5DC87F4-2D35-4B66-ACE7-3ECC6840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增加参数校准</a:t>
            </a:r>
            <a:endParaRPr sz="13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1F872F0F-97DD-429A-8612-F8F14268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14700"/>
            <a:ext cx="40386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C093C55E-3B58-4BC8-8C57-2BF2EE9B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14700"/>
            <a:ext cx="2677592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6ABB5B43-3B47-402A-8A99-9E8E1CF1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5755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66.3%</a:t>
            </a:r>
            <a:endParaRPr sz="1500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594F130-6EB3-4D9B-900E-ACDA5FF9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增加区分性问题</a:t>
            </a:r>
            <a:endParaRPr sz="13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8B46C8E0-192A-4E4B-BF2D-3DBBF39D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95750"/>
            <a:ext cx="40386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53221988-1825-4CC0-ACF2-22A6A3E4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95750"/>
            <a:ext cx="2851252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14807FF-F7AA-4842-A4C2-75D31EC2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3860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70.6%</a:t>
            </a:r>
            <a:endParaRPr sz="150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193D33E-798E-49FE-95E2-B80E63C5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两项都增加</a:t>
            </a:r>
            <a:endParaRPr sz="13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828FD34D-3854-42E4-8CB9-1A0AC4C3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76800"/>
            <a:ext cx="40386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F7F60F48-02D9-4C50-8810-ED68347E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76800"/>
            <a:ext cx="3247034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B6B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36194F90-4F35-4388-8344-7498369E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1965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80.4%</a:t>
            </a:r>
            <a:endParaRPr sz="150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3" name="直接连接符 22">
            <a:extLst xmlns:a="http://schemas.openxmlformats.org/drawingml/2006/main">
              <a:ext uri="{FF2B5EF4-FFF2-40B4-BE49-F238E27FC236}">
                <a16:creationId xmlns:a16="http://schemas.microsoft.com/office/drawing/2014/main" id="{8174699A-0666-4FBD-A3EF-80F33531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57400"/>
            <a:ext cx="0" cy="3181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E4067970-30D4-4864-894F-42B781BF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38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两项优化的作用不同</a:t>
            </a:r>
            <a:endParaRPr sz="13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9557B185-0187-469C-8AB2-AA09E749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33650"/>
            <a:ext cx="1009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FF7E8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参数校准</a:t>
            </a:r>
            <a:endParaRPr sz="1050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F8D47758-929D-4031-9E20-E65FDE62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33700"/>
            <a:ext cx="280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概率更集中</a:t>
            </a:r>
            <a:endParaRPr sz="1875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52197FD-DE76-4F5B-80B5-B9B18238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14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减少版本不兼容原因的概率低估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1FD8F48A-AC99-41B1-ADE3-D13B1622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29050"/>
            <a:ext cx="1009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EEF5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新增问题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4E317784-0099-4086-871E-7AB271B3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29100"/>
            <a:ext cx="280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原因升至第一</a:t>
            </a:r>
            <a:endParaRPr sz="18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F282F124-F53E-4DEC-9F51-781EDD8D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101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解决容器地址与相近原因的混淆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DE3349DA-65E7-4F99-BC04-8DE80863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7AD94784-C927-4F2E-B4E0-34C08421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6262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两项结合</a:t>
            </a:r>
            <a:endParaRPr sz="120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79461491-F2C2-4619-BBD6-1B97E5F3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7150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28</a:t>
            </a:r>
            <a:r>
              <a:rPr sz="15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个目标案例的正确原因排在第一位</a:t>
            </a:r>
            <a:endParaRPr sz="1575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D7CC44ED-BEB6-48FB-9BD2-624CA561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531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小规模机制验证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732E2167-7B19-4558-AEC5-1EE4C28D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主讲只说明作用差异；MRR、Brier和数据划分保留在备用页回答追问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54088988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4" name="矩形 133">
            <a:extLst xmlns:a="http://schemas.openxmlformats.org/drawingml/2006/main">
              <a:ext uri="{FF2B5EF4-FFF2-40B4-BE49-F238E27FC236}">
                <a16:creationId xmlns:a16="http://schemas.microsoft.com/office/drawing/2014/main" id="{6D4DF106-887F-4298-B3AE-1BE94ABC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82F4216-F0AA-45B0-88A0-9BB02A89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动态子图重放：</a:t>
            </a:r>
            <a:r>
              <a:t>Open WebUI容器</a:t>
            </a:r>
            <a:r>
              <a:t>无法</a:t>
            </a:r>
            <a:r>
              <a:t>访问宿主机Ollama</a:t>
            </a:r>
            <a:endParaRPr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0FF9C67-AAB1-4B23-8594-D756BB70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06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2B8DFAF5-E0E0-4267-A143-605983E2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FE84DF6-ED30-45B0-9E02-13B00910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第 0 轮｜初始检索</a:t>
            </a:r>
            <a:endParaRPr sz="13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8B3AB2B-1AFD-40A8-A258-384360C5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4668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第 1 轮｜用户回答“是”</a:t>
            </a:r>
            <a:endParaRPr sz="13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CFA89DBF-FBB5-4F79-831C-AE2D63D5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5238750" cy="35623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6452A5E4-D882-45B5-881C-08F8E8EE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76425"/>
            <a:ext cx="5238750" cy="35623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59FC1C71-CFCC-4A56-9F8F-3F7E9506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66925"/>
            <a:ext cx="685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Issue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3EF7F9F-214B-44A5-A566-533C4773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859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服务或配置连接失败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1AB1DDBC-C5F2-4018-A634-18C6E5E6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66925"/>
            <a:ext cx="1009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FFF0F0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8844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Observation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A0C9B46-54F3-4D7D-AD9C-01FC75E0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8597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是：宿主机成功、容器失败</a:t>
            </a:r>
            <a:endParaRPr sz="127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1E01677-116E-4CF6-A6EB-F077ACA9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431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12CF3898-A973-4FFC-9051-B7ABD211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7175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F2812AC7-C810-4BF5-BACB-2AD38C18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71750"/>
            <a:ext cx="1098804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972A912-5F61-409B-BF18-2BBD222B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33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56.0%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1215B012-1243-4118-8D15-794D55C1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必需环境变量缺失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006C3529-3257-4A1F-8780-DEEC855A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00375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56AB2360-30BF-4309-93AA-12DC6986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00375"/>
            <a:ext cx="270777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0E55826-9B12-40BF-976A-3FC689E4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622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13.8%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385F3050-BB5A-4A1B-8FCD-9BDD6F93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目标服务未启动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E35BD41C-7766-4504-9059-FE4FEF0D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2900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BCFB6757-34CE-4046-A6DD-625748A3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29000"/>
            <a:ext cx="270777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8EB7A391-1D48-479B-A4B8-8A48169B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90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13.8%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7AD41ECC-3310-4C97-823D-70F153E9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端口被其他进程占用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E24C7353-5789-490D-95E6-5ADE9562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57625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DE10D71F-F00C-4BD1-951F-52BE807A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57625"/>
            <a:ext cx="162858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C6477756-67F5-43A4-8FE9-384C9F3F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195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8.3%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6C52EF42-34DC-49B5-B0BB-1D3E467C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576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认证信息无效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0" name="圆角矩形 29">
            <a:extLst xmlns:a="http://schemas.openxmlformats.org/drawingml/2006/main">
              <a:ext uri="{FF2B5EF4-FFF2-40B4-BE49-F238E27FC236}">
                <a16:creationId xmlns:a16="http://schemas.microsoft.com/office/drawing/2014/main" id="{2665F84E-424C-4909-8676-84559233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8625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31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584C0C3C-3A26-4B54-9C63-96769A10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86250"/>
            <a:ext cx="162858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9D0DEC4E-96C6-484C-B18F-14EC8A62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481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8.3%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94087AB6-C344-465D-AB75-952E095B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431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4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A6B7F1FF-D3DD-4916-927B-B7E8950D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7175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35" name="圆角矩形 34">
            <a:extLst xmlns:a="http://schemas.openxmlformats.org/drawingml/2006/main">
              <a:ext uri="{FF2B5EF4-FFF2-40B4-BE49-F238E27FC236}">
                <a16:creationId xmlns:a16="http://schemas.microsoft.com/office/drawing/2014/main" id="{102756E1-7DD2-4103-9543-9D43B4C7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71750"/>
            <a:ext cx="1867967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34A4A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6083341B-1F13-444F-85F7-AD8B598B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533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95.2%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CFA2958F-D8A4-40BF-B3F4-329C764F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718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必需环境变量缺失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8" name="圆角矩形 37">
            <a:extLst xmlns:a="http://schemas.openxmlformats.org/drawingml/2006/main">
              <a:ext uri="{FF2B5EF4-FFF2-40B4-BE49-F238E27FC236}">
                <a16:creationId xmlns:a16="http://schemas.microsoft.com/office/drawing/2014/main" id="{C78EAC85-FD8F-41BC-B54E-9F1EA252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00375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39C05C31-4C61-4FF6-9241-C107A5CF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00375"/>
            <a:ext cx="762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C2485568-FDC1-4F6E-91F1-D09F1FA9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9622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1.9%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8B9BB5E6-E83A-48F6-A31D-51088B9A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0042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端口被其他进程占用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58331608-5A2B-4ED2-8DD4-27DD94B7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2900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50CD42C0-15D5-4D76-A405-8B07B729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29000"/>
            <a:ext cx="762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9298AAEC-BF84-4C18-AD7E-44EB39C2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390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1.4%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6C5EAFA0-4078-4C66-B694-C537F49C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290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目标服务未启动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6" name="圆角矩形 45">
            <a:extLst xmlns:a="http://schemas.openxmlformats.org/drawingml/2006/main">
              <a:ext uri="{FF2B5EF4-FFF2-40B4-BE49-F238E27FC236}">
                <a16:creationId xmlns:a16="http://schemas.microsoft.com/office/drawing/2014/main" id="{9184AB92-BEE9-4AB8-BBC9-B5338120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57625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41B85AD8-FBE2-452F-B6E0-EC037ECE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57625"/>
            <a:ext cx="762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B788ACC2-3BAB-41A6-8B61-8411D0DB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8195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1.0%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C2C09259-9F70-4E9B-99C8-E94E69D4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76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认证信息无效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0" name="圆角矩形 49">
            <a:extLst xmlns:a="http://schemas.openxmlformats.org/drawingml/2006/main">
              <a:ext uri="{FF2B5EF4-FFF2-40B4-BE49-F238E27FC236}">
                <a16:creationId xmlns:a16="http://schemas.microsoft.com/office/drawing/2014/main" id="{86A643C6-E6A9-4CAD-A5D8-1904001B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8625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51" name="圆角矩形 50">
            <a:extLst xmlns:a="http://schemas.openxmlformats.org/drawingml/2006/main">
              <a:ext uri="{FF2B5EF4-FFF2-40B4-BE49-F238E27FC236}">
                <a16:creationId xmlns:a16="http://schemas.microsoft.com/office/drawing/2014/main" id="{F876FAD3-B464-494B-8853-1E121CBE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86250"/>
            <a:ext cx="762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B4EEA623-6D22-4448-AC76-F56B8DC2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2481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0.4%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3" name="圆角矩形 52">
            <a:extLst xmlns:a="http://schemas.openxmlformats.org/drawingml/2006/main">
              <a:ext uri="{FF2B5EF4-FFF2-40B4-BE49-F238E27FC236}">
                <a16:creationId xmlns:a16="http://schemas.microsoft.com/office/drawing/2014/main" id="{9E7A2BBC-73C1-4BBC-92B9-7E95AA6F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72025"/>
            <a:ext cx="685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FF7E8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下一问</a:t>
            </a:r>
            <a:endParaRPr sz="1050" b="1">
              <a:solidFill>
                <a:srgbClr val="9A5A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61E2753C-743F-4452-B358-0CCB37FE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9107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宿主机正常、容器失败吗？</a:t>
            </a:r>
            <a:endParaRPr sz="11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5" name="圆角矩形 54">
            <a:extLst xmlns:a="http://schemas.openxmlformats.org/drawingml/2006/main">
              <a:ext uri="{FF2B5EF4-FFF2-40B4-BE49-F238E27FC236}">
                <a16:creationId xmlns:a16="http://schemas.microsoft.com/office/drawing/2014/main" id="{E7823672-6B4A-40BE-AA75-404C3B74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72025"/>
            <a:ext cx="685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FF7E8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下一问</a:t>
            </a:r>
            <a:endParaRPr sz="1050" b="1">
              <a:solidFill>
                <a:srgbClr val="9A5A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6795E65F-8CF9-4F05-BCB7-70F059D8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7910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必需环境变量缺失吗？</a:t>
            </a:r>
            <a:endParaRPr sz="11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7D3EF80E-CC2D-4EB8-9261-4A42B50A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72025"/>
            <a:ext cx="762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EAF8F3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9247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Context</a:t>
            </a:r>
            <a:endParaRPr sz="10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0EE62245-C41F-435B-80A3-1DE692F0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79107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Ollama</a:t>
            </a:r>
            <a:endParaRPr sz="10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DFE50D64-C76B-43E2-ABC6-D372ACDB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625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熵 1.850 bit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1F95469E-5860-4A04-AE44-75CF811B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625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熵 0.364 bit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1" name="圆角矩形 60">
            <a:extLst xmlns:a="http://schemas.openxmlformats.org/drawingml/2006/main">
              <a:ext uri="{FF2B5EF4-FFF2-40B4-BE49-F238E27FC236}">
                <a16:creationId xmlns:a16="http://schemas.microsoft.com/office/drawing/2014/main" id="{52EFD8A1-BF3B-4BC1-82CD-2EEB6E9B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619750"/>
            <a:ext cx="3238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2735"/>
          </a:solidFill>
          <a:ln xmlns:a="http://schemas.openxmlformats.org/drawingml/2006/main" w="11430">
            <a:solidFill>
              <a:srgbClr val="142735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一次回答：56.0%  →  95.2%</a:t>
            </a:r>
            <a:endParaRPr sz="1575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67C2231E-4A04-4503-9CEB-67F6FE75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红色概率边进入推理后，候选概率、可见节点与下一问同时改变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3" name="圆角矩形 62">
            <a:extLst xmlns:a="http://schemas.openxmlformats.org/drawingml/2006/main">
              <a:ext uri="{FF2B5EF4-FFF2-40B4-BE49-F238E27FC236}">
                <a16:creationId xmlns:a16="http://schemas.microsoft.com/office/drawing/2014/main" id="{49273580-5DCD-449C-B90D-B092DB00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5048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1F3BDD36-A656-4D64-BD7C-6EEA12FF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第 0 轮：初始检索形成 5 个候选原因</a:t>
            </a:r>
            <a:endParaRPr sz="150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pic>
        <p:nvPicPr>
          <p:cNvPr id="200" name="图片 19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53123e4df14a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1925964"/>
            <a:ext cx="10706100" cy="2720323"/>
          </a:xfrm>
          <a:prstGeom xmlns:a="http://schemas.openxmlformats.org/drawingml/2006/main" prst="rect">
            <a:avLst/>
          </a:prstGeom>
        </p:spPr>
      </p:pic>
      <p:sp>
        <p:nvSpPr>
          <p:cNvPr id="66" name="圆角矩形 65">
            <a:extLst xmlns:a="http://schemas.openxmlformats.org/drawingml/2006/main">
              <a:ext uri="{FF2B5EF4-FFF2-40B4-BE49-F238E27FC236}">
                <a16:creationId xmlns:a16="http://schemas.microsoft.com/office/drawing/2014/main" id="{AA053CA7-643A-482C-9312-0CF8B2EF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24955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362D3D0D-97CF-43D3-A772-441A4703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863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Top-1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18711D5A-7CD0-4288-8D0F-D4841BF7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56.0%</a:t>
            </a:r>
            <a:endParaRPr sz="18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6FE5E35E-0E17-4C86-BD36-CFB8EAB6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67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0" name="圆角矩形 69">
            <a:extLst xmlns:a="http://schemas.openxmlformats.org/drawingml/2006/main">
              <a:ext uri="{FF2B5EF4-FFF2-40B4-BE49-F238E27FC236}">
                <a16:creationId xmlns:a16="http://schemas.microsoft.com/office/drawing/2014/main" id="{050615BD-E64F-4646-A1D2-8ACFE3E3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53000"/>
            <a:ext cx="24955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501B024A-1671-4151-B103-2D609758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0863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候选原因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41578E32-5991-491F-B82E-73CB6359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3149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5</a:t>
            </a:r>
            <a:endParaRPr sz="1875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77171A0D-8A02-4FC6-BC8E-EB9E9882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667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仍需主动询问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4" name="圆角矩形 73">
            <a:extLst xmlns:a="http://schemas.openxmlformats.org/drawingml/2006/main">
              <a:ext uri="{FF2B5EF4-FFF2-40B4-BE49-F238E27FC236}">
                <a16:creationId xmlns:a16="http://schemas.microsoft.com/office/drawing/2014/main" id="{9B98EF84-C47E-4A60-9B41-394BD9E1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953000"/>
            <a:ext cx="24955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B995876D-427C-4D8C-909C-3F5C9772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863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当前熵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954F0BBD-13FF-45AF-AC44-A891B0FE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149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1.850 bit</a:t>
            </a:r>
            <a:endParaRPr sz="187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DA507A80-7EE7-4FD3-8174-D10D6048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67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原因分布仍然分散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8" name="圆角矩形 77">
            <a:extLst xmlns:a="http://schemas.openxmlformats.org/drawingml/2006/main">
              <a:ext uri="{FF2B5EF4-FFF2-40B4-BE49-F238E27FC236}">
                <a16:creationId xmlns:a16="http://schemas.microsoft.com/office/drawing/2014/main" id="{1225625C-1B5C-447C-8F51-E0EDB664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53000"/>
            <a:ext cx="24955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AE560F94-6DD4-43B5-87D5-2D9CB55F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0863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第一问信息增益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B9F62A5D-A4CA-4630-9B68-5780FDF8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3149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0.733 bit</a:t>
            </a:r>
            <a:endParaRPr sz="1875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15CE350C-6D53-4A27-808E-833B8FDA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667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宿主机正常、容器失败吗？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2" name="圆角矩形 81">
            <a:extLst xmlns:a="http://schemas.openxmlformats.org/drawingml/2006/main">
              <a:ext uri="{FF2B5EF4-FFF2-40B4-BE49-F238E27FC236}">
                <a16:creationId xmlns:a16="http://schemas.microsoft.com/office/drawing/2014/main" id="{88C13DFC-FD7D-4FBB-88A6-22C1F2EA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7B9D574C-6A95-470F-97F9-98FDC588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初始检索只形成候选集合；系统还没有足够证据停止诊断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4" name="圆角矩形 83">
            <a:extLst xmlns:a="http://schemas.openxmlformats.org/drawingml/2006/main">
              <a:ext uri="{FF2B5EF4-FFF2-40B4-BE49-F238E27FC236}">
                <a16:creationId xmlns:a16="http://schemas.microsoft.com/office/drawing/2014/main" id="{E08AABA5-1CFB-44A6-94E3-A0F50AA2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53816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85" name="矩形 84">
            <a:extLst xmlns:a="http://schemas.openxmlformats.org/drawingml/2006/main">
              <a:ext uri="{FF2B5EF4-FFF2-40B4-BE49-F238E27FC236}">
                <a16:creationId xmlns:a16="http://schemas.microsoft.com/office/drawing/2014/main" id="{E68FA0D7-D8D3-48E4-BCEB-CE22CE99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第 0 轮：初始检索</a:t>
            </a:r>
            <a:endParaRPr sz="150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6" name="矩形 85">
            <a:extLst xmlns:a="http://schemas.openxmlformats.org/drawingml/2006/main">
              <a:ext uri="{FF2B5EF4-FFF2-40B4-BE49-F238E27FC236}">
                <a16:creationId xmlns:a16="http://schemas.microsoft.com/office/drawing/2014/main" id="{6C94E639-773D-47E8-9AD9-3113930A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04950"/>
            <a:ext cx="733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BM25检索证据  →  映射候选原因  →  融合图谱先验  →  归一化为初始概率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7" name="圆角矩形 86">
            <a:extLst xmlns:a="http://schemas.openxmlformats.org/drawingml/2006/main">
              <a:ext uri="{FF2B5EF4-FFF2-40B4-BE49-F238E27FC236}">
                <a16:creationId xmlns:a16="http://schemas.microsoft.com/office/drawing/2014/main" id="{48C250B4-B34C-4DD1-AF8B-E1BF097F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867150" cy="39433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88" name="矩形 87">
            <a:extLst xmlns:a="http://schemas.openxmlformats.org/drawingml/2006/main">
              <a:ext uri="{FF2B5EF4-FFF2-40B4-BE49-F238E27FC236}">
                <a16:creationId xmlns:a16="http://schemas.microsoft.com/office/drawing/2014/main" id="{7A693F61-93AA-4B41-92C1-2D487ED7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候选原因概率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9" name="圆角矩形 88">
            <a:extLst xmlns:a="http://schemas.openxmlformats.org/drawingml/2006/main">
              <a:ext uri="{FF2B5EF4-FFF2-40B4-BE49-F238E27FC236}">
                <a16:creationId xmlns:a16="http://schemas.microsoft.com/office/drawing/2014/main" id="{41526275-FEF7-4693-90A3-3C206401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1455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初始检索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0" name="矩形 89">
            <a:extLst xmlns:a="http://schemas.openxmlformats.org/drawingml/2006/main">
              <a:ext uri="{FF2B5EF4-FFF2-40B4-BE49-F238E27FC236}">
                <a16:creationId xmlns:a16="http://schemas.microsoft.com/office/drawing/2014/main" id="{95D8B881-556C-4298-9ABF-2FD62037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1" name="圆角矩形 90">
            <a:extLst xmlns:a="http://schemas.openxmlformats.org/drawingml/2006/main">
              <a:ext uri="{FF2B5EF4-FFF2-40B4-BE49-F238E27FC236}">
                <a16:creationId xmlns:a16="http://schemas.microsoft.com/office/drawing/2014/main" id="{DA9235C1-F06F-44F8-871F-C49DEE00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92" name="圆角矩形 91">
            <a:extLst xmlns:a="http://schemas.openxmlformats.org/drawingml/2006/main">
              <a:ext uri="{FF2B5EF4-FFF2-40B4-BE49-F238E27FC236}">
                <a16:creationId xmlns:a16="http://schemas.microsoft.com/office/drawing/2014/main" id="{B298601C-046A-40FC-AA2D-BB21ABC5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1482852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93" name="矩形 92">
            <a:extLst xmlns:a="http://schemas.openxmlformats.org/drawingml/2006/main">
              <a:ext uri="{FF2B5EF4-FFF2-40B4-BE49-F238E27FC236}">
                <a16:creationId xmlns:a16="http://schemas.microsoft.com/office/drawing/2014/main" id="{17811ABD-8EF9-47BA-B6BB-A8A311A7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09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56.0%</a:t>
            </a:r>
            <a:endParaRPr sz="11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4" name="矩形 93">
            <a:extLst xmlns:a="http://schemas.openxmlformats.org/drawingml/2006/main">
              <a:ext uri="{FF2B5EF4-FFF2-40B4-BE49-F238E27FC236}">
                <a16:creationId xmlns:a16="http://schemas.microsoft.com/office/drawing/2014/main" id="{854E5E35-5DEC-479D-A058-55822E99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必需环境变量缺失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5" name="圆角矩形 94">
            <a:extLst xmlns:a="http://schemas.openxmlformats.org/drawingml/2006/main">
              <a:ext uri="{FF2B5EF4-FFF2-40B4-BE49-F238E27FC236}">
                <a16:creationId xmlns:a16="http://schemas.microsoft.com/office/drawing/2014/main" id="{C9FE7A45-B71D-4463-A594-A1A33399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96" name="圆角矩形 95">
            <a:extLst xmlns:a="http://schemas.openxmlformats.org/drawingml/2006/main">
              <a:ext uri="{FF2B5EF4-FFF2-40B4-BE49-F238E27FC236}">
                <a16:creationId xmlns:a16="http://schemas.microsoft.com/office/drawing/2014/main" id="{5E5F61DA-D4D6-4134-AF41-BDFB15A6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365417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97" name="矩形 96">
            <a:extLst xmlns:a="http://schemas.openxmlformats.org/drawingml/2006/main">
              <a:ext uri="{FF2B5EF4-FFF2-40B4-BE49-F238E27FC236}">
                <a16:creationId xmlns:a16="http://schemas.microsoft.com/office/drawing/2014/main" id="{77992EA2-F4D5-49A8-BB01-A135EF33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051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13.8%</a:t>
            </a:r>
            <a:endParaRPr sz="1125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8" name="矩形 97">
            <a:extLst xmlns:a="http://schemas.openxmlformats.org/drawingml/2006/main">
              <a:ext uri="{FF2B5EF4-FFF2-40B4-BE49-F238E27FC236}">
                <a16:creationId xmlns:a16="http://schemas.microsoft.com/office/drawing/2014/main" id="{0267F262-62AB-4A18-8621-621AE24A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目标服务未启动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9" name="圆角矩形 98">
            <a:extLst xmlns:a="http://schemas.openxmlformats.org/drawingml/2006/main">
              <a:ext uri="{FF2B5EF4-FFF2-40B4-BE49-F238E27FC236}">
                <a16:creationId xmlns:a16="http://schemas.microsoft.com/office/drawing/2014/main" id="{98C16D2D-6B6E-4183-9F53-1162AF18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00" name="圆角矩形 99">
            <a:extLst xmlns:a="http://schemas.openxmlformats.org/drawingml/2006/main">
              <a:ext uri="{FF2B5EF4-FFF2-40B4-BE49-F238E27FC236}">
                <a16:creationId xmlns:a16="http://schemas.microsoft.com/office/drawing/2014/main" id="{DC0D5C0A-783B-497D-A254-2CF5D6B7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365417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A1B7"/>
          </a:solidFill>
          <a:ln xmlns:a="http://schemas.openxmlformats.org/drawingml/2006/main" w="11430">
            <a:solidFill>
              <a:srgbClr val="8EA1B7"/>
            </a:solidFill>
            <a:prstDash val="solid"/>
          </a:ln>
        </p:spPr>
      </p:sp>
      <p:sp>
        <p:nvSpPr>
          <p:cNvPr id="101" name="矩形 100">
            <a:extLst xmlns:a="http://schemas.openxmlformats.org/drawingml/2006/main">
              <a:ext uri="{FF2B5EF4-FFF2-40B4-BE49-F238E27FC236}">
                <a16:creationId xmlns:a16="http://schemas.microsoft.com/office/drawing/2014/main" id="{4E0FCCC6-E2E5-46BA-8B2A-29452D59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004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rPr>
              <a:t>13.8%</a:t>
            </a:r>
            <a:endParaRPr sz="1125" b="1">
              <a:solidFill>
                <a:srgbClr val="8EA1B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2" name="矩形 101">
            <a:extLst xmlns:a="http://schemas.openxmlformats.org/drawingml/2006/main">
              <a:ext uri="{FF2B5EF4-FFF2-40B4-BE49-F238E27FC236}">
                <a16:creationId xmlns:a16="http://schemas.microsoft.com/office/drawing/2014/main" id="{D3461D14-9AB9-473C-84E1-38F86FA8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338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端口被其他进程占用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3" name="圆角矩形 102">
            <a:extLst xmlns:a="http://schemas.openxmlformats.org/drawingml/2006/main">
              <a:ext uri="{FF2B5EF4-FFF2-40B4-BE49-F238E27FC236}">
                <a16:creationId xmlns:a16="http://schemas.microsoft.com/office/drawing/2014/main" id="{9528F2AC-42A1-49DB-91CA-0BB89F3F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04" name="圆角矩形 103">
            <a:extLst xmlns:a="http://schemas.openxmlformats.org/drawingml/2006/main">
              <a:ext uri="{FF2B5EF4-FFF2-40B4-BE49-F238E27FC236}">
                <a16:creationId xmlns:a16="http://schemas.microsoft.com/office/drawing/2014/main" id="{306695A1-0FA6-490F-BDB7-C0868E21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21978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105" name="矩形 104">
            <a:extLst xmlns:a="http://schemas.openxmlformats.org/drawingml/2006/main">
              <a:ext uri="{FF2B5EF4-FFF2-40B4-BE49-F238E27FC236}">
                <a16:creationId xmlns:a16="http://schemas.microsoft.com/office/drawing/2014/main" id="{1EA4635F-DA0A-45A0-B5D5-9A1B9E26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95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8.3%</a:t>
            </a:r>
            <a:endParaRPr sz="1125" b="1">
              <a:solidFill>
                <a:srgbClr val="A8B4BE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6" name="矩形 105">
            <a:extLst xmlns:a="http://schemas.openxmlformats.org/drawingml/2006/main">
              <a:ext uri="{FF2B5EF4-FFF2-40B4-BE49-F238E27FC236}">
                <a16:creationId xmlns:a16="http://schemas.microsoft.com/office/drawing/2014/main" id="{76C0A2B4-5438-43B5-990E-CA12C964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291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认证信息无效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7" name="圆角矩形 106">
            <a:extLst xmlns:a="http://schemas.openxmlformats.org/drawingml/2006/main">
              <a:ext uri="{FF2B5EF4-FFF2-40B4-BE49-F238E27FC236}">
                <a16:creationId xmlns:a16="http://schemas.microsoft.com/office/drawing/2014/main" id="{1C5D80BB-6BB6-4C97-B698-8E557106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768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08" name="圆角矩形 107">
            <a:extLst xmlns:a="http://schemas.openxmlformats.org/drawingml/2006/main">
              <a:ext uri="{FF2B5EF4-FFF2-40B4-BE49-F238E27FC236}">
                <a16:creationId xmlns:a16="http://schemas.microsoft.com/office/drawing/2014/main" id="{B50C74CC-A432-4463-BEBB-050A94A1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76800"/>
            <a:ext cx="21978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109" name="矩形 108">
            <a:extLst xmlns:a="http://schemas.openxmlformats.org/drawingml/2006/main">
              <a:ext uri="{FF2B5EF4-FFF2-40B4-BE49-F238E27FC236}">
                <a16:creationId xmlns:a16="http://schemas.microsoft.com/office/drawing/2014/main" id="{354B35CB-E6F7-451D-A5B3-7E82B237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7910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8.3%</a:t>
            </a:r>
            <a:endParaRPr sz="1125" b="1">
              <a:solidFill>
                <a:srgbClr val="A8B4BE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0" name="矩形 109">
            <a:extLst xmlns:a="http://schemas.openxmlformats.org/drawingml/2006/main">
              <a:ext uri="{FF2B5EF4-FFF2-40B4-BE49-F238E27FC236}">
                <a16:creationId xmlns:a16="http://schemas.microsoft.com/office/drawing/2014/main" id="{E1FFFBFE-1A53-48C8-829D-0C79241B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当前熵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1" name="矩形 110">
            <a:extLst xmlns:a="http://schemas.openxmlformats.org/drawingml/2006/main">
              <a:ext uri="{FF2B5EF4-FFF2-40B4-BE49-F238E27FC236}">
                <a16:creationId xmlns:a16="http://schemas.microsoft.com/office/drawing/2014/main" id="{4A3748AC-E988-45E7-8375-26BC7774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10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1.850 bit</a:t>
            </a:r>
            <a:endParaRPr sz="15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2" name="圆角矩形 111">
            <a:extLst xmlns:a="http://schemas.openxmlformats.org/drawingml/2006/main">
              <a:ext uri="{FF2B5EF4-FFF2-40B4-BE49-F238E27FC236}">
                <a16:creationId xmlns:a16="http://schemas.microsoft.com/office/drawing/2014/main" id="{7698CD25-5A60-43DF-8573-2EF02526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62150"/>
            <a:ext cx="6629400" cy="3943350"/>
          </a:xfrm>
          <a:prstGeom xmlns:a="http://schemas.openxmlformats.org/drawingml/2006/main" prst="roundRect">
            <a:avLst>
              <a:gd name="adj" fmla="val 33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113" name="矩形 112">
            <a:extLst xmlns:a="http://schemas.openxmlformats.org/drawingml/2006/main">
              <a:ext uri="{FF2B5EF4-FFF2-40B4-BE49-F238E27FC236}">
                <a16:creationId xmlns:a16="http://schemas.microsoft.com/office/drawing/2014/main" id="{4F328EB4-DB8D-4D65-ADF0-0EF43B75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336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当前候选子图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4" name="矩形 113">
            <a:extLst xmlns:a="http://schemas.openxmlformats.org/drawingml/2006/main">
              <a:ext uri="{FF2B5EF4-FFF2-40B4-BE49-F238E27FC236}">
                <a16:creationId xmlns:a16="http://schemas.microsoft.com/office/drawing/2014/main" id="{7F727BD4-DFDD-409F-A59E-9CD21ED0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812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蓝：故障　灰：证据　黄：原因　紫：问题</a:t>
            </a:r>
            <a:endParaRPr sz="90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5" name="直接连接符 114">
            <a:extLst xmlns:a="http://schemas.openxmlformats.org/drawingml/2006/main">
              <a:ext uri="{FF2B5EF4-FFF2-40B4-BE49-F238E27FC236}">
                <a16:creationId xmlns:a16="http://schemas.microsoft.com/office/drawing/2014/main" id="{451E912A-6D3C-4016-96BF-F2E885EF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3370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91A1B4"/>
            </a:solidFill>
            <a:prstDash val="solid"/>
          </a:ln>
        </p:spPr>
      </p:sp>
      <p:sp>
        <p:nvSpPr>
          <p:cNvPr id="116" name="直接连接符 115">
            <a:extLst xmlns:a="http://schemas.openxmlformats.org/drawingml/2006/main">
              <a:ext uri="{FF2B5EF4-FFF2-40B4-BE49-F238E27FC236}">
                <a16:creationId xmlns:a16="http://schemas.microsoft.com/office/drawing/2014/main" id="{1F43F86B-AC18-4E26-8ECC-29732947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91A1B4"/>
            </a:solidFill>
            <a:prstDash val="solid"/>
          </a:ln>
        </p:spPr>
      </p:sp>
      <p:sp>
        <p:nvSpPr>
          <p:cNvPr id="117" name="直接连接符 116">
            <a:extLst xmlns:a="http://schemas.openxmlformats.org/drawingml/2006/main">
              <a:ext uri="{FF2B5EF4-FFF2-40B4-BE49-F238E27FC236}">
                <a16:creationId xmlns:a16="http://schemas.microsoft.com/office/drawing/2014/main" id="{F0E040D6-F363-4F9D-BB6D-2983B518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9580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F5FBF"/>
            </a:solidFill>
            <a:prstDash val="solid"/>
          </a:ln>
        </p:spPr>
      </p:sp>
      <p:sp>
        <p:nvSpPr>
          <p:cNvPr id="118" name="圆角矩形 117">
            <a:extLst xmlns:a="http://schemas.openxmlformats.org/drawingml/2006/main">
              <a:ext uri="{FF2B5EF4-FFF2-40B4-BE49-F238E27FC236}">
                <a16:creationId xmlns:a16="http://schemas.microsoft.com/office/drawing/2014/main" id="{0B7B9A75-9FDF-445C-B9AF-1418A36D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76500"/>
            <a:ext cx="28956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19" name="矩形 118">
            <a:extLst xmlns:a="http://schemas.openxmlformats.org/drawingml/2006/main">
              <a:ext uri="{FF2B5EF4-FFF2-40B4-BE49-F238E27FC236}">
                <a16:creationId xmlns:a16="http://schemas.microsoft.com/office/drawing/2014/main" id="{33E1CBDA-6F80-460A-9F95-31094E5D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543175"/>
            <a:ext cx="2686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Issue</a:t>
            </a:r>
            <a:endParaRPr sz="7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0" name="矩形 119">
            <a:extLst xmlns:a="http://schemas.openxmlformats.org/drawingml/2006/main">
              <a:ext uri="{FF2B5EF4-FFF2-40B4-BE49-F238E27FC236}">
                <a16:creationId xmlns:a16="http://schemas.microsoft.com/office/drawing/2014/main" id="{FC335921-3619-4F39-A6FF-1CF8279E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714625"/>
            <a:ext cx="2686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服务或配置连接失败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1" name="圆角矩形 120">
            <a:extLst xmlns:a="http://schemas.openxmlformats.org/drawingml/2006/main">
              <a:ext uri="{FF2B5EF4-FFF2-40B4-BE49-F238E27FC236}">
                <a16:creationId xmlns:a16="http://schemas.microsoft.com/office/drawing/2014/main" id="{4580AA83-3C10-4F90-A13C-F06E8722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19450"/>
            <a:ext cx="42672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91A1B4"/>
            </a:solidFill>
            <a:prstDash val="solid"/>
          </a:ln>
        </p:spPr>
      </p:sp>
      <p:sp>
        <p:nvSpPr>
          <p:cNvPr id="122" name="矩形 121">
            <a:extLst xmlns:a="http://schemas.openxmlformats.org/drawingml/2006/main">
              <a:ext uri="{FF2B5EF4-FFF2-40B4-BE49-F238E27FC236}">
                <a16:creationId xmlns:a16="http://schemas.microsoft.com/office/drawing/2014/main" id="{414AD13E-1A87-4F5D-B191-5E8EE99C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286125"/>
            <a:ext cx="4057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rPr>
              <a:t>EvidenceChunk × 3</a:t>
            </a:r>
            <a:endParaRPr sz="750" b="1">
              <a:solidFill>
                <a:srgbClr val="91A1B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3" name="矩形 122">
            <a:extLst xmlns:a="http://schemas.openxmlformats.org/drawingml/2006/main">
              <a:ext uri="{FF2B5EF4-FFF2-40B4-BE49-F238E27FC236}">
                <a16:creationId xmlns:a16="http://schemas.microsoft.com/office/drawing/2014/main" id="{529A9909-4A65-4665-9B17-5F15BF17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457575"/>
            <a:ext cx="405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Docker容器、Open WebUI、Ollama端点</a:t>
            </a:r>
            <a:endParaRPr sz="9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4" name="圆角矩形 123">
            <a:extLst xmlns:a="http://schemas.openxmlformats.org/drawingml/2006/main">
              <a:ext uri="{FF2B5EF4-FFF2-40B4-BE49-F238E27FC236}">
                <a16:creationId xmlns:a16="http://schemas.microsoft.com/office/drawing/2014/main" id="{ECD0A177-12F7-4226-A9EE-97D27020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00500"/>
            <a:ext cx="31623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125" name="矩形 124">
            <a:extLst xmlns:a="http://schemas.openxmlformats.org/drawingml/2006/main">
              <a:ext uri="{FF2B5EF4-FFF2-40B4-BE49-F238E27FC236}">
                <a16:creationId xmlns:a16="http://schemas.microsoft.com/office/drawing/2014/main" id="{F9EB55B7-D064-4A60-8A88-A5383D34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06717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Cause</a:t>
            </a:r>
            <a:endParaRPr sz="750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6" name="矩形 125">
            <a:extLst xmlns:a="http://schemas.openxmlformats.org/drawingml/2006/main">
              <a:ext uri="{FF2B5EF4-FFF2-40B4-BE49-F238E27FC236}">
                <a16:creationId xmlns:a16="http://schemas.microsoft.com/office/drawing/2014/main" id="{768968A5-E153-46E9-A932-A7F6AB51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3862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  56.0%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7" name="圆角矩形 126">
            <a:extLst xmlns:a="http://schemas.openxmlformats.org/drawingml/2006/main">
              <a:ext uri="{FF2B5EF4-FFF2-40B4-BE49-F238E27FC236}">
                <a16:creationId xmlns:a16="http://schemas.microsoft.com/office/drawing/2014/main" id="{E1995AD2-AB7A-4ABB-9435-7D0BCC8C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000500"/>
            <a:ext cx="13906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91A1B4"/>
            </a:solidFill>
            <a:prstDash val="solid"/>
          </a:ln>
        </p:spPr>
      </p:sp>
      <p:sp>
        <p:nvSpPr>
          <p:cNvPr id="128" name="矩形 127">
            <a:extLst xmlns:a="http://schemas.openxmlformats.org/drawingml/2006/main">
              <a:ext uri="{FF2B5EF4-FFF2-40B4-BE49-F238E27FC236}">
                <a16:creationId xmlns:a16="http://schemas.microsoft.com/office/drawing/2014/main" id="{08D63017-9B64-412C-89FA-5162E919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4067175"/>
            <a:ext cx="1181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rPr>
              <a:t>其他 Cause × 4</a:t>
            </a:r>
            <a:endParaRPr sz="750" b="1">
              <a:solidFill>
                <a:srgbClr val="91A1B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9" name="矩形 128">
            <a:extLst xmlns:a="http://schemas.openxmlformats.org/drawingml/2006/main">
              <a:ext uri="{FF2B5EF4-FFF2-40B4-BE49-F238E27FC236}">
                <a16:creationId xmlns:a16="http://schemas.microsoft.com/office/drawing/2014/main" id="{EB786ED9-084A-4043-BA39-54C8582B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423862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711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环境变量、服务、端口、认证</a:t>
            </a:r>
            <a:endParaRPr sz="8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0" name="圆角矩形 129">
            <a:extLst xmlns:a="http://schemas.openxmlformats.org/drawingml/2006/main">
              <a:ext uri="{FF2B5EF4-FFF2-40B4-BE49-F238E27FC236}">
                <a16:creationId xmlns:a16="http://schemas.microsoft.com/office/drawing/2014/main" id="{D776A1AD-89C8-462C-A217-D3F269A0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81550"/>
            <a:ext cx="37719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1430">
            <a:solidFill>
              <a:srgbClr val="7B61C9"/>
            </a:solidFill>
            <a:prstDash val="solid"/>
          </a:ln>
        </p:spPr>
      </p:sp>
      <p:sp>
        <p:nvSpPr>
          <p:cNvPr id="131" name="矩形 130">
            <a:extLst xmlns:a="http://schemas.openxmlformats.org/drawingml/2006/main">
              <a:ext uri="{FF2B5EF4-FFF2-40B4-BE49-F238E27FC236}">
                <a16:creationId xmlns:a16="http://schemas.microsoft.com/office/drawing/2014/main" id="{D0CE27CD-7189-48C1-B0E1-5F6C3C46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848225"/>
            <a:ext cx="3562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rPr>
              <a:t>DiagnosticQuestion · IG 0.733 bit</a:t>
            </a:r>
            <a:endParaRPr sz="750" b="1">
              <a:solidFill>
                <a:srgbClr val="7B61C9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2" name="矩形 131">
            <a:extLst xmlns:a="http://schemas.openxmlformats.org/drawingml/2006/main">
              <a:ext uri="{FF2B5EF4-FFF2-40B4-BE49-F238E27FC236}">
                <a16:creationId xmlns:a16="http://schemas.microsoft.com/office/drawing/2014/main" id="{FC2FDFE0-BC1B-4DA6-91B0-0574A017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019675"/>
            <a:ext cx="3562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宿主机正常，但容器访问失败吗？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3" name="矩形 132">
            <a:extLst xmlns:a="http://schemas.openxmlformats.org/drawingml/2006/main">
              <a:ext uri="{FF2B5EF4-FFF2-40B4-BE49-F238E27FC236}">
                <a16:creationId xmlns:a16="http://schemas.microsoft.com/office/drawing/2014/main" id="{846B9B2A-EC9F-42B3-BCF2-E3174F86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左侧看概率分布，右侧看本轮实际参与推理的节点；两部分在每轮同步变化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4176581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8BDED942-156F-41E5-BC47-A1A8AA58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156F67A-9622-41F5-9A2E-6BE05B34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第 1 轮：用户回答后，候选子图重新聚焦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E236D8C-3627-495C-8E3D-75E96C5B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07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19EF7804-6073-4643-8BB4-332BFCA8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1D142961-225D-46A7-9E5D-ED0FEFB6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FFF0F0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用户回答：是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EEB2160-24EE-42E2-8216-DE7AB7E2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504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观察：宿主机访问成功，但容器访问失败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pic>
        <p:nvPicPr>
          <p:cNvPr id="133" name="图片 8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1c8e1c9dbd42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05579" y="1924050"/>
            <a:ext cx="7180841" cy="3143250"/>
          </a:xfrm>
          <a:prstGeom xmlns:a="http://schemas.openxmlformats.org/drawingml/2006/main" prst="rect">
            <a:avLst/>
          </a:prstGeom>
        </p:spPr>
      </p:pic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0477DDBF-E2D7-4785-A747-A97A7AAF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2857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Top-1  56.0%</a:t>
            </a:r>
            <a:endParaRPr sz="135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buNone/>
              <a:def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熵  1.850 bit</a:t>
            </a:r>
            <a:endParaRPr sz="135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D8FE62E-952F-4D81-9AC3-F1E03CD7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410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条件概率边参与贝叶斯更新</a:t>
            </a:r>
            <a:endParaRPr sz="142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6D08AFF0-B7AF-40FB-BDF8-862A8D8B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286375"/>
            <a:ext cx="4095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Top-1  95.2%    熵  0.364 bit</a:t>
            </a:r>
            <a:endParaRPr sz="13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buNone/>
              <a:def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下一问：必需环境变量是否缺失</a:t>
            </a:r>
            <a:endParaRPr sz="13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cxnSp>
        <p:nvCxnSpPr>
          <p:cNvPr id="137" name="直接箭头连接符 88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543300" y="5638800"/>
            <a:ext cx="3867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34A4A"/>
            </a:solidFill>
            <a:prstDash val="solid"/>
            <a:tailEnd type="triangle" w="sm" len="sm"/>
          </a:ln>
        </p:spPr>
      </p:cxn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D4323B3-817E-40D0-95C3-2E76B70B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391150"/>
            <a:ext cx="333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条件概率边参与贝叶斯更新</a:t>
            </a:r>
            <a:endParaRPr sz="142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8C60746-B57F-4167-95A7-CAACEDAF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新增 Observation 节点后，原因概率、候选范围和下一问同时改变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C3F64A07-010B-4D4F-A503-C8944429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53816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A680ED1-7150-49D4-9FF7-C3D837E8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第 1 轮：新增观察，重新计算概率</a:t>
            </a:r>
            <a:endParaRPr sz="150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3D78F20E-9516-41CA-A667-D853B661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867150" cy="39433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DC060DA-C14B-45BD-8953-90590835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候选原因概率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CEBAF5F9-004B-425D-A1CC-CB60B53D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1455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回答后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8597D321-006C-43CB-8D95-6D0E0609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本轮回答：是（宿主机成功、容器失败）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126B77C-3FFC-400F-969B-61A0F366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B1E5B745-A863-456F-A33C-FD4194CE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BB8ECEA3-CBD0-47A6-B8A6-3B710A51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2520848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B6C99FD4-E87B-4406-81C7-D7EB4FBD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384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95.2%</a:t>
            </a:r>
            <a:endParaRPr sz="11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67E81B3-40B0-4056-9F77-C5801946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必需环境变量缺失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DBB03F61-BE70-48AC-A043-3BF18AFA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B5BE31F0-26E4-4461-9669-4A746F58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50311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8FA3DF44-16E0-4299-A036-EB810FD9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33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1.9%</a:t>
            </a:r>
            <a:endParaRPr sz="1125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49A8C59B-729A-4F20-9FFC-4B924371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端口被其他进程占用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D3B64BAC-9B5B-47AD-8E18-E4B317D0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0" name="圆角矩形 29">
            <a:extLst xmlns:a="http://schemas.openxmlformats.org/drawingml/2006/main">
              <a:ext uri="{FF2B5EF4-FFF2-40B4-BE49-F238E27FC236}">
                <a16:creationId xmlns:a16="http://schemas.microsoft.com/office/drawing/2014/main" id="{33B774DE-4320-466F-B8D7-9D2FF29D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A1B7"/>
          </a:solidFill>
          <a:ln xmlns:a="http://schemas.openxmlformats.org/drawingml/2006/main" w="11430">
            <a:solidFill>
              <a:srgbClr val="8EA1B7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8BE95E75-B884-4090-B895-BE45F11B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290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rPr>
              <a:t>1.4%</a:t>
            </a:r>
            <a:endParaRPr sz="1125" b="1">
              <a:solidFill>
                <a:srgbClr val="8EA1B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490199B1-B22D-4A15-AE83-8DC3E845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624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目标服务未启动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圆角矩形 32">
            <a:extLst xmlns:a="http://schemas.openxmlformats.org/drawingml/2006/main">
              <a:ext uri="{FF2B5EF4-FFF2-40B4-BE49-F238E27FC236}">
                <a16:creationId xmlns:a16="http://schemas.microsoft.com/office/drawing/2014/main" id="{644BE2F0-40BB-419D-ABE6-94A26203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4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4F893EB1-9B03-4825-B35C-75FF79B6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5029CE54-BD5C-432D-A2EB-EADD37AC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243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1.0%</a:t>
            </a:r>
            <a:endParaRPr sz="1125" b="1">
              <a:solidFill>
                <a:srgbClr val="A8B4BE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E21A2906-1C4C-4973-90F1-2EFECCF2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认证信息无效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圆角矩形 36">
            <a:extLst xmlns:a="http://schemas.openxmlformats.org/drawingml/2006/main">
              <a:ext uri="{FF2B5EF4-FFF2-40B4-BE49-F238E27FC236}">
                <a16:creationId xmlns:a16="http://schemas.microsoft.com/office/drawing/2014/main" id="{0A98BA9A-2911-499F-9C56-77C3FD7A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8" name="圆角矩形 37">
            <a:extLst xmlns:a="http://schemas.openxmlformats.org/drawingml/2006/main">
              <a:ext uri="{FF2B5EF4-FFF2-40B4-BE49-F238E27FC236}">
                <a16:creationId xmlns:a16="http://schemas.microsoft.com/office/drawing/2014/main" id="{4BB77E0C-BC6F-46C4-9813-6F74E1D4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BAE3FC72-D162-4B6F-A5C5-9E89B82C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196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0.4%</a:t>
            </a:r>
            <a:endParaRPr sz="1125" b="1">
              <a:solidFill>
                <a:srgbClr val="A8B4BE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D6E646C4-295B-4126-AC89-AE822303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当前熵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92B07104-DFC5-4388-9CA7-91894E55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10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0.364 bit</a:t>
            </a:r>
            <a:endParaRPr sz="15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3E6D3D3C-19A7-491E-94A6-8F7A6619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62150"/>
            <a:ext cx="6629400" cy="3943350"/>
          </a:xfrm>
          <a:prstGeom xmlns:a="http://schemas.openxmlformats.org/drawingml/2006/main" prst="roundRect">
            <a:avLst>
              <a:gd name="adj" fmla="val 33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629B58F7-4F18-45A8-A4B3-9B80DC3C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33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回答后的候选子图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70B6C61C-B729-427C-9E86-D8465043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81225"/>
            <a:ext cx="3733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红：本轮新增与更新　绿：环境上下文</a:t>
            </a:r>
            <a:endParaRPr sz="90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5" name="直接连接符 44">
            <a:extLst xmlns:a="http://schemas.openxmlformats.org/drawingml/2006/main">
              <a:ext uri="{FF2B5EF4-FFF2-40B4-BE49-F238E27FC236}">
                <a16:creationId xmlns:a16="http://schemas.microsoft.com/office/drawing/2014/main" id="{DDD64FB8-39BD-41E9-AC22-5BC37FB5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0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34A4A"/>
            </a:solidFill>
            <a:prstDash val="solid"/>
          </a:ln>
        </p:spPr>
      </p:sp>
      <p:sp>
        <p:nvSpPr>
          <p:cNvPr id="46" name="直接连接符 45">
            <a:extLst xmlns:a="http://schemas.openxmlformats.org/drawingml/2006/main">
              <a:ext uri="{FF2B5EF4-FFF2-40B4-BE49-F238E27FC236}">
                <a16:creationId xmlns:a16="http://schemas.microsoft.com/office/drawing/2014/main" id="{C0F7B6FD-63A1-4A7D-8A47-179A249D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34A4A"/>
            </a:solidFill>
            <a:prstDash val="solid"/>
          </a:ln>
        </p:spPr>
      </p:sp>
      <p:sp>
        <p:nvSpPr>
          <p:cNvPr id="47" name="直接连接符 46">
            <a:extLst xmlns:a="http://schemas.openxmlformats.org/drawingml/2006/main">
              <a:ext uri="{FF2B5EF4-FFF2-40B4-BE49-F238E27FC236}">
                <a16:creationId xmlns:a16="http://schemas.microsoft.com/office/drawing/2014/main" id="{E90D8318-3BDC-4404-942F-0EBE39D9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67200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F5FBF"/>
            </a:solidFill>
            <a:prstDash val="solid"/>
          </a:ln>
        </p:spPr>
      </p:sp>
      <p:sp>
        <p:nvSpPr>
          <p:cNvPr id="48" name="圆角矩形 47">
            <a:extLst xmlns:a="http://schemas.openxmlformats.org/drawingml/2006/main">
              <a:ext uri="{FF2B5EF4-FFF2-40B4-BE49-F238E27FC236}">
                <a16:creationId xmlns:a16="http://schemas.microsoft.com/office/drawing/2014/main" id="{0074D4E4-AD42-4309-9E19-73EF25D6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57450"/>
            <a:ext cx="36957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1430">
            <a:solidFill>
              <a:srgbClr val="7B61C9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27F01680-9B39-4545-B06A-6FFCB871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524125"/>
            <a:ext cx="3486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rPr>
              <a:t>DiagnosticQuestion</a:t>
            </a:r>
            <a:endParaRPr sz="750" b="1">
              <a:solidFill>
                <a:srgbClr val="7B61C9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B4BA82F8-E3C2-41A5-BA25-7A0326CE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695575"/>
            <a:ext cx="34861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32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宿主机正常，但容器访问失败吗？</a:t>
            </a:r>
            <a:endParaRPr sz="9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1" name="圆角矩形 50">
            <a:extLst xmlns:a="http://schemas.openxmlformats.org/drawingml/2006/main">
              <a:ext uri="{FF2B5EF4-FFF2-40B4-BE49-F238E27FC236}">
                <a16:creationId xmlns:a16="http://schemas.microsoft.com/office/drawing/2014/main" id="{63695B53-3A25-42C6-BDC1-BCD80169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05150"/>
            <a:ext cx="34290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08B5277F-2461-4D23-86C7-4E4307B3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171825"/>
            <a:ext cx="3219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Observation</a:t>
            </a:r>
            <a:endParaRPr sz="7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71A88151-504C-4530-A73B-55ABCD72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343275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是：宿主机成功、容器失败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4" name="圆角矩形 53">
            <a:extLst xmlns:a="http://schemas.openxmlformats.org/drawingml/2006/main">
              <a:ext uri="{FF2B5EF4-FFF2-40B4-BE49-F238E27FC236}">
                <a16:creationId xmlns:a16="http://schemas.microsoft.com/office/drawing/2014/main" id="{45C8188C-8041-4734-958D-6E9747F6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10000"/>
            <a:ext cx="32004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B14D1A84-0BCE-4600-AA37-F7DDB553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876675"/>
            <a:ext cx="2990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Cause</a:t>
            </a:r>
            <a:endParaRPr sz="750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0562F7AC-EA8C-49C9-9A47-75001D00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048125"/>
            <a:ext cx="2990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  95.2%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C9FB5A70-393E-4858-8549-3FBDB1EF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14850"/>
            <a:ext cx="407670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4FD08EFC-CE9D-4F4C-80F3-60EADD94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581525"/>
            <a:ext cx="3867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DeploymentContext</a:t>
            </a:r>
            <a:endParaRPr sz="7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1FEC282C-1DCA-4E8F-812D-7D9100CD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752975"/>
            <a:ext cx="3867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Open WebUI 容器访问宿主机 Ollama</a:t>
            </a:r>
            <a:endParaRPr sz="9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0" name="圆角矩形 59">
            <a:extLst xmlns:a="http://schemas.openxmlformats.org/drawingml/2006/main">
              <a:ext uri="{FF2B5EF4-FFF2-40B4-BE49-F238E27FC236}">
                <a16:creationId xmlns:a16="http://schemas.microsoft.com/office/drawing/2014/main" id="{7BFA4C22-DE34-4DE4-8293-7C578328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57800"/>
            <a:ext cx="14287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91A1B4"/>
            </a:solidFill>
            <a:prstDash val="solid"/>
          </a:ln>
        </p:spPr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694AAEEE-BAC3-41C3-BBFC-B199675E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5324475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rPr>
              <a:t>Service</a:t>
            </a:r>
            <a:endParaRPr sz="750" b="1">
              <a:solidFill>
                <a:srgbClr val="91A1B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6554E137-667B-463D-8634-EE0301DC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5495925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Open WebUI</a:t>
            </a:r>
            <a:endParaRPr sz="9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3" name="圆角矩形 62">
            <a:extLst xmlns:a="http://schemas.openxmlformats.org/drawingml/2006/main">
              <a:ext uri="{FF2B5EF4-FFF2-40B4-BE49-F238E27FC236}">
                <a16:creationId xmlns:a16="http://schemas.microsoft.com/office/drawing/2014/main" id="{85945E5D-A1BE-4819-897A-8754E955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257800"/>
            <a:ext cx="12573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91A1B4"/>
            </a:solidFill>
            <a:prstDash val="solid"/>
          </a:ln>
        </p:spPr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FBDBC03E-5C94-4BF0-9FF7-5DBE4530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53244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rPr>
              <a:t>Service</a:t>
            </a:r>
            <a:endParaRPr sz="750" b="1">
              <a:solidFill>
                <a:srgbClr val="91A1B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C6347C53-9CF6-44C1-8FD7-BDA4B456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54959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Ollama</a:t>
            </a:r>
            <a:endParaRPr sz="9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6" name="圆角矩形 65">
            <a:extLst xmlns:a="http://schemas.openxmlformats.org/drawingml/2006/main">
              <a:ext uri="{FF2B5EF4-FFF2-40B4-BE49-F238E27FC236}">
                <a16:creationId xmlns:a16="http://schemas.microsoft.com/office/drawing/2014/main" id="{57C76863-FFB8-44E4-9C70-AB296D7D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57800"/>
            <a:ext cx="12573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91A1B4"/>
            </a:solidFill>
            <a:prstDash val="solid"/>
          </a:ln>
        </p:spPr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82203C10-7D95-422E-962E-845C97CD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3244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rPr>
              <a:t>Endpoint</a:t>
            </a:r>
            <a:endParaRPr sz="750" b="1">
              <a:solidFill>
                <a:srgbClr val="91A1B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593A34EC-6AA5-4AF8-8057-FA8E607C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4959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/api/tags</a:t>
            </a:r>
            <a:endParaRPr sz="9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9" name="圆角矩形 68">
            <a:extLst xmlns:a="http://schemas.openxmlformats.org/drawingml/2006/main">
              <a:ext uri="{FF2B5EF4-FFF2-40B4-BE49-F238E27FC236}">
                <a16:creationId xmlns:a16="http://schemas.microsoft.com/office/drawing/2014/main" id="{7108B924-2E51-4AD8-AE0B-D06CEF53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257800"/>
            <a:ext cx="16002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1430">
            <a:solidFill>
              <a:srgbClr val="7B61C9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BBE4CD75-6A74-4A9D-8912-31B499C8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324475"/>
            <a:ext cx="1390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rPr>
              <a:t>下一问</a:t>
            </a:r>
            <a:endParaRPr sz="750" b="1">
              <a:solidFill>
                <a:srgbClr val="7B61C9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5C8CB4EA-D2DD-44E4-B6C5-07D9567D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495925"/>
            <a:ext cx="1390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环境变量是否缺失？</a:t>
            </a:r>
            <a:endParaRPr sz="8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2" name="直接连接符 71">
            <a:extLst xmlns:a="http://schemas.openxmlformats.org/drawingml/2006/main">
              <a:ext uri="{FF2B5EF4-FFF2-40B4-BE49-F238E27FC236}">
                <a16:creationId xmlns:a16="http://schemas.microsoft.com/office/drawing/2014/main" id="{FFFD3AEB-AAEC-4113-9C34-8C8D572C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9110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1A1B4"/>
            </a:solidFill>
            <a:prstDash val="solid"/>
          </a:ln>
        </p:spPr>
      </p:sp>
      <p:sp>
        <p:nvSpPr>
          <p:cNvPr id="73" name="直接连接符 72">
            <a:extLst xmlns:a="http://schemas.openxmlformats.org/drawingml/2006/main">
              <a:ext uri="{FF2B5EF4-FFF2-40B4-BE49-F238E27FC236}">
                <a16:creationId xmlns:a16="http://schemas.microsoft.com/office/drawing/2014/main" id="{4C6B649C-8039-4389-8040-220B4C06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5124450"/>
            <a:ext cx="4543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1A1B4"/>
            </a:solidFill>
            <a:prstDash val="solid"/>
          </a:ln>
        </p:spPr>
      </p:sp>
      <p:sp>
        <p:nvSpPr>
          <p:cNvPr id="74" name="直接连接符 73">
            <a:extLst xmlns:a="http://schemas.openxmlformats.org/drawingml/2006/main">
              <a:ext uri="{FF2B5EF4-FFF2-40B4-BE49-F238E27FC236}">
                <a16:creationId xmlns:a16="http://schemas.microsoft.com/office/drawing/2014/main" id="{24927F66-17DA-4123-BC74-91F0BD64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512445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1A1B4"/>
            </a:solidFill>
            <a:prstDash val="solid"/>
          </a:ln>
        </p:spPr>
      </p:sp>
      <p:sp>
        <p:nvSpPr>
          <p:cNvPr id="75" name="直接连接符 74">
            <a:extLst xmlns:a="http://schemas.openxmlformats.org/drawingml/2006/main">
              <a:ext uri="{FF2B5EF4-FFF2-40B4-BE49-F238E27FC236}">
                <a16:creationId xmlns:a16="http://schemas.microsoft.com/office/drawing/2014/main" id="{AC304221-7A3F-48C5-9264-D389C0BC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2445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1A1B4"/>
            </a:solidFill>
            <a:prstDash val="solid"/>
          </a:ln>
        </p:spPr>
      </p:sp>
      <p:sp>
        <p:nvSpPr>
          <p:cNvPr id="76" name="直接连接符 75">
            <a:extLst xmlns:a="http://schemas.openxmlformats.org/drawingml/2006/main">
              <a:ext uri="{FF2B5EF4-FFF2-40B4-BE49-F238E27FC236}">
                <a16:creationId xmlns:a16="http://schemas.microsoft.com/office/drawing/2014/main" id="{926CA257-331F-4C17-A701-4138C079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12445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1A1B4"/>
            </a:solidFill>
            <a:prstDash val="solid"/>
          </a:ln>
        </p:spPr>
      </p:sp>
      <p:sp>
        <p:nvSpPr>
          <p:cNvPr id="77" name="直接连接符 76">
            <a:extLst xmlns:a="http://schemas.openxmlformats.org/drawingml/2006/main">
              <a:ext uri="{FF2B5EF4-FFF2-40B4-BE49-F238E27FC236}">
                <a16:creationId xmlns:a16="http://schemas.microsoft.com/office/drawing/2014/main" id="{816ECBC7-906B-44F4-A8A8-471A93C3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12445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B61C9"/>
            </a:solidFill>
            <a:prstDash val="solid"/>
          </a:ln>
        </p:spPr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768E74A2-D553-4606-A7B9-2B66FB48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用户回答进入图谱后，Top-1 从 56.0% 升至 95.2%，系统据此选择下一问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3792416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5" name="矩形 104">
            <a:extLst xmlns:a="http://schemas.openxmlformats.org/drawingml/2006/main">
              <a:ext uri="{FF2B5EF4-FFF2-40B4-BE49-F238E27FC236}">
                <a16:creationId xmlns:a16="http://schemas.microsoft.com/office/drawing/2014/main" id="{A30D06DC-F7B2-4A84-A534-817861A0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48761A2-CB52-459F-A7F2-FA40650D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第 2 轮：定位原因，并展开完整证据链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98C32C1-ED28-4E2A-B40A-7752986D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08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A7B34429-4BBA-4F21-A1E0-EB6AFF2F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65417D4-6CDC-409B-8BBF-A333E94A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第二次回答“否”后，服务地址配置错误达到 96.9%，并满足停止条件。</a:t>
            </a:r>
            <a:endParaRPr sz="15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pic>
        <p:nvPicPr>
          <p:cNvPr id="218" name="图片 10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2933dd06f543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98634" y="1809750"/>
            <a:ext cx="6594732" cy="26289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C8BB953-3D2A-48D8-88C1-5DB15521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最终输出路径</a:t>
            </a:r>
            <a:endParaRPr sz="12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A88B8C87-AFAF-4A87-AC28-179CA130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952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126FA6A-EDA6-4FA5-9460-24E36D35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86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原因</a:t>
            </a:r>
            <a:endParaRPr sz="9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072B2FC-1DC0-41DF-99B2-9052AED3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1685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109863FE-4EE0-4A67-B859-D1DDCF53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781550"/>
            <a:ext cx="1952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7AB38D2-47F6-4A19-90B5-D8D1611A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886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检查</a:t>
            </a:r>
            <a:endParaRPr sz="975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C9B86FD-CE7D-49BD-82F6-E8C9A68A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143500"/>
            <a:ext cx="1685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从容器访问 /api/tags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42EFEEBD-F578-400F-8332-78D4AD5F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81550"/>
            <a:ext cx="1952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F191217-1164-419A-865D-8F12BE70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886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修复</a:t>
            </a:r>
            <a:endParaRPr sz="9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C41C409-955A-4C2C-A771-96B8CAD7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143500"/>
            <a:ext cx="1685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536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配置 OLLAMA_BASE_URL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CAFFAA57-5655-4915-B431-1B09A9A7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781550"/>
            <a:ext cx="1952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4ED033B-B15F-4292-B023-2507940F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886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风险</a:t>
            </a:r>
            <a:endParaRPr sz="97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8441062-BCB7-4C3B-A614-1E0F3B82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143500"/>
            <a:ext cx="1685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修改前保留原值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75912CE5-FB24-4023-93D6-85D29A67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781550"/>
            <a:ext cx="1952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5B6B78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48C84A4-B8E1-4014-BD32-A62528D6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886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来源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5C16101-F9AE-4287-A41E-92C29369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143500"/>
            <a:ext cx="1685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三类官方文档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cxnSp>
        <p:nvCxnSpPr>
          <p:cNvPr id="235" name="直接箭头连接符 126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638425" y="51625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5FBF"/>
            </a:solidFill>
            <a:prstDash val="solid"/>
            <a:tailEnd type="triangle" w="sm" len="sm"/>
          </a:ln>
        </p:spPr>
      </p:cxnSp>
      <p:cxnSp>
        <p:nvCxnSpPr>
          <p:cNvPr id="236" name="直接箭头连接符 127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819650" y="51625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5FBF"/>
            </a:solidFill>
            <a:prstDash val="solid"/>
            <a:tailEnd type="triangle" w="sm" len="sm"/>
          </a:ln>
        </p:spPr>
      </p:cxnSp>
      <p:cxnSp>
        <p:nvCxnSpPr>
          <p:cNvPr id="237" name="直接箭头连接符 128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000875" y="51625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34A4A"/>
            </a:solidFill>
            <a:prstDash val="solid"/>
            <a:tailEnd type="triangle" w="sm" len="sm"/>
          </a:ln>
        </p:spPr>
      </p:cxnSp>
      <p:cxnSp>
        <p:nvCxnSpPr>
          <p:cNvPr id="238" name="直接箭头连接符 129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182100" y="51625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5FBF"/>
            </a:solidFill>
            <a:prstDash val="solid"/>
            <a:tailEnd type="triangle" w="sm" len="sm"/>
          </a:ln>
        </p:spPr>
      </p:cxn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C9F125A4-93E2-4CA7-A471-7A86D4E9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2735"/>
          </a:solidFill>
          <a:ln xmlns:a="http://schemas.openxmlformats.org/drawingml/2006/main" w="11430">
            <a:solidFill>
              <a:srgbClr val="142735"/>
            </a:solidFill>
            <a:prstDash val="solid"/>
          </a:ln>
        </p:spPr>
        <p:txBody>
          <a:bodyPr xmlns:a="http://schemas.openxmlformats.org/drawingml/2006/main" lIns="171450" tIns="0" rIns="17145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结构化注入通过白名单校验后，才交给大模型整理输出｜9 条有效结构通过，24 条非法结构被拒绝</a:t>
            </a:r>
            <a:endParaRPr sz="1275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CE972622-4A9C-4AA7-855D-9585C8C9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大模型不重新判断原因，只把已验证的图谱证据组织成自然语言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BA7646C9-E677-495D-8CB3-D763C128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53816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CB71120C-3D06-4E51-96AA-1FB5AD9B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第 2 轮：满足停止条件，展开执行路径</a:t>
            </a:r>
            <a:endParaRPr sz="150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1D3531C3-E317-47A2-BE9A-8FC541C6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867150" cy="39433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B72D813B-DE59-4671-9AF4-838B8B8D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候选原因概率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圆角矩形 32">
            <a:extLst xmlns:a="http://schemas.openxmlformats.org/drawingml/2006/main">
              <a:ext uri="{FF2B5EF4-FFF2-40B4-BE49-F238E27FC236}">
                <a16:creationId xmlns:a16="http://schemas.microsoft.com/office/drawing/2014/main" id="{7B550190-1724-4EA0-8008-FC083A91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1455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已停止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9D7A1D3-C632-4D2A-8684-5088F7E0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本轮回答：否（环境变量存在）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5BACE233-EA1A-4EF7-B614-44082CFE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6" name="圆角矩形 35">
            <a:extLst xmlns:a="http://schemas.openxmlformats.org/drawingml/2006/main">
              <a:ext uri="{FF2B5EF4-FFF2-40B4-BE49-F238E27FC236}">
                <a16:creationId xmlns:a16="http://schemas.microsoft.com/office/drawing/2014/main" id="{DDF1B368-0A0E-4EB1-8777-2DADE5A3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7" name="圆角矩形 36">
            <a:extLst xmlns:a="http://schemas.openxmlformats.org/drawingml/2006/main">
              <a:ext uri="{FF2B5EF4-FFF2-40B4-BE49-F238E27FC236}">
                <a16:creationId xmlns:a16="http://schemas.microsoft.com/office/drawing/2014/main" id="{630E87B9-D5D4-44AA-ACF9-E5CA03C1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2565864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7754D582-C188-48BB-ADFF-7439197B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384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96.9%</a:t>
            </a:r>
            <a:endParaRPr sz="11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8BCE1FAA-D4CA-45CC-86BA-42059E0F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端口被其他进程占用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4081FC1F-F586-4640-9F85-8A8593AF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1" name="圆角矩形 40">
            <a:extLst xmlns:a="http://schemas.openxmlformats.org/drawingml/2006/main">
              <a:ext uri="{FF2B5EF4-FFF2-40B4-BE49-F238E27FC236}">
                <a16:creationId xmlns:a16="http://schemas.microsoft.com/office/drawing/2014/main" id="{E7073678-5433-4FE3-8332-125A8852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A1B7"/>
          </a:solidFill>
          <a:ln xmlns:a="http://schemas.openxmlformats.org/drawingml/2006/main" w="11430">
            <a:solidFill>
              <a:srgbClr val="8EA1B7"/>
            </a:solidFill>
            <a:prstDash val="solid"/>
          </a:ln>
        </p:spPr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7E65A229-608C-4FF9-A70F-1B50FCB1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33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rPr>
              <a:t>1.6%</a:t>
            </a:r>
            <a:endParaRPr sz="1125" b="1">
              <a:solidFill>
                <a:srgbClr val="8EA1B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8611A7B1-9B78-41E4-AB66-D9E95C80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目标服务未启动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4" name="圆角矩形 43">
            <a:extLst xmlns:a="http://schemas.openxmlformats.org/drawingml/2006/main">
              <a:ext uri="{FF2B5EF4-FFF2-40B4-BE49-F238E27FC236}">
                <a16:creationId xmlns:a16="http://schemas.microsoft.com/office/drawing/2014/main" id="{060994EA-6CCF-450D-A158-64853F22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5" name="圆角矩形 44">
            <a:extLst xmlns:a="http://schemas.openxmlformats.org/drawingml/2006/main">
              <a:ext uri="{FF2B5EF4-FFF2-40B4-BE49-F238E27FC236}">
                <a16:creationId xmlns:a16="http://schemas.microsoft.com/office/drawing/2014/main" id="{C52E7023-2A2E-48FB-8F02-82C02741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7418DACB-E3B1-494F-9BA6-A4F8574A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290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1.0%</a:t>
            </a:r>
            <a:endParaRPr sz="1125" b="1">
              <a:solidFill>
                <a:srgbClr val="A8B4BE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C2D460CE-8B39-4E6D-9C04-DC702E34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624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认证信息无效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8" name="圆角矩形 47">
            <a:extLst xmlns:a="http://schemas.openxmlformats.org/drawingml/2006/main">
              <a:ext uri="{FF2B5EF4-FFF2-40B4-BE49-F238E27FC236}">
                <a16:creationId xmlns:a16="http://schemas.microsoft.com/office/drawing/2014/main" id="{1AE42F79-B9A7-42A1-A9E1-3177CA8A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9" name="圆角矩形 48">
            <a:extLst xmlns:a="http://schemas.openxmlformats.org/drawingml/2006/main">
              <a:ext uri="{FF2B5EF4-FFF2-40B4-BE49-F238E27FC236}">
                <a16:creationId xmlns:a16="http://schemas.microsoft.com/office/drawing/2014/main" id="{F612E6EB-D133-4E8D-9F00-5E8EFBDD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971CE71C-6A7E-4A83-9CA2-781B88AE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243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0.4%</a:t>
            </a:r>
            <a:endParaRPr sz="1125" b="1">
              <a:solidFill>
                <a:srgbClr val="A8B4BE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17ABDDE3-ED01-4DA5-9AD0-314D0600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必需环境变量缺失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2" name="圆角矩形 51">
            <a:extLst xmlns:a="http://schemas.openxmlformats.org/drawingml/2006/main">
              <a:ext uri="{FF2B5EF4-FFF2-40B4-BE49-F238E27FC236}">
                <a16:creationId xmlns:a16="http://schemas.microsoft.com/office/drawing/2014/main" id="{5F75A883-109A-4418-8D77-192B91A5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53" name="圆角矩形 52">
            <a:extLst xmlns:a="http://schemas.openxmlformats.org/drawingml/2006/main">
              <a:ext uri="{FF2B5EF4-FFF2-40B4-BE49-F238E27FC236}">
                <a16:creationId xmlns:a16="http://schemas.microsoft.com/office/drawing/2014/main" id="{50E41A48-F269-4383-A20B-7198310E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FC4B4677-D88A-4BF8-AF05-EE70208F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196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0.1%</a:t>
            </a:r>
            <a:endParaRPr sz="1125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8DBFAD1D-F6F5-4E83-A703-E4522938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当前熵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91D9F925-D752-4108-965E-1EE07E69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10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0.250 bit</a:t>
            </a:r>
            <a:endParaRPr sz="15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3E6DBDD2-1A59-4769-A7C8-E1667E26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62150"/>
            <a:ext cx="6629400" cy="3943350"/>
          </a:xfrm>
          <a:prstGeom xmlns:a="http://schemas.openxmlformats.org/drawingml/2006/main" prst="roundRect">
            <a:avLst>
              <a:gd name="adj" fmla="val 33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103BD002-9D5F-46D4-949F-C3FF6D6A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336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最终候选子图与方案链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9" name="圆角矩形 58">
            <a:extLst xmlns:a="http://schemas.openxmlformats.org/drawingml/2006/main">
              <a:ext uri="{FF2B5EF4-FFF2-40B4-BE49-F238E27FC236}">
                <a16:creationId xmlns:a16="http://schemas.microsoft.com/office/drawing/2014/main" id="{387F7071-B43E-4DE5-A83B-4227D7BE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1455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EAF8F3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最高概率大于</a:t>
            </a: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78%</a:t>
            </a:r>
            <a:endParaRPr sz="10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0" name="圆角矩形 59">
            <a:extLst xmlns:a="http://schemas.openxmlformats.org/drawingml/2006/main">
              <a:ext uri="{FF2B5EF4-FFF2-40B4-BE49-F238E27FC236}">
                <a16:creationId xmlns:a16="http://schemas.microsoft.com/office/drawing/2014/main" id="{52FC8D67-2084-4F34-AC40-B5C81461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1455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EAF8F3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领先</a:t>
            </a: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第二名</a:t>
            </a: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50%</a:t>
            </a:r>
            <a:endParaRPr sz="10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1" name="圆角矩形 60">
            <a:extLst xmlns:a="http://schemas.openxmlformats.org/drawingml/2006/main">
              <a:ext uri="{FF2B5EF4-FFF2-40B4-BE49-F238E27FC236}">
                <a16:creationId xmlns:a16="http://schemas.microsoft.com/office/drawing/2014/main" id="{D2DC524B-4A5C-452B-A913-04E8D527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11455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EAF8F3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回答</a:t>
            </a: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至少</a:t>
            </a: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2次</a:t>
            </a:r>
            <a:endParaRPr sz="10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2" name="直接连接符 61">
            <a:extLst xmlns:a="http://schemas.openxmlformats.org/drawingml/2006/main">
              <a:ext uri="{FF2B5EF4-FFF2-40B4-BE49-F238E27FC236}">
                <a16:creationId xmlns:a16="http://schemas.microsoft.com/office/drawing/2014/main" id="{FFDB831A-5CF3-40B0-9F0A-167DE9D8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6225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63" name="直接连接符 62">
            <a:extLst xmlns:a="http://schemas.openxmlformats.org/drawingml/2006/main">
              <a:ext uri="{FF2B5EF4-FFF2-40B4-BE49-F238E27FC236}">
                <a16:creationId xmlns:a16="http://schemas.microsoft.com/office/drawing/2014/main" id="{F41D6289-0D01-4061-84A2-2D24E61B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76225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4E0D6CEE-208B-43A6-A309-FC131B6F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908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65" name="直接连接符 64">
            <a:extLst xmlns:a="http://schemas.openxmlformats.org/drawingml/2006/main">
              <a:ext uri="{FF2B5EF4-FFF2-40B4-BE49-F238E27FC236}">
                <a16:creationId xmlns:a16="http://schemas.microsoft.com/office/drawing/2014/main" id="{893E3314-FF2F-4386-B144-5D5E8515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9908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66" name="直接连接符 65">
            <a:extLst xmlns:a="http://schemas.openxmlformats.org/drawingml/2006/main">
              <a:ext uri="{FF2B5EF4-FFF2-40B4-BE49-F238E27FC236}">
                <a16:creationId xmlns:a16="http://schemas.microsoft.com/office/drawing/2014/main" id="{85E46873-18DA-4023-B83B-EE89D3CC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19450"/>
            <a:ext cx="325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67" name="直接连接符 66">
            <a:extLst xmlns:a="http://schemas.openxmlformats.org/drawingml/2006/main">
              <a:ext uri="{FF2B5EF4-FFF2-40B4-BE49-F238E27FC236}">
                <a16:creationId xmlns:a16="http://schemas.microsoft.com/office/drawing/2014/main" id="{C1D425E3-30F2-4056-A251-3DE89A01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19450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68" name="直接连接符 67">
            <a:extLst xmlns:a="http://schemas.openxmlformats.org/drawingml/2006/main">
              <a:ext uri="{FF2B5EF4-FFF2-40B4-BE49-F238E27FC236}">
                <a16:creationId xmlns:a16="http://schemas.microsoft.com/office/drawing/2014/main" id="{DFE1AB50-EE3C-4C27-BDB2-DDB8E5EE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6715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F5FBF"/>
            </a:solidFill>
            <a:prstDash val="solid"/>
          </a:ln>
        </p:spPr>
      </p:sp>
      <p:sp>
        <p:nvSpPr>
          <p:cNvPr id="69" name="直接连接符 68">
            <a:extLst xmlns:a="http://schemas.openxmlformats.org/drawingml/2006/main">
              <a:ext uri="{FF2B5EF4-FFF2-40B4-BE49-F238E27FC236}">
                <a16:creationId xmlns:a16="http://schemas.microsoft.com/office/drawing/2014/main" id="{713D214E-C00B-42CE-85CB-7393276E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5295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68B6B"/>
            </a:solidFill>
            <a:prstDash val="solid"/>
          </a:ln>
        </p:spPr>
      </p:sp>
      <p:sp>
        <p:nvSpPr>
          <p:cNvPr id="70" name="直接连接符 69">
            <a:extLst xmlns:a="http://schemas.openxmlformats.org/drawingml/2006/main">
              <a:ext uri="{FF2B5EF4-FFF2-40B4-BE49-F238E27FC236}">
                <a16:creationId xmlns:a16="http://schemas.microsoft.com/office/drawing/2014/main" id="{3B82FC1D-C40E-4337-B5CB-A76F9F7C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3149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F5FBF"/>
            </a:solidFill>
            <a:prstDash val="solid"/>
          </a:ln>
        </p:spPr>
      </p:sp>
      <p:sp>
        <p:nvSpPr>
          <p:cNvPr id="71" name="直接连接符 70">
            <a:extLst xmlns:a="http://schemas.openxmlformats.org/drawingml/2006/main">
              <a:ext uri="{FF2B5EF4-FFF2-40B4-BE49-F238E27FC236}">
                <a16:creationId xmlns:a16="http://schemas.microsoft.com/office/drawing/2014/main" id="{04B93CAF-3A07-43D5-8F73-2D8A49EA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149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72" name="直接连接符 71">
            <a:extLst xmlns:a="http://schemas.openxmlformats.org/drawingml/2006/main">
              <a:ext uri="{FF2B5EF4-FFF2-40B4-BE49-F238E27FC236}">
                <a16:creationId xmlns:a16="http://schemas.microsoft.com/office/drawing/2014/main" id="{F71F510A-D35E-4070-8051-C17B5356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3149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91A1B4"/>
            </a:solidFill>
            <a:prstDash val="solid"/>
          </a:ln>
        </p:spPr>
      </p:sp>
      <p:sp>
        <p:nvSpPr>
          <p:cNvPr id="73" name="圆角矩形 72">
            <a:extLst xmlns:a="http://schemas.openxmlformats.org/drawingml/2006/main">
              <a:ext uri="{FF2B5EF4-FFF2-40B4-BE49-F238E27FC236}">
                <a16:creationId xmlns:a16="http://schemas.microsoft.com/office/drawing/2014/main" id="{922164E9-EC77-4F23-BD71-C9843716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33650"/>
            <a:ext cx="17526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1430">
            <a:solidFill>
              <a:srgbClr val="7B61C9"/>
            </a:solidFill>
            <a:prstDash val="solid"/>
          </a:ln>
        </p:spPr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1A4F5BCF-49DE-4275-A9A2-DF5BB620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600325"/>
            <a:ext cx="1543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rPr>
              <a:t>Question 1</a:t>
            </a:r>
            <a:endParaRPr sz="750" b="1">
              <a:solidFill>
                <a:srgbClr val="7B61C9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001BE0A0-5ECF-49EB-9E96-AEBE91F6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771775"/>
            <a:ext cx="154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宿主机正常、容器失败？</a:t>
            </a:r>
            <a:endParaRPr sz="8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6" name="圆角矩形 75">
            <a:extLst xmlns:a="http://schemas.openxmlformats.org/drawingml/2006/main">
              <a:ext uri="{FF2B5EF4-FFF2-40B4-BE49-F238E27FC236}">
                <a16:creationId xmlns:a16="http://schemas.microsoft.com/office/drawing/2014/main" id="{9DEAAF2F-0751-4D99-B74E-86EEFACE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33650"/>
            <a:ext cx="9144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772FD00C-3B87-475C-AB2E-6A315675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600325"/>
            <a:ext cx="704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Observation</a:t>
            </a:r>
            <a:endParaRPr sz="7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23CD7635-9F7F-46DB-8D8B-A6614D00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771775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是</a:t>
            </a:r>
            <a:endParaRPr sz="9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9" name="圆角矩形 78">
            <a:extLst xmlns:a="http://schemas.openxmlformats.org/drawingml/2006/main">
              <a:ext uri="{FF2B5EF4-FFF2-40B4-BE49-F238E27FC236}">
                <a16:creationId xmlns:a16="http://schemas.microsoft.com/office/drawing/2014/main" id="{666964D0-9F18-4166-B309-03C2A98F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33650"/>
            <a:ext cx="17716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1430">
            <a:solidFill>
              <a:srgbClr val="7B61C9"/>
            </a:solidFill>
            <a:prstDash val="solid"/>
          </a:ln>
        </p:spPr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A3CB0725-E4B0-4A59-A2B5-E03777A4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00325"/>
            <a:ext cx="1562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rPr>
              <a:t>Question 2</a:t>
            </a:r>
            <a:endParaRPr sz="750" b="1">
              <a:solidFill>
                <a:srgbClr val="7B61C9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3C462D5-5583-4A21-8A05-28911E94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771775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环境变量缺失？</a:t>
            </a:r>
            <a:endParaRPr sz="8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2" name="圆角矩形 81">
            <a:extLst xmlns:a="http://schemas.openxmlformats.org/drawingml/2006/main">
              <a:ext uri="{FF2B5EF4-FFF2-40B4-BE49-F238E27FC236}">
                <a16:creationId xmlns:a16="http://schemas.microsoft.com/office/drawing/2014/main" id="{51E1FF04-44FA-401D-A1B2-BFC74287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533650"/>
            <a:ext cx="10287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8B6501C4-C792-4D79-89AC-EE7690AC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600325"/>
            <a:ext cx="819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Observation</a:t>
            </a:r>
            <a:endParaRPr sz="7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4" name="矩形 83">
            <a:extLst xmlns:a="http://schemas.openxmlformats.org/drawingml/2006/main">
              <a:ext uri="{FF2B5EF4-FFF2-40B4-BE49-F238E27FC236}">
                <a16:creationId xmlns:a16="http://schemas.microsoft.com/office/drawing/2014/main" id="{A62826D1-B5F1-4BB1-AB71-B4F9C1AE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77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否</a:t>
            </a:r>
            <a:endParaRPr sz="9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5" name="圆角矩形 84">
            <a:extLst xmlns:a="http://schemas.openxmlformats.org/drawingml/2006/main">
              <a:ext uri="{FF2B5EF4-FFF2-40B4-BE49-F238E27FC236}">
                <a16:creationId xmlns:a16="http://schemas.microsoft.com/office/drawing/2014/main" id="{C1D6F20F-B3D3-44DD-8C1C-2E3FE116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09950"/>
            <a:ext cx="22098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86" name="矩形 85">
            <a:extLst xmlns:a="http://schemas.openxmlformats.org/drawingml/2006/main">
              <a:ext uri="{FF2B5EF4-FFF2-40B4-BE49-F238E27FC236}">
                <a16:creationId xmlns:a16="http://schemas.microsoft.com/office/drawing/2014/main" id="{61DA3BCC-4B36-42BD-A889-F2DC9BA3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476625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Cause</a:t>
            </a:r>
            <a:endParaRPr sz="750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7" name="矩形 86">
            <a:extLst xmlns:a="http://schemas.openxmlformats.org/drawingml/2006/main">
              <a:ext uri="{FF2B5EF4-FFF2-40B4-BE49-F238E27FC236}">
                <a16:creationId xmlns:a16="http://schemas.microsoft.com/office/drawing/2014/main" id="{6DE265A6-8F1A-4082-9B08-9AEE4A90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6480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8" name="圆角矩形 87">
            <a:extLst xmlns:a="http://schemas.openxmlformats.org/drawingml/2006/main">
              <a:ext uri="{FF2B5EF4-FFF2-40B4-BE49-F238E27FC236}">
                <a16:creationId xmlns:a16="http://schemas.microsoft.com/office/drawing/2014/main" id="{5FCA0EB2-5963-4BCE-B7BA-DB492A73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33850"/>
            <a:ext cx="381000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89" name="矩形 88">
            <a:extLst xmlns:a="http://schemas.openxmlformats.org/drawingml/2006/main">
              <a:ext uri="{FF2B5EF4-FFF2-40B4-BE49-F238E27FC236}">
                <a16:creationId xmlns:a16="http://schemas.microsoft.com/office/drawing/2014/main" id="{7D3D0C3A-7EEF-426D-89BB-15AB4FAC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200525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DeploymentContext</a:t>
            </a:r>
            <a:endParaRPr sz="7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0" name="矩形 89">
            <a:extLst xmlns:a="http://schemas.openxmlformats.org/drawingml/2006/main">
              <a:ext uri="{FF2B5EF4-FFF2-40B4-BE49-F238E27FC236}">
                <a16:creationId xmlns:a16="http://schemas.microsoft.com/office/drawing/2014/main" id="{0D4EBC75-92CA-4FBB-90A1-762B1910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371975"/>
            <a:ext cx="3600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Open WebUI容器访问宿主机Ollama</a:t>
            </a:r>
            <a:endParaRPr sz="9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1" name="矩形 90">
            <a:extLst xmlns:a="http://schemas.openxmlformats.org/drawingml/2006/main">
              <a:ext uri="{FF2B5EF4-FFF2-40B4-BE49-F238E27FC236}">
                <a16:creationId xmlns:a16="http://schemas.microsoft.com/office/drawing/2014/main" id="{FD203D76-511E-4990-8F15-4E985998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81550"/>
            <a:ext cx="582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Service × 2　Endpoint　Package　Platform　VersionConstraint</a:t>
            </a:r>
            <a:endParaRPr sz="9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2" name="圆角矩形 91">
            <a:extLst xmlns:a="http://schemas.openxmlformats.org/drawingml/2006/main">
              <a:ext uri="{FF2B5EF4-FFF2-40B4-BE49-F238E27FC236}">
                <a16:creationId xmlns:a16="http://schemas.microsoft.com/office/drawing/2014/main" id="{A3D7A400-56DD-496B-95FC-EA841F16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086350"/>
            <a:ext cx="14478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93" name="矩形 92">
            <a:extLst xmlns:a="http://schemas.openxmlformats.org/drawingml/2006/main">
              <a:ext uri="{FF2B5EF4-FFF2-40B4-BE49-F238E27FC236}">
                <a16:creationId xmlns:a16="http://schemas.microsoft.com/office/drawing/2014/main" id="{C4827693-3A60-47AA-A0CF-06BDECF3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15302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DiagnosticCheck</a:t>
            </a:r>
            <a:endParaRPr sz="7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4" name="矩形 93">
            <a:extLst xmlns:a="http://schemas.openxmlformats.org/drawingml/2006/main">
              <a:ext uri="{FF2B5EF4-FFF2-40B4-BE49-F238E27FC236}">
                <a16:creationId xmlns:a16="http://schemas.microsoft.com/office/drawing/2014/main" id="{D6AD1FA7-CE70-42A9-A8BA-7A9D544C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3244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容器访问 /api/tags</a:t>
            </a:r>
            <a:endParaRPr sz="8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5" name="圆角矩形 94">
            <a:extLst xmlns:a="http://schemas.openxmlformats.org/drawingml/2006/main">
              <a:ext uri="{FF2B5EF4-FFF2-40B4-BE49-F238E27FC236}">
                <a16:creationId xmlns:a16="http://schemas.microsoft.com/office/drawing/2014/main" id="{5B39C6F7-CE99-4851-8AE5-700FDBFD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086350"/>
            <a:ext cx="13525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96" name="矩形 95">
            <a:extLst xmlns:a="http://schemas.openxmlformats.org/drawingml/2006/main">
              <a:ext uri="{FF2B5EF4-FFF2-40B4-BE49-F238E27FC236}">
                <a16:creationId xmlns:a16="http://schemas.microsoft.com/office/drawing/2014/main" id="{2ACC02C3-8555-474F-9770-7CF8B7E9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51530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RepairAction</a:t>
            </a:r>
            <a:endParaRPr sz="7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7" name="矩形 96">
            <a:extLst xmlns:a="http://schemas.openxmlformats.org/drawingml/2006/main">
              <a:ext uri="{FF2B5EF4-FFF2-40B4-BE49-F238E27FC236}">
                <a16:creationId xmlns:a16="http://schemas.microsoft.com/office/drawing/2014/main" id="{BAEA6429-C5F5-4E5C-ABE0-15BEC395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53244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0515" lnSpcReduction="2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配置 OLLAMA_BASE_URL</a:t>
            </a:r>
            <a:endParaRPr sz="7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8" name="圆角矩形 97">
            <a:extLst xmlns:a="http://schemas.openxmlformats.org/drawingml/2006/main">
              <a:ext uri="{FF2B5EF4-FFF2-40B4-BE49-F238E27FC236}">
                <a16:creationId xmlns:a16="http://schemas.microsoft.com/office/drawing/2014/main" id="{3C971823-DCD3-4C3D-99C5-47441B21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86350"/>
            <a:ext cx="13525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99" name="矩形 98">
            <a:extLst xmlns:a="http://schemas.openxmlformats.org/drawingml/2006/main">
              <a:ext uri="{FF2B5EF4-FFF2-40B4-BE49-F238E27FC236}">
                <a16:creationId xmlns:a16="http://schemas.microsoft.com/office/drawing/2014/main" id="{A8F3A62C-B61F-45B9-BB85-0EC35761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1530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Risk</a:t>
            </a:r>
            <a:endParaRPr sz="7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0" name="矩形 99">
            <a:extLst xmlns:a="http://schemas.openxmlformats.org/drawingml/2006/main">
              <a:ext uri="{FF2B5EF4-FFF2-40B4-BE49-F238E27FC236}">
                <a16:creationId xmlns:a16="http://schemas.microsoft.com/office/drawing/2014/main" id="{DDB96023-A226-4A66-8C29-88AFF289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3244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修改前保留原值</a:t>
            </a:r>
            <a:endParaRPr sz="8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1" name="圆角矩形 100">
            <a:extLst xmlns:a="http://schemas.openxmlformats.org/drawingml/2006/main">
              <a:ext uri="{FF2B5EF4-FFF2-40B4-BE49-F238E27FC236}">
                <a16:creationId xmlns:a16="http://schemas.microsoft.com/office/drawing/2014/main" id="{F0C57174-417B-44D8-9CC1-E5F25140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086350"/>
            <a:ext cx="14287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91A1B4"/>
            </a:solidFill>
            <a:prstDash val="solid"/>
          </a:ln>
        </p:spPr>
      </p:sp>
      <p:sp>
        <p:nvSpPr>
          <p:cNvPr id="102" name="矩形 101">
            <a:extLst xmlns:a="http://schemas.openxmlformats.org/drawingml/2006/main">
              <a:ext uri="{FF2B5EF4-FFF2-40B4-BE49-F238E27FC236}">
                <a16:creationId xmlns:a16="http://schemas.microsoft.com/office/drawing/2014/main" id="{2CC0C803-81BB-4626-BB11-CC54AE61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153025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rPr>
              <a:t>DocumentSource</a:t>
            </a:r>
            <a:endParaRPr sz="750" b="1">
              <a:solidFill>
                <a:srgbClr val="91A1B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3" name="矩形 102">
            <a:extLst xmlns:a="http://schemas.openxmlformats.org/drawingml/2006/main">
              <a:ext uri="{FF2B5EF4-FFF2-40B4-BE49-F238E27FC236}">
                <a16:creationId xmlns:a16="http://schemas.microsoft.com/office/drawing/2014/main" id="{809900C9-8374-4F94-8ABE-12C92C7B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324475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官方文档</a:t>
            </a:r>
            <a:endParaRPr sz="8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4" name="矩形 103">
            <a:extLst xmlns:a="http://schemas.openxmlformats.org/drawingml/2006/main">
              <a:ext uri="{FF2B5EF4-FFF2-40B4-BE49-F238E27FC236}">
                <a16:creationId xmlns:a16="http://schemas.microsoft.com/office/drawing/2014/main" id="{DF377313-A6EA-40B6-AC6A-2DDC260B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最终原因确定后，图谱沿部署环境展开检查、修复、风险和来源；大模型只负责整理表达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7091903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D1161437-9782-43B1-A54C-263D50E3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9727085-F7EE-4FED-A5BB-CBF37634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备用：主动询问如何完成一次概率更新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CC5E94C-2361-40C3-8045-359DB770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10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C6CDC87D-4640-40C3-A025-C33FBDCC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A5F0302E-F275-40F8-8DF2-50B86B9D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答辩追问备用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3C59808-CFAA-4364-920F-047D2DFA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4859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从选择问题到停止诊断，共有三个计算环节</a:t>
            </a:r>
            <a:endParaRPr sz="15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C9BC830-74C4-4D88-9561-C753F07D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1  选择最有价值的问题</a:t>
            </a:r>
            <a:endParaRPr sz="14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97362F83-A96B-4471-BBEA-6CC95934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4953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8545A7A-A5A3-43E0-8B05-6F290935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IG(q) = H(C) − 𝔼[H(C｜answer)]</a:t>
            </a:r>
            <a:endParaRPr sz="17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1F70F10-5C64-44B8-A512-F0E96162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445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候选原因越混乱，熵越大；问题使期望熵下降得越多，信息增益越高。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30E797-1A94-42A4-B027-F5DB0072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2  用户回答后更新原因概率</a:t>
            </a:r>
            <a:endParaRPr sz="142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46619F0F-E458-49CC-861F-8DF028FF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4953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2CAF642-FDA9-444C-94E5-812A6521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P(Cᵢ｜o) = P(o｜Cᵢ)P(Cᵢ) ÷ ΣⱼP(o｜Cⱼ)P(Cⱼ)</a:t>
            </a:r>
            <a:endParaRPr sz="15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A15CC1D-B200-4F1F-A52D-B0F79859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0065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465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图谱中的 OBSERVATION_SUPPORTS 边保存 P(o｜Cᵢ)，回答进入后完成贝叶斯归一化。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4DAD576-7746-4E4F-B349-5B8EAA37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526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固定案例的一次更新</a:t>
            </a:r>
            <a:endParaRPr sz="1425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28610A2D-DE44-401E-BB03-2E74D1A9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67000"/>
            <a:ext cx="18097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2C272A8-2041-4EAF-8732-79A6DB98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33675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更新前</a:t>
            </a:r>
            <a:endParaRPr sz="7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6EB6D54-C513-4838-9B08-11CA56E1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905125"/>
            <a:ext cx="160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Top-1  56.0%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熵  1.850 bit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直接连接符 18">
            <a:extLst xmlns:a="http://schemas.openxmlformats.org/drawingml/2006/main">
              <a:ext uri="{FF2B5EF4-FFF2-40B4-BE49-F238E27FC236}">
                <a16:creationId xmlns:a16="http://schemas.microsoft.com/office/drawing/2014/main" id="{E4D9C57F-02F2-40A2-81E1-5FDC2141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765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34A4A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164A9AD-A227-4C42-8F99-951573F1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1462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回答：是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F94AEE7C-E9CF-4C60-B354-1816BFFE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67000"/>
            <a:ext cx="18097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60BC3DF7-A5F2-4183-AA95-EA44D84D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733675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更新后</a:t>
            </a:r>
            <a:endParaRPr sz="7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ABAF559E-7294-4E35-97E5-96FDD8E8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905125"/>
            <a:ext cx="160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Top-1  95.2%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熵  0.364 bit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BA7EDA35-B102-4A6D-9AA2-59F3374B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499110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1838F7AE-B2B1-4404-A2D5-9F27D796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719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3  同时满足三个条件才停止</a:t>
            </a:r>
            <a:endParaRPr sz="1425" b="1">
              <a:solidFill>
                <a:srgbClr val="9A5A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6A8CFD7A-6F30-4CA2-8F8E-11A6FCE1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672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最高概率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A299B62E-18D7-43DA-85B7-F8A2C7F6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9720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≥ 78%</a:t>
            </a:r>
            <a:endParaRPr sz="1650" b="1">
              <a:solidFill>
                <a:srgbClr val="9A5A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C983B0BE-2A99-482D-8E30-E62BE071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672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第一名领先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0003A8AE-EB53-4A1E-9148-EC6625FC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720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≥ 20%</a:t>
            </a:r>
            <a:endParaRPr sz="1650" b="1">
              <a:solidFill>
                <a:srgbClr val="9A5A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0D05EF9B-6ED2-4869-A912-3E619147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672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有效回答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8A7BB789-972C-45C8-A3AA-08659CDF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9720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≥ 2个</a:t>
            </a:r>
            <a:endParaRPr sz="1650" b="1">
              <a:solidFill>
                <a:srgbClr val="9A5A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8FB8D622-086B-490A-8A34-A760CE7C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这页不进入五分钟主讲；老师追问公式、概率更新或停止条件时再展示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4796479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C6288715-EFD6-40EA-90C6-4106525E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0D94425-70D6-416B-9B93-2E1992FD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备用：实验数据划分与指标口径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8AACC51-3611-499C-A953-FF7B2693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11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8ED3779C-7932-4E60-9BFC-42C8C455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BB98AB4B-6A29-4526-ABB3-3FBC1A38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答辩追问备用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E3372EF-EA9F-4DE8-ACB8-C32DFC44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4859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开发调优与独立验证分开，避免用同一批案例反复证明自己</a:t>
            </a:r>
            <a:endParaRPr sz="15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D4C53867-A985-45A2-8D17-EFD29A7C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57550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9FFED72-BFC2-40FB-859B-51F4875F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90775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开发集</a:t>
            </a:r>
            <a:endParaRPr sz="1350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9893AB4-C448-46ED-8887-DBE30715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28条确认根因案例</a:t>
            </a:r>
            <a:endParaRPr sz="18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79EEA2B-181B-439C-A030-AD92B707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14个原因，每个原因2条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81D4CD9-6F47-4E41-B4A6-4489D6E3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用于校准条件概率、增加区分性问题</a:t>
            </a:r>
            <a:endParaRPr sz="11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8E130FA3-398D-46A4-A50B-5EA9DF03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257550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304A81F-618A-475E-9A94-6911507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90775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首次冻结测试</a:t>
            </a:r>
            <a:endParaRPr sz="13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038E720-C108-41EC-B474-D384EB8B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003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14条未见案例</a:t>
            </a:r>
            <a:endParaRPr sz="18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BCA8291-BF81-40C9-8239-8C6CEBE6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1470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14个原因，每个原因1条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8AB436A0-C2D2-4EFB-8064-0EEE6DE2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528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模型与测试集封存后只运行一次</a:t>
            </a:r>
            <a:endParaRPr sz="11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D889B7FE-A23E-439D-901B-373A625E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57550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2A8F6528-F889-451E-AC7B-0A2435E9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90775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针对性验证</a:t>
            </a:r>
            <a:endParaRPr sz="13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4EA3EDA0-1DA0-4017-981A-7F4E8ECC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003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4条新增确认记录</a:t>
            </a:r>
            <a:endParaRPr sz="18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F2E4783-CDC7-497A-96CF-B7610162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1470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版本不兼容2条，容器地址2条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9672382-2E5F-4746-98F2-61B3EB1D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528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参数固定后验证两项优化的目标机制</a:t>
            </a:r>
            <a:endParaRPr sz="11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6FD0CD1A-3251-4AFB-BC79-2EA44229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两层评价口径</a:t>
            </a:r>
            <a:endParaRPr sz="14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42017708-D98B-4AA3-BC3F-F2E2A14B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49911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53BEEEA6-4175-4358-99F0-4070A383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端到端  n = 14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6735DF5-422D-4094-88A5-8996CEF5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35305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包括入口识别失败，反映完整系统表现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98E4B7E0-5FEC-49C9-8C5A-13BD31E2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200650"/>
            <a:ext cx="5524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D6768B02-1E52-43A6-88DF-7F3457F6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3530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选问算法  n = 9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609AEAD4-FBDA-4A95-A1BB-DE8D6FCD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959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固定顺序3.67问，信息增益3.22问；3问内成功率22.2%与44.4%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BFE3DEE5-5421-46E9-AD8B-76518CE7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开发集回答“修改是否有用”，冻结测试回答“未见案例上是否仍然成立”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0734066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040F0C-35F1-4396-9F90-9AA0ADAB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6C2"/>
          </a:solidFill>
          <a:ln xmlns:a="http://schemas.openxmlformats.org/drawingml/2006/main" w="11430">
            <a:solidFill>
              <a:srgbClr val="2166C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E906DD-97B9-4415-81F6-A8CED2B2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2A85D-3E6F-4340-8AE4-08A83F2B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备用：0.25如何由案例计算得到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A2B28-7B7A-4514-9117-A50201DA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070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07080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6A3086-F57E-475E-A54F-28427D9E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4E259C-BE93-495B-A30B-147A6C66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3525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DEBFF"/>
          </a:solidFill>
          <a:ln xmlns:a="http://schemas.openxmlformats.org/drawingml/2006/main" w="11430">
            <a:solidFill>
              <a:srgbClr val="DDEB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0FF4F7-B226-4C88-81F7-666F554B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4954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答辩追问备用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F9E493-6C3D-40E6-A4E3-90AFCAEF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438275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原始0.80是启发式值；0.25来自两条开发观察与拉普拉斯平滑。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6C8D06-6399-4754-AA58-E390E197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计算依据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5D38EE-9A2D-413A-905B-8B503F40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2383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11430">
            <a:solidFill>
              <a:srgbClr val="F04B4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137AF2-13B3-4524-9A98-3AE9485B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336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04B4B"/>
                </a:solidFill>
                <a:latin typeface="Hiragino Sans GB"/>
                <a:ea typeface="Hiragino Sans GB"/>
                <a:cs typeface="Hiragino Sans GB"/>
              </a:rPr>
              <a:t>原始图谱参数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44FF51-2C10-4C38-922B-73DFD85F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0.80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658ED6-2788-432C-9E6D-6764435C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rPr>
              <a:t>人工启发式值</a:t>
            </a:r>
          </a:p>
          <a:p xmlns:a="http://schemas.openxmlformats.org/drawingml/2006/main">
            <a:pPr algn="l">
              <a:defRPr sz="1125" b="0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rPr>
              <a:t>没有真实频率支撑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DF7A45-2B21-4540-AB41-0FECC455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57500"/>
            <a:ext cx="333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14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9809C1-F871-4F6F-A22E-ABCC814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400300"/>
            <a:ext cx="26193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C6D043-4411-44B7-B089-5803CCB0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336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开发观察  n =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9E7B17-AD79-450C-9A2B-32759E38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95600"/>
            <a:ext cx="2190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TensorFlow / Python 3.12：包不可见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13E3BE-ADAF-440F-8000-7409A8A3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162300"/>
            <a:ext cx="2190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TensorFlow / Python 3.13：包不可见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DDAEE4-EBAE-48CB-B74B-536E8F0F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4766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rPr>
              <a:t>正例数 = 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6B2BA3-56DF-4EC3-A57B-6B2F505E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57500"/>
            <a:ext cx="333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14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200ECD-1ED5-4A99-991B-5E19668D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00300"/>
            <a:ext cx="20478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2166C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62697C-8A3B-4627-BF1F-F511C0A9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33650"/>
            <a:ext cx="1666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原始观察频率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145171-33BE-4A7F-80CF-09A3A9BC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86075"/>
            <a:ext cx="1666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0 / 2 = 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47CEAB-368D-45E8-9B7C-A3B8E863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62325"/>
            <a:ext cx="1666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rPr>
              <a:t>直接取0会把小样本</a:t>
            </a:r>
          </a:p>
          <a:p xmlns:a="http://schemas.openxmlformats.org/drawingml/2006/main">
            <a:pPr algn="ctr">
              <a:defRPr sz="1050" b="0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6788A"/>
                </a:solidFill>
                <a:latin typeface="Hiragino Sans GB"/>
                <a:ea typeface="Hiragino Sans GB"/>
                <a:cs typeface="Hiragino Sans GB"/>
              </a:rPr>
              <a:t>误当成绝对规律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90DF0E-4FA5-41AF-A92D-CBF88AC8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57500"/>
            <a:ext cx="333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14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78B537-C6F9-495A-8FBB-79CB7773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400300"/>
            <a:ext cx="26574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DF9F5"/>
          </a:solidFill>
          <a:ln xmlns:a="http://schemas.openxmlformats.org/drawingml/2006/main" w="11430">
            <a:solidFill>
              <a:srgbClr val="15966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6B0796-B0D5-4FBC-B5D9-6FCECD2E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533650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rPr>
              <a:t>拉普拉斯平滑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342759-F12F-4F9B-9368-31A6FA0B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5750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(0 + 1) / (2 + 2)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656F60-90FC-43DC-9AA3-3006812D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2194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097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5966F"/>
                </a:solidFill>
                <a:latin typeface="Hiragino Sans GB"/>
                <a:ea typeface="Hiragino Sans GB"/>
                <a:cs typeface="Hiragino Sans GB"/>
              </a:rPr>
              <a:t>= 0.25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F3F2CF-6487-47DC-88FE-CA584F53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如何解释这个结果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31398A-7528-402A-B640-17E02AA4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5143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2166C2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54230F-CDEE-43C8-993A-0B29E9D9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2166C2"/>
                </a:solidFill>
                <a:latin typeface="Hiragino Sans GB"/>
                <a:ea typeface="Hiragino Sans GB"/>
                <a:cs typeface="Hiragino Sans GB"/>
              </a:rPr>
              <a:t>为什么使用平滑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2D25D5-FC87-455D-8CF9-DC6FFBD3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19675"/>
            <a:ext cx="461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两条案例不足以证明“包可见”永远不会发生。加1平滑避免零概率，让新案例仍有修正空间。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57D2B1-0C84-406F-8D84-DE9A9793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81525"/>
            <a:ext cx="55435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9DA06B-6EE3-4CFF-A250-6DF88C0D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7148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结论边界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43A515-B5B0-481B-8FA5-78C7601D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019675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0.25是小样本开发集的保守估计，用于诊断排序；它不是客观故障发生率，也不是独立测试结论。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BE6697-B59C-405A-8988-8E00809C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58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42B3A"/>
          </a:solidFill>
          <a:ln xmlns:a="http://schemas.openxmlformats.org/drawingml/2006/main" w="11430">
            <a:solidFill>
              <a:srgbClr val="142B3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94A5BE-BB09-4B68-AFAB-A43D479D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981700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开发集消融：仅修改该条件概率后，Top-1 由 89.3% 提升至 92.9%；结果只用于选择参数。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08CF14-B57F-429C-8509-8B14569D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2A2A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>
                <a:solidFill>
                  <a:srgbClr val="92A2AF"/>
                </a:solidFill>
                <a:latin typeface="Hiragino Sans GB"/>
                <a:ea typeface="Hiragino Sans GB"/>
                <a:cs typeface="Hiragino Sans GB"/>
              </a:rPr>
              <a:t>依据：docs/calibration.md；data/evaluation/calibration_results.json</a:t>
            </a:r>
          </a:p>
        </p:txBody>
      </p:sp>
    </p:spTree>
    <p:extLst>
      <p:ext uri="{BB962C8B-B14F-4D97-AF65-F5344CB8AC3E}">
        <p14:creationId xmlns:p14="http://schemas.microsoft.com/office/powerpoint/2010/main" val="5333799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2026-09-14T06:29:24.3270000Z</dcterms:created>
  <dcterms:modified xsi:type="dcterms:W3CDTF">2026-09-14T06:29:24.3270000Z</dcterms:modified>
</coreProperties>
</file>