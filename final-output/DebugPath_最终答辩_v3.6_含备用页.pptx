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914a92488743aa" /><Relationship Type="http://schemas.openxmlformats.org/officeDocument/2006/relationships/extended-properties" Target="/docProps/app.xml" Id="R7a816345b32948e9" /><Relationship Type="http://schemas.openxmlformats.org/officeDocument/2006/relationships/officeDocument" Target="/ppt/presentation.xml" Id="Rf8f762510fa540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ad9fd24dba4ae9"/>
  </p:sldMasterIdLst>
  <p:notesMasterIdLst>
    <p:notesMasterId xmlns:r="http://schemas.openxmlformats.org/officeDocument/2006/relationships" r:id="Rab73ca35af1846f6"/>
  </p:notesMasterIdLst>
  <p:sldIdLst>
    <p:sldId xmlns:r="http://schemas.openxmlformats.org/officeDocument/2006/relationships" id="256" r:id="Ra913f40b02e1443b"/>
    <p:sldId xmlns:r="http://schemas.openxmlformats.org/officeDocument/2006/relationships" id="257" r:id="R4860836ff5cb43bf"/>
    <p:sldId xmlns:r="http://schemas.openxmlformats.org/officeDocument/2006/relationships" id="258" r:id="R8e96e3c974be4afc"/>
    <p:sldId xmlns:r="http://schemas.openxmlformats.org/officeDocument/2006/relationships" id="259" r:id="R70e93edcb79b49f6"/>
    <p:sldId xmlns:r="http://schemas.openxmlformats.org/officeDocument/2006/relationships" id="260" r:id="Rf296cacd5a6e40ea"/>
    <p:sldId xmlns:r="http://schemas.openxmlformats.org/officeDocument/2006/relationships" id="261" r:id="R63ed7f5e31e24427"/>
    <p:sldId xmlns:r="http://schemas.openxmlformats.org/officeDocument/2006/relationships" id="262" r:id="R27ceba8f1c1e4077"/>
    <p:sldId xmlns:r="http://schemas.openxmlformats.org/officeDocument/2006/relationships" id="263" r:id="R1ba672dbeb0f4a27"/>
    <p:sldId xmlns:r="http://schemas.openxmlformats.org/officeDocument/2006/relationships" id="264" r:id="Rd5fc5d699ad84ea0"/>
    <p:sldId xmlns:r="http://schemas.openxmlformats.org/officeDocument/2006/relationships" id="265" r:id="R420bb6e834574de7"/>
    <p:sldId xmlns:r="http://schemas.openxmlformats.org/officeDocument/2006/relationships" id="266" r:id="R0c58039fc4804e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9d6d25a07d4109" /><Relationship Type="http://schemas.openxmlformats.org/officeDocument/2006/relationships/slideMaster" Target="/ppt/slideMasters/slideMaster1.xml" Id="R68ad9fd24dba4ae9" /><Relationship Type="http://schemas.openxmlformats.org/officeDocument/2006/relationships/notesMaster" Target="/ppt/notesMasters/notesMaster1.xml" Id="Rab73ca35af1846f6" /><Relationship Type="http://schemas.openxmlformats.org/officeDocument/2006/relationships/presProps" Target="/ppt/presProps.xml" Id="R06d02031bebd4ea1" /><Relationship Type="http://schemas.openxmlformats.org/officeDocument/2006/relationships/viewProps" Target="/ppt/viewProps.xml" Id="R0308f015ebe24886" /><Relationship Type="http://schemas.openxmlformats.org/officeDocument/2006/relationships/tableStyles" Target="/ppt/tableStyles.xml" Id="Rb58205e58bbf4b06" /><Relationship Type="http://schemas.openxmlformats.org/officeDocument/2006/relationships/slide" Target="/ppt/slides/slide1.xml" Id="Ra913f40b02e1443b" /><Relationship Type="http://schemas.openxmlformats.org/officeDocument/2006/relationships/slide" Target="/ppt/slides/slide2.xml" Id="R4860836ff5cb43bf" /><Relationship Type="http://schemas.openxmlformats.org/officeDocument/2006/relationships/slide" Target="/ppt/slides/slide3.xml" Id="R8e96e3c974be4afc" /><Relationship Type="http://schemas.openxmlformats.org/officeDocument/2006/relationships/slide" Target="/ppt/slides/slide4.xml" Id="R70e93edcb79b49f6" /><Relationship Type="http://schemas.openxmlformats.org/officeDocument/2006/relationships/slide" Target="/ppt/slides/slide5.xml" Id="Rf296cacd5a6e40ea" /><Relationship Type="http://schemas.openxmlformats.org/officeDocument/2006/relationships/slide" Target="/ppt/slides/slide6.xml" Id="R63ed7f5e31e24427" /><Relationship Type="http://schemas.openxmlformats.org/officeDocument/2006/relationships/slide" Target="/ppt/slides/slide7.xml" Id="R27ceba8f1c1e4077" /><Relationship Type="http://schemas.openxmlformats.org/officeDocument/2006/relationships/slide" Target="/ppt/slides/slide8.xml" Id="R1ba672dbeb0f4a27" /><Relationship Type="http://schemas.openxmlformats.org/officeDocument/2006/relationships/slide" Target="/ppt/slides/slide9.xml" Id="Rd5fc5d699ad84ea0" /><Relationship Type="http://schemas.openxmlformats.org/officeDocument/2006/relationships/slide" Target="/ppt/slides/slide10.xml" Id="R420bb6e834574de7" /><Relationship Type="http://schemas.openxmlformats.org/officeDocument/2006/relationships/slide" Target="/ppt/slides/slide11.xml" Id="R0c58039fc480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02b89c8639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d0a84d44e4484" /><Relationship Type="http://schemas.openxmlformats.org/officeDocument/2006/relationships/notesMaster" Target="/ppt/notesMasters/notesMaster1.xml" Id="R1812c14e3338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4153fb782546a2" /><Relationship Type="http://schemas.openxmlformats.org/officeDocument/2006/relationships/notesMaster" Target="/ppt/notesMasters/notesMaster1.xml" Id="R9517a8c15a0949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35873f91274f70" /><Relationship Type="http://schemas.openxmlformats.org/officeDocument/2006/relationships/notesMaster" Target="/ppt/notesMasters/notesMaster1.xml" Id="R462c1cddf9104a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7ebed90cf54a45" /><Relationship Type="http://schemas.openxmlformats.org/officeDocument/2006/relationships/notesMaster" Target="/ppt/notesMasters/notesMaster1.xml" Id="Rfdb25af889514e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cb44705af541c7" /><Relationship Type="http://schemas.openxmlformats.org/officeDocument/2006/relationships/notesMaster" Target="/ppt/notesMasters/notesMaster1.xml" Id="R3bbb553a768044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6daeb586dc4191" /><Relationship Type="http://schemas.openxmlformats.org/officeDocument/2006/relationships/notesMaster" Target="/ppt/notesMasters/notesMaster1.xml" Id="Rd1cc3db98f1348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bde6031e134126" /><Relationship Type="http://schemas.openxmlformats.org/officeDocument/2006/relationships/notesMaster" Target="/ppt/notesMasters/notesMaster1.xml" Id="Rc0106ae41c0447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d3784a765442c2" /><Relationship Type="http://schemas.openxmlformats.org/officeDocument/2006/relationships/notesMaster" Target="/ppt/notesMasters/notesMaster1.xml" Id="R381c96e36c4340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44b96d224b4ef9" /><Relationship Type="http://schemas.openxmlformats.org/officeDocument/2006/relationships/notesMaster" Target="/ppt/notesMasters/notesMaster1.xml" Id="R395b0761a78e4f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9287b94f904679" /><Relationship Type="http://schemas.openxmlformats.org/officeDocument/2006/relationships/notesMaster" Target="/ppt/notesMasters/notesMaster1.xml" Id="Reda74bc9834844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87d3a7ebff4979" /><Relationship Type="http://schemas.openxmlformats.org/officeDocument/2006/relationships/notesMaster" Target="/ppt/notesMasters/notesMaster1.xml" Id="Rfa7b5a5cf7ac41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三项工作。第一，图谱扩展到15类节点和27类关系，补充服务、端点和部署环境，使原因能够落到具体检查与修复。第二，使用28条确认根因案例校准条件概率并增加区分性问题，同时以置信度、领先差距和有效回答决定何时停止。第三，完成诊断轨迹回放，每轮记录问题、观察、候选概率、熵和候选子图变化。原第4项注入约束不作为最终汇报的主要工作。来源：docs/final-defense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40秒。先区分三类关系：候选边决定搜索范围，证据边形成初始排序，观察边保存条件概率。用户回答以后，系统读取P(观察结果|原因)，执行贝叶斯更新。示例中服务地址配置错误从56.0%升至95.2%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55秒。先明确第二阶段并非只增加可回答性参数。28条确认根因的开发案例暴露出两类稳定混淆。第一，将包可见条件下版本不兼容的条件概率从0.80校准为0.25；第二，增加目标主机本机检查，用于区分服务地址错误和服务停止。可回答率、检查成本和风险只作为信息增益的附加修正，目前不能声称已经独立证明其优势。来源：docs/calibration.md，data/evaluation/calibration_results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四条新增公开确认记录在两项优化固定后加入。左侧只用正确原因平均概率展示消融路径：基础版本56.5%，只校准条件概率66.3%，只增加区分性问题70.6%，两项结合80.4%。右侧解释作用差异：概率校准主要减少版本不兼容原因的概率低估；新增问题主要解决容器地址错误与相近原因的混淆。两项结合后，四条目标案例的正确原因均排到第一位。样本小且针对性选取，因此只说明目标机制得到验证，不代表总体准确率。MRR、Brier和完整口径放在备用页。结果文件：data/evaluation/targeted_validation_cases.json，data/evaluation/optimization_metrics_exploratory.json。公开记录：https://github.com/openinterpreter/openinterpreter/issues/170；https://github.com/pytorch/pytorch/issues/144757；https://github.com/OpenHands/OpenHands/issues/8318；https://github.com/browser-use/web-ui/issues/164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WebUI容器无法连接宿主机Ollama。系统先用BM25检索EvidenceChunk，再沿CHUNK_SUPPORTS_CAUSE映射候选原因，融合文本相关性与图谱先验并归一化为初始概率。第一名服务地址配置错误为56.0%，当前熵1.850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备用页。信息增益比较提问前后的候选原因熵；用户回答后，系统读取图谱条件概率并执行贝叶斯更新。停止诊断同时要求最高概率、首位领先差距和有效回答数达到阈值。示例数值来自Open WebUI连接Ollama诊断轨迹。来源：docs/algorithm-explanation.md，data/demo/open_webui_ollama_trajectory.json，src/diagnosis/engine.py。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28条确认根因案例属于开发集，已经参与参数与结构调整，因此100%不能解释为独立测试性能。14条新来源案例组成首次冻结测试集，其中5条在故障族入口失败；端到端指标使用全部14例，选问效率另外报告成功进入图谱的9例。随后补充的4条公开确认记录只针对条件概率校准和新增问题，在参数固定后运行，不代表整体准确率。来源：data/evaluation/real_case_split.json，data/evaluation/model_freeze.json，data/evaluation/frozen_test_results.json，data/evaluation/targeted_validation_cases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bc24c205c48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0e9995c2844424" /><Relationship Type="http://schemas.openxmlformats.org/officeDocument/2006/relationships/slideLayout" Target="/ppt/slideLayouts/slideLayout1.xml" Id="R5d30f2f24b3e429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30f2f24b3e42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52cdb658b4bf9" /><Relationship Type="http://schemas.openxmlformats.org/officeDocument/2006/relationships/notesSlide" Target="/ppt/notesSlides/notesSlide1.xml" Id="Rfd3f0e7673b94c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dab871af44241" /><Relationship Type="http://schemas.openxmlformats.org/officeDocument/2006/relationships/notesSlide" Target="/ppt/notesSlides/notesSlide2.xml" Id="R224f7bad158e41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d8b3cb3e845f4" /><Relationship Type="http://schemas.openxmlformats.org/officeDocument/2006/relationships/image" Target="/ppt/media/image.png" Id="R1f78abac99034007" /><Relationship Type="http://schemas.openxmlformats.org/officeDocument/2006/relationships/notesSlide" Target="/ppt/notesSlides/notesSlide3.xml" Id="R6b09cd2bedaf4b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f04442660460b" /><Relationship Type="http://schemas.openxmlformats.org/officeDocument/2006/relationships/notesSlide" Target="/ppt/notesSlides/notesSlide4.xml" Id="R4bc93ad80eb040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52185b3e54b5f" /><Relationship Type="http://schemas.openxmlformats.org/officeDocument/2006/relationships/notesSlide" Target="/ppt/notesSlides/notesSlide5.xml" Id="R44c8a02e877f45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ac485315c4fd3" /><Relationship Type="http://schemas.openxmlformats.org/officeDocument/2006/relationships/notesSlide" Target="/ppt/notesSlides/notesSlide6.xml" Id="R5b227ed747eb47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b82135a3e46ee" /><Relationship Type="http://schemas.openxmlformats.org/officeDocument/2006/relationships/image" Target="/ppt/media/image2.png" Id="R765ada3290e74dda" /><Relationship Type="http://schemas.openxmlformats.org/officeDocument/2006/relationships/notesSlide" Target="/ppt/notesSlides/notesSlide7.xml" Id="Rc9348e6e75724b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34352c7904505" /><Relationship Type="http://schemas.openxmlformats.org/officeDocument/2006/relationships/image" Target="/ppt/media/image3.png" Id="Rd345ff4095014f64" /><Relationship Type="http://schemas.openxmlformats.org/officeDocument/2006/relationships/notesSlide" Target="/ppt/notesSlides/notesSlide8.xml" Id="R87f471e94c674c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b8fa29efe497c" /><Relationship Type="http://schemas.openxmlformats.org/officeDocument/2006/relationships/image" Target="/ppt/media/image4.png" Id="R5e9668c03ee74452" /><Relationship Type="http://schemas.openxmlformats.org/officeDocument/2006/relationships/notesSlide" Target="/ppt/notesSlides/notesSlide9.xml" Id="R038a53a5d0834b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0f7e466554d0b" /><Relationship Type="http://schemas.openxmlformats.org/officeDocument/2006/relationships/notesSlide" Target="/ppt/notesSlides/notesSlide10.xml" Id="Ra3c4f8decf924e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01af7828d482b" /><Relationship Type="http://schemas.openxmlformats.org/officeDocument/2006/relationships/notesSlide" Target="/ppt/notesSlides/notesSlide11.xml" Id="R3189c9118f7c4c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52E562-9F64-4F2D-BB3E-814229E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B5B72-A7AA-4102-84C3-9DF3C7A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8ADFA7-3BFF-4A56-B6CD-A3B141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46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B709B2-7C44-426E-9E76-971E59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3370903-1620-440B-A8BA-11E3246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E04939-433A-4730-BBFA-E0E0ECC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  <a:endParaRPr sz="16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E4EF297-F949-4FA1-9661-08DD07A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40A319-812D-475B-A4DB-A91B7CE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D404E33-5762-4B3B-BFDB-70E3D4B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7AF5FD5-000E-4EAF-9AB8-76C1A8F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汇报人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41B2E9C-F304-4895-911D-B4D40BB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95553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987F0-3304-4EF7-A09C-D182F4C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DE83-BD0D-45B5-85A1-D831D49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996B-4F35-4BB3-B005-12DFA8E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611E-0B8A-4295-B4EA-42959E8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74C6-21AD-495F-9243-D44565D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1543-C93B-4A47-BB90-8B2ACA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52A9-4BC0-4818-8627-868DD39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E022-3671-43FC-9D83-F5C8517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D46E-3757-4867-9F4F-F8BFE67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FC6D-FB89-42E4-A048-77A4387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AB8C3-43A6-4A7D-8534-A8DEEBA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317F-E22A-4AF8-AF6D-2127EAF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补充服务、端点和部署环境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AEBFE-38C5-4865-AE9F-D8034AB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原因落到具体检查与修复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30E7B-3DEE-435B-A4AA-E722D7B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079E-E78C-47D6-99E2-5552D10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BDBB-783B-4DAB-B046-D2EA56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参数、选问与停止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2E0D4-8F48-4E31-94C9-53BD3A9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5858F-9766-43DA-9CB1-F365EC9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28条确认根因案例校准条件概率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9F48C-C6ED-425E-8EBF-D3DE186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3A836-F8C5-461D-A39A-7AE1262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置信度、领先差距和有效回答决定停止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B1729-08F4-4B36-9314-01D66A11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D136-0170-46D6-B91B-FAD549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4A4A"/>
          </a:solidFill>
          <a:ln xmlns:a="http://schemas.openxmlformats.org/drawingml/2006/main" w="9525">
            <a:solidFill>
              <a:srgbClr val="E34A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48A11-B7CD-477C-BC3E-809762A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A5E0-AB4B-41AE-BF86-5B8D979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AE79E-4AA4-4A00-A4B4-2BCEFCB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逐轮记录问题与观察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89639-F522-4D5D-85A9-6834173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记录候选概率和熵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603E7-18C7-4EDA-9D1F-4385FD9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展示候选子图如何变化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F9230-FE7B-4353-A048-8823DDA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D8554-B1B9-4574-BD88-CB6204B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A525B-44A4-4787-BD19-9CB9D5E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63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CB6F0-F78B-4168-AC3E-631D6FF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34075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最终汇报重点：图谱如何表达因果，真实案例如何优化参数与选问，回答如何改变候选子图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77619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1F9496B-777B-4E98-9089-DD11A98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AA4ACE-5BA5-4101-B092-566C10C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8EF45A-B41B-4CBE-861B-111D566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B1D8F3-C320-462F-98A1-1AFD064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105028B-3A62-42C1-8EC6-A24BF9E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D30A2CA-9DA7-4934-A4CD-0FA38AD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E15C056-4DD1-47C2-9248-A8EE824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6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8abac9903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58892"/>
            <a:ext cx="7762875" cy="3835566"/>
          </a:xfrm>
          <a:prstGeom xmlns:a="http://schemas.openxmlformats.org/drawingml/2006/main" prst="rect">
            <a:avLst/>
          </a:prstGeom>
        </p:spPr>
      </p:pic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6392585-A4B7-4490-BA77-6DA72D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7762875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3个故障入口：Python模块无法导入　｜　PyTorch无法使用GPU　｜　服务或配置连接失败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BF599C-70E7-4CB2-BBE1-BA4AE0C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2A2FF2-E16A-48C8-BB32-24A7E97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CF4307-61A6-4C78-AF30-5B3FB8E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EC1A10-A0BA-4E8F-A728-501ECEE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1D63567-5EF9-4DA6-8CCB-888ACD8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714F9E0-72CF-45F0-B817-35BA394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  <a:endParaRPr sz="12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EE60B1-8043-429E-B0DA-3B06A9A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E39BF89-AB88-4C3D-99AB-7307631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A126995C-FEC7-404C-81B6-D9163E2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79" name="直接箭头连接符 38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0B9C1D0-97C0-43A3-B673-4F4D288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336255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437B0FB-8AE0-4FB9-93E4-7874C36C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763256-6407-4D55-A58A-630E117D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因果关系如何驱动候选子图变化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8E9BC88-BF6A-4CB9-B222-57742B33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04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71385CE-D6A4-4B60-9F1B-1C2C8D6B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BEB6C3D-98F1-44C5-9AF9-868F855C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三类关系承担不同任务，只有观察边参与回答后的概率更新。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728AC81-A6D8-4C65-B7B6-A5F997A4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FA8B668-7074-461E-AC24-E47A3399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01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99454BC-1E9B-47A1-AF61-E1A68BB1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8D24089-2E49-4F66-A48B-FE8E6CE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定义候选集合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91FFC9E-CF6E-45B2-8CE8-AAF97528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故障可能由哪些原因造成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923107CD-8348-4D19-87D1-B3D4B35D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EC91C6-04F6-4756-930C-C836A17B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02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012877E-1DFF-4B4A-8900-BCDA810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  <a:endParaRPr sz="12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A0C2D1-8833-468F-815D-BA14F070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337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C00298A-C454-4F1F-A356-C156314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BM25证据片段映射到原因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4EAF0B18-DD3B-499A-8FE0-394DFBC0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762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7EF3BC6-4ACC-4E5D-8923-2E70950A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D15FFFF-C2D2-490B-BCB2-7D63B508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  <a:endParaRPr sz="12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7643BFF-893E-4F4E-A334-FADEDCCD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005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  <a:endParaRPr sz="12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3C09A36-4B25-4E8C-8B4F-1AD2D37D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244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 P(观察结果｜原因)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3AD53C79-C643-436D-A3C3-F4325424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B9CE870-B00F-4E1B-845C-0549E529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147A487-6DB5-4371-80DC-4F56DF0A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622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宿主机正常，容器访问失败吗？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D69CED46-C40D-432B-8886-FDC2EB35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972BBB5-B293-48EF-9278-EFF00693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433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F95D545-F92F-4A66-AFDD-9573A48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957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E85A53BB-274E-49ED-9F91-C0ACCD0C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095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926B258-FEB9-47E5-983E-59F71D7B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3752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原因概率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413A12A-6186-4C83-9CE0-FD96F839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29225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  56.0% → 95.2%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25" name="直接箭头连接符 62"/>
          <p:cNvCxnSpPr>
            <a:stCxn xmlns:a="http://schemas.openxmlformats.org/drawingml/2006/main" id="21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8620125" y="29146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126" name="直接箭头连接符 63"/>
          <p:cNvCxnSpPr>
            <a:stCxn xmlns:a="http://schemas.openxmlformats.org/drawingml/2006/main" id="2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8620125" y="42481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8BEC535-29A1-4FE8-8717-99C52E0D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957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读取条件概率</a:t>
            </a:r>
            <a:endParaRPr sz="9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0264F999-58BE-4F19-9870-E060655D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回答进入图谱后：新增 Observation  →  贝叶斯更新  →  原因重排  →  选择下一问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356606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CBE279-35E5-4FE4-9BC4-CA24E2F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80B3DFA-EC34-461C-8D1E-1438736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真实案例驱动的因果参数校准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FCE500-CAD5-49F6-A933-850BD46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D72F94A-F05F-4E3A-8901-4A79DCC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09745E-A812-428E-A303-707274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28条确认根因的开发案例用于发现稳定混淆，再修改图谱中的条件概率与诊断问题。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223C72-192B-4BE2-8324-3BF0142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案例暴露的问题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5FC1A73-BD90-4057-BEA0-5F9DD7E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29D12-CA0A-4125-B0B3-1FCD335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版本不兼容被误判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C9EE7BA-2EB3-494F-AC8B-5AC28944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原设 P（包可见｜版本不兼容）= 0.80</a:t>
            </a:r>
            <a:endParaRPr sz="127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C7C9374-8FEF-48E3-9B11-1E5AB8C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A82327-3A40-44A5-B18C-9F4D87B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地址错误与服务停止难以区分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44361E-E1AE-471B-BE4F-1B09804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原有健康检查没有表达“目标主机本机是否可达”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A293423-B55F-4511-AD26-4D2C643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F8823FC-591E-4427-852F-AB14146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167CBF9-53BE-42A7-A69D-CE08A08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案例校准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3C5054-8580-45CA-BE37-298A0F0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结构扩展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FDFE-A2D2-4A85-8A0D-6B9EC8F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图谱中的修改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80A2833-8007-4DDC-94F0-4EA859F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9CF74A2-ADEB-4E32-8F06-B901CE5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0.80</a:t>
            </a:r>
            <a:endParaRPr sz="21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C29C9B-8A35-4F3D-97C9-7D0AE94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→</a:t>
            </a:r>
            <a:endParaRPr sz="20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7A8CA1E-6D54-4260-9141-A9EBE0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</a:t>
            </a:r>
            <a:endParaRPr sz="23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40372C-6673-4D13-95BF-8C1A3AD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两条开发观察经拉普拉斯平滑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1800138-491C-4B12-AF8E-52D8D53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A79C08F-5E5F-447B-9E6C-93559B0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1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200969-57A2-40E2-9846-06477A4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目标主机本机检查是否成功？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7C180F-201A-42D8-A1B2-ED78F09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观察结果通过条件概率边重新区分地址错误、服务停止等原因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6EA84DB-5EDD-4CE8-AC70-F51CE8F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8A6D97E-7C35-4901-97B2-176A413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选问仍以信息增益为核心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794A00D-88B0-4548-9540-BC9AC6A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76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Utility(q) = IG(q) × 可回答率 − 成本惩罚 − 风险惩罚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DEC4D0A-133B-416E-A414-BD81A017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附加修正</a:t>
            </a:r>
            <a:endParaRPr sz="10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CA6FC0C-C26E-4959-ADE5-92251BF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第二阶段的主要优化：用案例纠正因果参数，并补充能够消除稳定混淆的问题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138896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8AE326A-00E8-48E1-B865-F2EA72F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FD3ED9D-BF44-46B7-B56B-B90640A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两项优化分别带来了什么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B895A7E-2E36-470E-ACBA-A95073D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41821C3-EC0E-4AEC-995C-9089268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0D6C013-D1A8-4028-8FB5-51BE9C9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条新增确认记录，依次关闭或启用两项优化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15154C-A1EA-4F98-8692-4FFECDB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正确原因的平均概率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E0C8B0-CC92-4181-9E55-C4039B9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基础版本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B4DB958-EBA1-4C2B-85A7-819A89D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3E0A5D4-BE11-482A-8A34-FEDC0D5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228180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0"/>
          </a:solidFill>
          <a:ln xmlns:a="http://schemas.openxmlformats.org/drawingml/2006/main" w="11430">
            <a:solidFill>
              <a:srgbClr val="AAB6C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2CBCCC-7C6E-42E0-ABD5-251E3B0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rPr>
              <a:t>56.5%</a:t>
            </a:r>
            <a:endParaRPr sz="1500" b="1">
              <a:solidFill>
                <a:srgbClr val="AAB6C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DC87F4-2D35-4B66-ACE7-3ECC684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增加参数校准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F872F0F-97DD-429A-8612-F8F1426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093C55E-3B58-4BC8-8C57-2BF2EE9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267759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BB5B43-3B47-402A-8A99-9E8E1CF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66.3%</a:t>
            </a:r>
            <a:endParaRPr sz="150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94F130-6EB3-4D9B-900E-ACDA5FF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B46C8E0-192A-4E4B-BF2D-3DBBF39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3221988-1825-4CC0-ACF2-22A6A3E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285125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807FF-F7AA-4842-A4C2-75D31EC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70.6%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193D33E-798E-49FE-95E2-B80E63C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两项都增加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28FD34D-3854-42E4-8CB9-1A0AC4C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7F60F48-02D9-4C50-8810-ED68347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247034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6194F90-4F35-4388-8344-7498369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80.4%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8174699A-0666-4FBD-A3EF-80F3353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067970-30D4-4864-894F-42B781B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两项优化的作用不同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9557B185-0187-469C-8AB2-AA09E74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参数校准</a:t>
            </a:r>
            <a:endParaRPr sz="10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D47758-929D-4031-9E20-E65FDE62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概率更集中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2197FD-DE76-4F5B-80B5-B9B1823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减少版本不兼容原因的概率低估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D8F48A-AC99-41B1-ADE3-D13B16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EEF5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E317784-0099-4086-871E-7AB271B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原因升至第一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82F124-F53E-4DEC-9F51-781EDD8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解决容器地址与相近原因的混淆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E3349DA-65E7-4F99-BC04-8DE8086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AD94784-C927-4F2E-B4E0-34C0842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两项结合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9461491-F2C2-4619-BBD6-1B97E5F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个目标案例的正确原因排在第一位</a:t>
            </a:r>
            <a:endParaRPr sz="15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CC44ED-BEB6-48FB-9BD2-624CA56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53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小规模机制验证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32E2167-7B19-4558-AEC5-1EE4C2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主讲只说明作用差异；MRR、Brier和数据划分保留在备用页回答追问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40889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矩形 133">
            <a:extLst xmlns:a="http://schemas.openxmlformats.org/drawingml/2006/main">
              <a:ext uri="{FF2B5EF4-FFF2-40B4-BE49-F238E27FC236}">
                <a16:creationId xmlns:a16="http://schemas.microsoft.com/office/drawing/2014/main" id="{6D4DF106-887F-4298-B3AE-1BE94AB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2F4216-F0AA-45B0-88A0-9BB02A8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</a:t>
            </a:r>
            <a:r>
              <a:t>Open WebUI容器</a:t>
            </a:r>
            <a:r>
              <a:t>无法</a:t>
            </a:r>
            <a:r>
              <a:t>访问宿主机Ollama</a:t>
            </a:r>
            <a:endParaRPr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FF9C67-AAB1-4B23-8594-D756BB7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B8DFAF5-E0E0-4267-A143-605983E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E84DF6-ED30-45B0-9E02-13B0091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B3AB2B-1AFD-40A8-A258-384360C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  <a:endParaRPr sz="13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FA89DBF-FBB5-4F79-831C-AE2D63D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452A5E4-D882-45B5-881C-08F8E8E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9FC1C71-CFCC-4A56-9F8F-3F7E950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EF7F9F-214B-44A5-A566-533C477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AB1DDBC-C5F2-4018-A634-18C6E5E6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C9B46-54F3-4D7D-AD9C-01FC75E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2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E01677-116E-4CF6-A6EB-F077ACA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2CF3898-A973-4FFC-9051-B7ABD21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2812AC7-C810-4BF5-BACB-2AD38C1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972A912-5F61-409B-BF18-2BBD222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15B012-1243-4118-8D15-794D55C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06C3529-3257-4A1F-8780-DEEC8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56AB2360-30BF-4309-93AA-12DC698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E55826-9B12-40BF-976A-3FC689E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5F3050-BB5A-4A1B-8FCD-9BDD6F9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35BD41C-7766-4504-9059-FE4FEF0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BCFB6757-34CE-4046-A6DD-625748A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EB7A391-1D48-479B-A4B8-8A48169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AD41ECC-3310-4C97-823D-70F153E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E24C7353-5789-490D-95E6-5ADE956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E10D71F-F00C-4BD1-951F-52BE807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6477756-67F5-43A4-8FE9-384C9F3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C52EF42-34DC-49B5-B0BB-1D3E467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2665F84E-424C-4909-8676-8455923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584C0C3C-3A26-4B54-9C63-96769A1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D0DEC4E-96C6-484C-B18F-14EC8A6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4087AB6-C344-465D-AB75-952E09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A6B7F1FF-D3DD-4916-927B-B7E8950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102756E1-7DD2-4103-9543-9D43B4C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083341B-1F13-444F-85F7-AD8B598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FA2958F-D8A4-40BF-B3F4-329C76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78EAC85-FD8F-41BC-B54E-9F1EA25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C05C31-4C61-4FF6-9241-C107A5C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2485568-FDC1-4F6E-91F1-D09F1FA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B9BB5E6-E83A-48F6-A31D-51088B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8331608-5A2B-4ED2-8DD4-27DD94B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50CD42C0-15D5-4D76-A405-8B07B72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98AAEC-BF84-4C18-AD7E-44EB39C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C5EAFA0-4078-4C66-B694-C537F49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184AB92-BEE9-4AB8-BBC9-B533812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1B85AD8-FBE2-452F-B6E0-EC037EC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788ACC2-3BAB-41A6-8B61-8411D0D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2C09259-9F70-4E9B-99C8-E94E69D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86A643C6-E6A9-4CAD-A5D8-1904001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876FAD3-B464-494B-8853-1E121CB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B4EEA623-6D22-4448-AC76-F56B8DC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E7A2BBC-73C1-4BBC-92B9-7E95AA6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1E2753C-743F-4452-B358-0CCB37F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7823672-6B4A-40BE-AA75-404C3B7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795E65F-8CF9-4F05-BCB7-70F059D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D3EF80E-CC2D-4EB8-9261-4A42B50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EE62245-C41F-435B-80A3-1DE692F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FE50D64-C76B-43E2-ABC6-D372ACD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F95469E-5860-4A04-AE44-75CF811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52EFD8A1-BF3B-4BC1-82CD-2EEB6E9B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  <a:endParaRPr sz="15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7C2231E-4A04-4503-9CEB-67F6FE7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49273580-5DCD-449C-B90D-B092DB0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1F3BDD36-A656-4D64-BD7C-6EEA12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00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5ada3290e74d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AA053CA7-643A-482C-9312-0CF8B2E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362D3D0D-97CF-43D3-A772-441A4703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8711D5A-7CD0-4288-8D0F-D4841BF7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6FE5E35E-0E17-4C86-BD36-CFB8EAB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50615BD-E64F-4646-A1D2-8ACFE3E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01B024A-1671-4151-B103-2D60975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1578E32-5991-491F-B82E-73CB635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7171A0D-8A02-4FC6-BC8E-EB9E988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9B98EF84-C47E-4A60-9B41-394BD9E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995876D-427C-4D8C-909C-3F5C977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954F0BBD-13FF-45AF-AC44-A891B0F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8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A507A80-7EE7-4FD3-8174-D10D604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225625C-1B5C-447C-8F51-E0EDB66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AE560F94-6DD4-43B5-87D5-2D9CB55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9F62A5D-A4CA-4630-9B68-5780FDF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  <a:endParaRPr sz="18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15CE350C-6D53-4A27-808E-833B8FD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88C13DFC-FD7D-4FBB-88A6-22C1F2E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7B9D574C-6A95-470F-97F9-98FDC58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E08AABA5-1CFB-44A6-94E3-A0F50AA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E68FA0D7-D8D3-48E4-BCEB-CE22CE9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C94E639-773D-47E8-9AD9-3113930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BM25检索证据  →  映射候选原因  →  融合图谱先验  →  归一化为初始概率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48C250B4-B34C-4DD1-AF8B-E1BF097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7A693F61-93AA-4B41-92C1-2D487ED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9" name="圆角矩形 88">
            <a:extLst xmlns:a="http://schemas.openxmlformats.org/drawingml/2006/main">
              <a:ext uri="{FF2B5EF4-FFF2-40B4-BE49-F238E27FC236}">
                <a16:creationId xmlns:a16="http://schemas.microsoft.com/office/drawing/2014/main" id="{41526275-FEF7-4693-90A3-3C20640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初始检索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95D8B881-556C-4298-9ABF-2FD6203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圆角矩形 90">
            <a:extLst xmlns:a="http://schemas.openxmlformats.org/drawingml/2006/main">
              <a:ext uri="{FF2B5EF4-FFF2-40B4-BE49-F238E27FC236}">
                <a16:creationId xmlns:a16="http://schemas.microsoft.com/office/drawing/2014/main" id="{DA9235C1-F06F-44F8-871F-C49DEE0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B298601C-046A-40FC-AA2D-BB21ABC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828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7811ABD-8EF9-47BA-B6BB-A8A311A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854E5E35-5DEC-479D-A058-55822E9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C9FE7A45-B71D-4463-A594-A1A3339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6" name="圆角矩形 95">
            <a:extLst xmlns:a="http://schemas.openxmlformats.org/drawingml/2006/main">
              <a:ext uri="{FF2B5EF4-FFF2-40B4-BE49-F238E27FC236}">
                <a16:creationId xmlns:a16="http://schemas.microsoft.com/office/drawing/2014/main" id="{5E5F61DA-D4D6-4134-AF41-BDFB15A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77992EA2-F4D5-49A8-BB01-A135EF3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267F262-62AB-4A18-8621-621AE24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98C16D2D-6B6E-4183-9F53-1162AF1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DC0D5C0A-783B-497D-A254-2CF5D6B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4E0FCCC6-E2E5-46BA-8B2A-29452D5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00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D3461D14-9AB9-473C-84E1-38F86FA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圆角矩形 102">
            <a:extLst xmlns:a="http://schemas.openxmlformats.org/drawingml/2006/main">
              <a:ext uri="{FF2B5EF4-FFF2-40B4-BE49-F238E27FC236}">
                <a16:creationId xmlns:a16="http://schemas.microsoft.com/office/drawing/2014/main" id="{9528F2AC-42A1-49DB-91CA-0BB89F3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306695A1-0FA6-490F-BDB7-C0868E2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1EA4635F-DA0A-45A0-B5D5-9A1B9E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95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76C0A2B4-5438-43B5-990E-CA12C96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1C5D80BB-6BB6-4C97-B698-8E55710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8" name="圆角矩形 107">
            <a:extLst xmlns:a="http://schemas.openxmlformats.org/drawingml/2006/main">
              <a:ext uri="{FF2B5EF4-FFF2-40B4-BE49-F238E27FC236}">
                <a16:creationId xmlns:a16="http://schemas.microsoft.com/office/drawing/2014/main" id="{B50C74CC-A432-4463-BEBB-050A94A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354B35CB-E6F7-451D-A5B3-7E82B23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91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E1FFFBFE-1A53-48C8-829D-0C79241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4A3748AC-E988-45E7-8375-26BC777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2" name="圆角矩形 111">
            <a:extLst xmlns:a="http://schemas.openxmlformats.org/drawingml/2006/main">
              <a:ext uri="{FF2B5EF4-FFF2-40B4-BE49-F238E27FC236}">
                <a16:creationId xmlns:a16="http://schemas.microsoft.com/office/drawing/2014/main" id="{7698CD25-5A60-43DF-8573-2EF0252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4F328EB4-DB8D-4D65-ADF0-0EF43B7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当前候选子图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4" name="矩形 113">
            <a:extLst xmlns:a="http://schemas.openxmlformats.org/drawingml/2006/main">
              <a:ext uri="{FF2B5EF4-FFF2-40B4-BE49-F238E27FC236}">
                <a16:creationId xmlns:a16="http://schemas.microsoft.com/office/drawing/2014/main" id="{7F727BD4-DFDD-409F-A59E-9CD21ED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蓝：故障　灰：证据　黄：原因　紫：问题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5" name="直接连接符 114">
            <a:extLst xmlns:a="http://schemas.openxmlformats.org/drawingml/2006/main">
              <a:ext uri="{FF2B5EF4-FFF2-40B4-BE49-F238E27FC236}">
                <a16:creationId xmlns:a16="http://schemas.microsoft.com/office/drawing/2014/main" id="{451E912A-6D3C-4016-96BF-F2E885E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6" name="直接连接符 115">
            <a:extLst xmlns:a="http://schemas.openxmlformats.org/drawingml/2006/main">
              <a:ext uri="{FF2B5EF4-FFF2-40B4-BE49-F238E27FC236}">
                <a16:creationId xmlns:a16="http://schemas.microsoft.com/office/drawing/2014/main" id="{1F43F86B-AC18-4E26-8ECC-2973294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7" name="直接连接符 116">
            <a:extLst xmlns:a="http://schemas.openxmlformats.org/drawingml/2006/main">
              <a:ext uri="{FF2B5EF4-FFF2-40B4-BE49-F238E27FC236}">
                <a16:creationId xmlns:a16="http://schemas.microsoft.com/office/drawing/2014/main" id="{F0E040D6-F363-4F9D-BB6D-2983B51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118" name="圆角矩形 117">
            <a:extLst xmlns:a="http://schemas.openxmlformats.org/drawingml/2006/main">
              <a:ext uri="{FF2B5EF4-FFF2-40B4-BE49-F238E27FC236}">
                <a16:creationId xmlns:a16="http://schemas.microsoft.com/office/drawing/2014/main" id="{0B7B9A75-9FDF-445C-B9AF-1418A36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895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33E1CBDA-6F80-460A-9F95-31094E5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43175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FC335921-3619-4F39-A6FF-1CF8279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14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1" name="圆角矩形 120">
            <a:extLst xmlns:a="http://schemas.openxmlformats.org/drawingml/2006/main">
              <a:ext uri="{FF2B5EF4-FFF2-40B4-BE49-F238E27FC236}">
                <a16:creationId xmlns:a16="http://schemas.microsoft.com/office/drawing/2014/main" id="{4580AA83-3C10-4F90-A13C-F06E872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4267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2" name="矩形 121">
            <a:extLst xmlns:a="http://schemas.openxmlformats.org/drawingml/2006/main">
              <a:ext uri="{FF2B5EF4-FFF2-40B4-BE49-F238E27FC236}">
                <a16:creationId xmlns:a16="http://schemas.microsoft.com/office/drawing/2014/main" id="{414AD13E-1A87-4F5D-B191-5E8EE99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8612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EvidenceChunk × 3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529A9909-4A65-4665-9B17-5F15BF1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57575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Docker容器、Open WebUI、Ollama端点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4" name="圆角矩形 123">
            <a:extLst xmlns:a="http://schemas.openxmlformats.org/drawingml/2006/main">
              <a:ext uri="{FF2B5EF4-FFF2-40B4-BE49-F238E27FC236}">
                <a16:creationId xmlns:a16="http://schemas.microsoft.com/office/drawing/2014/main" id="{ECD0A177-12F7-4226-A9EE-97D2702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162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5" name="矩形 124">
            <a:extLst xmlns:a="http://schemas.openxmlformats.org/drawingml/2006/main">
              <a:ext uri="{FF2B5EF4-FFF2-40B4-BE49-F238E27FC236}">
                <a16:creationId xmlns:a16="http://schemas.microsoft.com/office/drawing/2014/main" id="{F9EB55B7-D064-4A60-8A88-A5383D3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6" name="矩形 125">
            <a:extLst xmlns:a="http://schemas.openxmlformats.org/drawingml/2006/main">
              <a:ext uri="{FF2B5EF4-FFF2-40B4-BE49-F238E27FC236}">
                <a16:creationId xmlns:a16="http://schemas.microsoft.com/office/drawing/2014/main" id="{768968A5-E153-46E9-A932-A7F6AB51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56.0%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7" name="圆角矩形 126">
            <a:extLst xmlns:a="http://schemas.openxmlformats.org/drawingml/2006/main">
              <a:ext uri="{FF2B5EF4-FFF2-40B4-BE49-F238E27FC236}">
                <a16:creationId xmlns:a16="http://schemas.microsoft.com/office/drawing/2014/main" id="{E1995AD2-AB7A-4ABB-9435-7D0BCC8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906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8" name="矩形 127">
            <a:extLst xmlns:a="http://schemas.openxmlformats.org/drawingml/2006/main">
              <a:ext uri="{FF2B5EF4-FFF2-40B4-BE49-F238E27FC236}">
                <a16:creationId xmlns:a16="http://schemas.microsoft.com/office/drawing/2014/main" id="{08D63017-9B64-412C-89FA-5162E91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其他 Cause × 4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EB786ED9-084A-4043-BA39-54C8582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38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环境变量、服务、端口、认证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D776A1AD-89C8-462C-A217-D3F269A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771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D0CE27CD-7189-48C1-B0E1-5F6C3C4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48225"/>
            <a:ext cx="3562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 · IG 0.733 bit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FC2FDFE0-BC1B-4DA6-91B0-0574A01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9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3" name="矩形 132">
            <a:extLst xmlns:a="http://schemas.openxmlformats.org/drawingml/2006/main">
              <a:ext uri="{FF2B5EF4-FFF2-40B4-BE49-F238E27FC236}">
                <a16:creationId xmlns:a16="http://schemas.microsoft.com/office/drawing/2014/main" id="{846B9B2A-EC9F-42B3-BCF2-E3174F8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左侧看概率分布，右侧看本轮实际参与推理的节点；两部分在每轮同步变化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17658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BDED942-156F-41E5-BC47-A1A8AA5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156F67A-9622-41F5-9A2E-6BE05B3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236D8C-3627-495C-8E3D-75E96C5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9EF7804-6073-4643-8BB4-332BFCA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D142961-225D-46A7-9E5D-ED0FEFB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EB2160-24EE-42E2-8216-DE7AB7E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09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5ff4095014f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477DDBF-E2D7-4785-A747-A97A7AA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8FE62E-952F-4D81-9AC3-F1E03CD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D08AFF0-B7AF-40FB-BDF8-862A8D8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13" name="直接箭头连接符 8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4323B3-817E-40D0-95C3-2E76B70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C60746-B57F-4167-95A7-CAACEDA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3F64A07-010B-4D4F-A503-C894442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A680ED1-7150-49D4-9FF7-C3D837E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轮：新增观察，重新计算概率</a:t>
            </a:r>
            <a:endParaRPr sz="15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D78F20E-9516-41CA-A667-D853B66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C060DA-C14B-45BD-8953-9059083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CEBAF5F9-004B-425D-A1CC-CB60B53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回答后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597D321-006C-43CB-8D95-6D0E060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本轮回答：是（宿主机成功、容器失败）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26B77C-3FFC-400F-969B-61A0F36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1E5B745-A863-456F-A33C-FD4194C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B8ECEA3-CBD0-47A6-B8A6-3B710A5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2084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6C99FD4-E87B-4406-81C7-D7EB4F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7E81B3-40B0-4056-9F77-C580194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BB03F61-BE70-48AC-A043-3BF18AF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B5BE31F0-26E4-4461-9669-4A746F5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031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A3DF44-16E0-4299-A036-EB810FD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A8C59B-729A-4F20-9FFC-4B92437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3B64BAC-9B5B-47AD-8E18-E4B317D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3B774DE-4320-466F-B8D7-9D2FF29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BE95E75-B884-4090-B895-BE45F11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90199B1-B22D-4A15-AE83-8DC3E84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644BE2F0-40BB-419D-ABE6-94A2620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F893EB1-9B03-4825-B35C-75FF79B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029CE54-BD5C-432D-A2EB-EADD37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21A2906-1C4C-4973-90F1-2EFECCF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0A98BA9A-2911-499F-9C56-77C3FD7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BB77E0C-BC6F-46C4-9813-6F74E1D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AE3FC72-D162-4B6F-A5C5-9E89B82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6E646C4-295B-4126-AC89-AE82230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2B07104-DFC5-4388-9CA7-91894E5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0.364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E6D3D3C-19A7-491E-94A6-8F7A661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29B58F7-4F18-45A8-A4B3-9B80DC3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回答后的候选子图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0B6C61C-B729-427C-9E86-D846504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红：本轮新增与更新　绿：环境上下文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DDD64FB8-39BD-41E9-AC22-5BC37FB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C0F7B6FD-63A1-4A7D-8A47-179A249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E90D8318-3BDC-4404-942F-0EBE39D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0074D4E4-AD42-4309-9E19-73EF25D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95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7F01680-9B39-4545-B06A-6FFCB871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4BA82F8-E3C2-41A5-BA25-7A0326C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95575"/>
            <a:ext cx="348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63695B53-3A25-42C6-BDC1-BCD8016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8B5277F-2461-4D23-86C7-4E4307B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718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1A88151-504C-4530-A73B-55ABCD7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432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5C8188C-8041-4734-958D-6E9747F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20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14D1A84-0BCE-4600-AA37-F7DDB55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76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562F7AC-EA8C-49C9-9A47-75001D0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95.2%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C9FB5A70-393E-4858-8549-3FBDB1E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076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4FD08EFC-CE9D-4F4C-80F3-60EADD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815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1FEC282C-1DCA-4E8F-812D-7D9100C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 容器访问宿主机 Ollama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7BFA4C22-DE34-4DE4-8293-7C57832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94AAEEE-BAC3-41C3-BBFC-B199675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244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554E137-667B-463D-8634-EE0301D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85945E5D-A1BE-4819-897A-8754E95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BDBC03E-5C94-4BF0-9FF7-5DBE453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6347C53-9CF6-44C1-8FD7-BDA4B45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57C76863-FFB8-44E4-9C70-AB296D7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2203C10-7D95-422E-962E-845C97C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Endpoint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593A34EC-6AA5-4AF8-8057-FA8E607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/api/tags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7108B924-2E51-4AD8-AE0B-D06CEF5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1600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BE4CD75-6A74-4A9D-8912-31B499C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24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C8CB4EA-D2DD-44E4-B6C5-07D9567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959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环境变量是否缺失？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FFD3AEB-AAEC-4113-9C34-8C8D57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4C6B649C-8039-4389-8040-220B4C0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24927F66-17DA-4123-BC74-91F0BD6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C304221-7A3F-48C5-9264-D389C0B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6" name="直接连接符 75">
            <a:extLst xmlns:a="http://schemas.openxmlformats.org/drawingml/2006/main">
              <a:ext uri="{FF2B5EF4-FFF2-40B4-BE49-F238E27FC236}">
                <a16:creationId xmlns:a16="http://schemas.microsoft.com/office/drawing/2014/main" id="{926CA257-331F-4C17-A701-4138C079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816ECBC7-906B-44F4-A8A8-471A93C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61C9"/>
            </a:solidFill>
            <a:prstDash val="solid"/>
          </a:ln>
        </p:spPr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768E74A2-D553-4606-A7B9-2B66FB4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用户回答进入图谱后，Top-1 从 56.0% 升至 95.2%，系统据此选择下一问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79241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A30D06DC-F7B2-4A84-A534-817861A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48761A2-CB52-459F-A7F2-FA40650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8C32C1-ED28-4E2A-B40A-7752986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7B34429-4BBA-4F21-A1E0-EB6AFF2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5417D4-6CDC-409B-8BBF-A333E94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64" name="图片 1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9668c03ee744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C8BB953-3D2A-48D8-88C1-5DB155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88B8C87-AFAF-4A87-AC28-179CA13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26FA6A-EDA6-4FA5-9460-24E36D35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72B2FC-1DC0-41DF-99B2-9052AED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09863FE-4EE0-4A67-B859-D1DDCF5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AB38D2-47F6-4A19-90B5-D8D1611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  <a:endParaRPr sz="9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9B86FD-CE7D-49BD-82F6-E8C9A68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2EFEEBD-F578-400F-8332-78D4AD5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191217-1164-419A-865D-8F12BE7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C41C409-955A-4C2C-A771-96B8CAD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AFFAA57-5655-4915-B431-1B09A9A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ED033B-B15F-4292-B023-2507940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endParaRPr sz="9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8441062-BCB7-4C3B-A614-1E0F3B8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5912CE5-FB24-4023-93D6-85D29A6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48C84A4-B8E1-4014-BD32-A62528D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C16101-F9AE-4287-A41E-92C2936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81" name="直接箭头连接符 12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182" name="直接箭头连接符 1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183" name="直接箭头连接符 12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184" name="直接箭头连接符 12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9F125A4-93E2-4CA7-A471-7A86D4E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  <a:endParaRPr sz="12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E972622-4A9C-4AA7-855D-9585C8C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BA7646C9-E677-495D-8CB3-D763C12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B71120C-3D06-4E51-96AA-1FB5AD9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 2 轮：满足停止条件，展开执行路径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D3531C3-E317-47A2-BE9A-8FC541C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72D813B-DE59-4671-9AF4-838B8B8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7B550190-1724-4EA0-8008-FC083A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已停止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D7A1D3-C632-4D2A-8684-5088F7E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本轮回答：否（环境变量存在）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BACE233-EA1A-4EF7-B614-44082CF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DDF1B368-0A0E-4EB1-8777-2DADE5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30E87B9-D5D4-44AA-ACF9-E5CA03C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6586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754D582-C188-48BB-ADFF-7439197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96.9%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BCE1FAA-D4CA-45CC-86BA-42059E0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081FC1F-F586-4640-9F85-8A8593A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7073678-5433-4FE3-8332-125A885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E65A229-608C-4FF9-A70F-1B50FCB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1.6%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611A7B1-9B78-41E4-AB66-D9E95C80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060994EA-6CCF-450D-A158-64853F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52E7023-2A2E-48FB-8F02-82C0274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7418DACB-E3B1-494F-9BA6-A4F8574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2D460CE-8B39-4E6D-9C04-DC702E3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E42F79-B9A7-42A1-A9E1-3177CA8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F612E6EB-D133-4E8D-9F00-5E8EFBD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1CE71C-6A7E-4A83-9CA2-781B88AE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7ABDDE3-ED01-4DA5-9AD0-314D060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5F75A883-109A-4418-8D77-192B91A5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50E41A48-F269-4383-A20B-7198310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FC4B4677-D88A-4BF8-AF05-EE70208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0.1%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8DBFAD1D-F6F5-4E83-A703-E452293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91D9F925-D752-4108-965E-1EE07E6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3E6DBDD2-1A59-4769-A7C8-E1667E2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03BD002-9D5F-46D4-949F-C3FF6D6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最终候选子图与方案链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387F7071-B43E-4DE5-A83B-4227D7B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最高概率大于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78%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52FC8D67-2084-4F34-AC40-B5C8146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领先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第二名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50%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2DC524B-4A5C-452B-A913-04E8D52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回答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至少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2次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直接连接符 61">
            <a:extLst xmlns:a="http://schemas.openxmlformats.org/drawingml/2006/main">
              <a:ext uri="{FF2B5EF4-FFF2-40B4-BE49-F238E27FC236}">
                <a16:creationId xmlns:a16="http://schemas.microsoft.com/office/drawing/2014/main" id="{FFDB831A-5CF3-40B0-9F0A-167DE9D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41D6289-0D01-4061-84A2-2D24E61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E0D6CEE-208B-43A6-A309-FC131B6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93E3314-FF2F-4386-B144-5D5E851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85E46873-18DA-4023-B83B-EE89D3C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C1D425E3-30F2-4056-A251-3DE89A0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8" name="直接连接符 67">
            <a:extLst xmlns:a="http://schemas.openxmlformats.org/drawingml/2006/main">
              <a:ext uri="{FF2B5EF4-FFF2-40B4-BE49-F238E27FC236}">
                <a16:creationId xmlns:a16="http://schemas.microsoft.com/office/drawing/2014/main" id="{DFE1AB50-EE3C-4C27-BDB2-DDB8E5E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713D214E-C00B-42CE-85CB-7393276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68B6B"/>
            </a:solidFill>
            <a:prstDash val="solid"/>
          </a:ln>
        </p:spPr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3B82FC1D-C40E-4337-B5CB-A76F9F7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04B93CAF-3A07-43D5-8F73-2D8A49E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71F510A-D35E-4070-8051-C17B535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73" name="圆角矩形 72">
            <a:extLst xmlns:a="http://schemas.openxmlformats.org/drawingml/2006/main">
              <a:ext uri="{FF2B5EF4-FFF2-40B4-BE49-F238E27FC236}">
                <a16:creationId xmlns:a16="http://schemas.microsoft.com/office/drawing/2014/main" id="{922164E9-EC77-4F23-BD71-C984371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1A4F5BCF-49DE-4275-A9A2-DF5BB62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03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1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01BE0A0-5ECF-49EB-9E96-AEBE91F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717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9DEAAF2F-0751-4D99-B74E-86EEFAC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914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72FD00C-3B87-475C-AB2E-6A31567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003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23CD7635-9F7F-46DB-8D8B-A6614D0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666964D0-9F18-4166-B309-03C2A98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771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3CB0725-E4B0-4A59-A2B5-E03777A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2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3C462D5-5583-4A21-8A05-28911E9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717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51E1FF04-44FA-401D-A1B2-BFC7428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028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8B6501C4-C792-4D79-89AC-EE7690A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0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A62826D1-B5F1-4BB1-AB71-B4F9C1A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否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5" name="圆角矩形 84">
            <a:extLst xmlns:a="http://schemas.openxmlformats.org/drawingml/2006/main">
              <a:ext uri="{FF2B5EF4-FFF2-40B4-BE49-F238E27FC236}">
                <a16:creationId xmlns:a16="http://schemas.microsoft.com/office/drawing/2014/main" id="{C1D6F20F-B3D3-44DD-8C1C-2E3FE11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2209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1DA3BCC-4B36-42BD-A889-F2DC9B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6DE265A6-8F1A-4082-9B08-9AEE4A9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480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圆角矩形 87">
            <a:extLst xmlns:a="http://schemas.openxmlformats.org/drawingml/2006/main">
              <a:ext uri="{FF2B5EF4-FFF2-40B4-BE49-F238E27FC236}">
                <a16:creationId xmlns:a16="http://schemas.microsoft.com/office/drawing/2014/main" id="{5FCA0EB2-5963-4BCE-B7BA-DB492A7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3810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7D3D0C3A-7EEF-426D-89BB-15AB4FA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005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0D4EBC75-92CA-4FBB-90A1-762B19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WebUI容器访问宿主机Ollama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FD203D76-511E-4990-8F15-4E9859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Service × 2　Endpoint　Package　Platform　VersionConstraint</a:t>
            </a:r>
            <a:endParaRPr sz="9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A3D7A400-56DD-496B-95FC-EA841F1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144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C4827693-3A60-47AA-A0CF-06BDECF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DiagnosticCheck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D6AD1FA7-CE70-42A9-A8BA-7A9D544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24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容器访问 /api/tags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5B39C6F7-CE99-4851-8AE5-700FDBF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2ACC02C3-8555-474F-9770-7CF8B7E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RepairAction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BAEA6429-C5F5-4E5C-ABE0-15BEC39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515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7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3C971823-DCD3-4C3D-99C5-47441B2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A8F3A62C-B61F-45B9-BB85-0EC3576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Risk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DDB96023-A226-4A66-8C29-88AFF28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F0C57174-417B-44D8-9CC1-E5F2514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2CC0C803-81BB-4626-BB11-CC54AE6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53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DocumentSource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809900C9-8374-4F94-8ABE-12C92C7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244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DF377313-A6EA-40B6-AC6A-2DDC260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最终原因确定后，图谱沿部署环境展开检查、修复、风险和来源；大模型只负责整理表达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09190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1161437-9782-43B1-A54C-263D50E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727085-F7EE-4FED-A5BB-CBF3763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备用：主动询问如何完成一次概率更新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C5E94C-2361-40C3-8045-359DB77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10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CDC87D-4640-40C3-A025-C33FBDC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5F0302E-F275-40F8-8DF2-50B86B9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C59808-CFAA-4364-920F-047D2DF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从选择问题到停止诊断，共有三个计算环节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9BC830-74C4-4D88-9561-C753F07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  选择最有价值的问题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362F83-A96B-4471-BBEA-6CC9593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545A7A-A5A3-43E0-8B05-6F29093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𝔼[H(C｜answer)]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F70F10-5C64-44B8-A512-F0E9616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候选原因越混乱，熵越大；问题使期望熵下降得越多，信息增益越高。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30E797-1A94-42A4-B027-F5DB007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2  用户回答后更新原因概率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6619F0F-E458-49CC-861F-8DF028F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2CAF642-FDA9-444C-94E5-812A652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P(Cᵢ｜o) = P(o｜Cᵢ)P(Cᵢ) ÷ ΣⱼP(o｜Cⱼ)P(Cⱼ)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15CC1D-B200-4F1F-A52D-B0F7985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图谱中的 OBSERVATION_SUPPORTS 边保存 P(o｜Cᵢ)，回答进入后完成贝叶斯归一化。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DAD576-7746-4E4F-B349-5B8EAA3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固定案例的一次更新</a:t>
            </a:r>
            <a:endParaRPr sz="14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8610A2D-DE44-401E-BB03-2E74D1A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C272A8-2041-4EAF-8732-79A6DB9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更新前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6EB6D54-C513-4838-9B08-11CA56E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E4D9C57F-02F2-40A2-81E1-5FDC214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34A4A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164A9AD-A227-4C42-8F99-951573F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4AEE7C-E9CF-4C60-B354-1816BFF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0BC3DF7-A5F2-4183-AA95-EA44D84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更新后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BAF559E-7294-4E35-97E5-96FDD8E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95.2%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0.364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A7EDA35-B102-4A6D-9AA2-59F3374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991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838F7AE-B2B1-4404-A2D5-9F27D79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3  同时满足三个条件才停止</a:t>
            </a:r>
            <a:endParaRPr sz="1425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A8CFD7A-6F30-4CA2-8F8E-11A6FCE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最高概率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9B62E-18D7-43DA-85B7-F8A2C7F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78%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983B0BE-2A99-482D-8E30-E62BE07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第一名领先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003A8AE-EB53-4A1E-9148-EC6625F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20%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D05EF9B-6ED2-4869-A912-3E61914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有效回答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A7BB789-972C-45C8-A3AA-08659CD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2个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8D622-086B-490A-8A34-A760CE7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这页不进入五分钟主讲；老师追问公式、概率更新或停止条件时再展示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79647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6288715-EFD6-40EA-90C6-4106525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D94425-70D6-416B-9B93-2E1992F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备用：实验数据划分与指标口径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AACC51-3611-499C-A953-FF7B269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D3779C-7932-4E60-9BFC-42C8C45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B98AB4B-6A29-4526-ABB3-3FBC1A3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3372EF-EA9F-4DE8-ACB8-C32DFC4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开发调优与独立验证分开，避免用同一批案例反复证明自己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4C53867-A985-45A2-8D17-EFD29A7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FFED72-BFC2-40FB-859B-51F4875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开发集</a:t>
            </a:r>
            <a:endParaRPr sz="13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9893AB4-C448-46ED-8887-DBE3071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79EEA2B-181B-439C-A030-AD92B70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81D4CD9-6F47-4E41-B4A6-4489D6E3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用于校准条件概率、增加区分性问题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E130FA3-398D-46A4-A50B-5EA9DF0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304A81F-618A-475E-9A94-6911507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首次冻结测试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38E720-C108-41EC-B474-D384EB8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14条未见案例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CA8291-BF81-40C9-8239-8C6CEBE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14个原因，每个原因1条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AB436A0-C2D2-4EFB-8064-0EEE6DE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模型与测试集封存后只运行一次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889B7FE-A23E-439D-901B-373A62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8F6528-F889-451E-AC7B-0A2435E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针对性验证</a:t>
            </a:r>
            <a:endParaRPr sz="13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EA3EDA0-1DA0-4017-981A-7F4E8EC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4条新增确认记录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F2E4783-CDC7-497A-96CF-B761016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版本不兼容2条，容器地址2条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672382-2E5F-4746-98F2-61B3EB1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参数固定后验证两项优化的目标机制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FD0CD1A-3251-4AFB-BC79-2EA4422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两层评价口径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42017708-D98B-4AA3-BC3F-F2E2A14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91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BEEEA6-4175-4358-99F0-4070A38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端到端  n = 14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6735DF5-422D-4094-88A5-8996CEF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包括入口识别失败，反映完整系统表现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98E4B7E0-5FEC-49C9-8C5A-13BD31E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00650"/>
            <a:ext cx="552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6768B02-1E52-43A6-88DF-7F3457F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选问算法  n = 9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9AEAD4-FBDA-4A95-A1BB-DE8D6FC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固定顺序3.67问，信息增益3.22问；3问内成功率22.2%与44.4%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FE3DEE5-5421-46E9-AD8B-76518CE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开发集回答“修改是否有用”，冻结测试回答“未见案例上是否仍然成立”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73406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2026-09-14T06:01:12.8790000Z</dcterms:created>
  <dcterms:modified xsi:type="dcterms:W3CDTF">2026-09-14T06:01:12.8790000Z</dcterms:modified>
</coreProperties>
</file>